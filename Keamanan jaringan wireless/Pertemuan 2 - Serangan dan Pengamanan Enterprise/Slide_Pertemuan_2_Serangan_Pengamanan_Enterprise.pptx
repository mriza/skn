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37160" cy="347472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097280"/>
            <a:ext cx="1024128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4F46E5"/>
                </a:solidFill>
                <a:latin typeface="Calibri"/>
              </a:defRPr>
            </a:pPr>
            <a:r>
              <a:t>TEKNOLOGI REKAYASA KOMPUTER (TRK) • SISTEM KOMUNIKASI NIRKABEL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Serangan Nirkabel Modern &amp; Arsitektur Keamanan Enterprise</a:t>
            </a:r>
          </a:p>
          <a:p>
            <a:pPr>
              <a:spcAft>
                <a:spcPts val="3200"/>
              </a:spcAft>
              <a:defRPr sz="1600">
                <a:solidFill>
                  <a:srgbClr val="94A3B8"/>
                </a:solidFill>
                <a:latin typeface="Calibri"/>
              </a:defRPr>
            </a:pPr>
            <a:r>
              <a:t>Pertemuan 2 (Minggu X) | Alokasi Waktu: 210 Menit (3 x 70 Menit) (Terapan &amp; Praktis Network Engineer)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Dosen Pengampu: M. Riza Nurtam, M.Kom</a:t>
            </a:r>
          </a:p>
          <a:p>
            <a:pPr>
              <a:defRPr sz="1300">
                <a:solidFill>
                  <a:srgbClr val="CBD5E1"/>
                </a:solidFill>
                <a:latin typeface="Calibri"/>
              </a:defRPr>
            </a:pPr>
            <a:r>
              <a:t>Jurusan Rekayasa Pertanian dan Komputer - Politeknik Pertanian Negeri Pangkajene dan Kepulauan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RELOAD &amp; JEMBATAN MATERI PERKULIAHAN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Reload Pertemuan 1: Kriptografi Kuat vs Celah Protokol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Jembatan Konseptual: Menghubungkan Pemahaman Sebelumnya Menuju Tantangan Baru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79476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KILAS BALIK MATERI SEBELUMNYA (YANG SUDAH DIKUASAI)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Fondasi Enkripsi AES-128: </a:t>
            </a:r>
            <a:r>
              <a:rPr b="0">
                <a:solidFill>
                  <a:srgbClr val="0F172A"/>
                </a:solidFill>
              </a:rPr>
              <a:t>Secara matematis block cipher AES-128 tidak pernah berhasil dipecahkan; payload data dienkripsi dengan sangat aman di udara.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Derivasi Kunci Master (PMK): </a:t>
            </a:r>
            <a:r>
              <a:rPr b="0">
                <a:solidFill>
                  <a:srgbClr val="0F172A"/>
                </a:solidFill>
              </a:rPr>
              <a:t>Dihasilkan melalui fungsi PBKDF2 dari kata sandi dan SSID sebagai salt kriptografi pencegah rainbow table.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Kunci Sesi Unicast (PTK): </a:t>
            </a:r>
            <a:r>
              <a:rPr b="0">
                <a:solidFill>
                  <a:srgbClr val="0F172A"/>
                </a:solidFill>
              </a:rPr>
              <a:t>Dinegosiasikan melalui 4-Way Handshake EAPoL untuk menghasilkan 4 sub-kunci (KCK, KEK, TK, MIC).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Celah WPA2-PSK: </a:t>
            </a:r>
            <a:r>
              <a:rPr b="0">
                <a:solidFill>
                  <a:srgbClr val="0F172A"/>
                </a:solidFill>
              </a:rPr>
              <a:t>Pesan M1 dan M2 dapat disadap untuk melancarkan Offline Dictionary Attack jika password pendek/lemah.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79476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KONEKSI KE HARI INI (MENGAPA MATERI INI DIBUTUHKAN?)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  <a:defRPr sz="1150" b="1">
                <a:solidFill>
                  <a:srgbClr val="4F46E5"/>
                </a:solidFill>
                <a:latin typeface="Calibri"/>
              </a:defRPr>
            </a:pPr>
            <a:r>
              <a:t>➔ Paradoks Keamanan Nirkabel: </a:t>
            </a:r>
            <a:r>
              <a:rPr b="0">
                <a:solidFill>
                  <a:srgbClr val="0F172A"/>
                </a:solidFill>
              </a:rPr>
              <a:t>Jika enkripsi AES-128 tidak bisa dibobol, mengapa jaringan Wi-Fi kampus dan korporasi masih sangat sering kebobolan?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4F46E5"/>
                </a:solidFill>
                <a:latin typeface="Calibri"/>
              </a:defRPr>
            </a:pPr>
            <a:r>
              <a:t>➔ Prinsip 'Weakest Link': </a:t>
            </a:r>
            <a:r>
              <a:rPr b="0">
                <a:solidFill>
                  <a:srgbClr val="0F172A"/>
                </a:solidFill>
              </a:rPr>
              <a:t>Penyerang tidak membuang waktu memecahkan AES; mereka menyerang kelemahan protokol di sekelilingnya (frame manajemen tanpa enkripsi, penipuan identitas AP, dan celah state-machine).</a:t>
            </a:r>
          </a:p>
          <a:p>
            <a:pPr algn="l">
              <a:spcAft>
                <a:spcPts val="800"/>
              </a:spcAft>
              <a:defRPr sz="1150" b="1">
                <a:solidFill>
                  <a:srgbClr val="4F46E5"/>
                </a:solidFill>
                <a:latin typeface="Calibri"/>
              </a:defRPr>
            </a:pPr>
            <a:r>
              <a:t>➔ Kebutuhan Solusi Enterprise: </a:t>
            </a:r>
            <a:r>
              <a:rPr b="0">
                <a:solidFill>
                  <a:srgbClr val="0F172A"/>
                </a:solidFill>
              </a:rPr>
              <a:t>Sistem kampus membutuhkan penghapusan single-password bersama beralih ke otentikasi individu IEEE 802.1X (RADIUS) dan perlindungan frame PMF (802.11w).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95544"/>
            <a:ext cx="10728655" cy="7315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86984"/>
            <a:ext cx="1036289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 b="1">
                <a:solidFill>
                  <a:srgbClr val="D97706"/>
                </a:solidFill>
                <a:latin typeface="Calibri"/>
              </a:defRPr>
            </a:pPr>
            <a:r>
              <a:t>KATA KUNCI PEMBELAJARAN TERPADU: </a:t>
            </a:r>
            <a:r>
              <a:rPr sz="1100" b="0">
                <a:solidFill>
                  <a:srgbClr val="0F172A"/>
                </a:solidFill>
                <a:latin typeface="Calibri"/>
              </a:rPr>
              <a:t>Kriptografi yang kuat (AES-128) akan runtuh jika arsitektur sistem di sekelilingnya rapuh. Keamanan nirkabel sejati menuntut pertahanan berlapis (Defense-in-Depth)!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PETA KURIKULUM &amp; ALOKASI WAKTU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Rencana Perkuliahan Modul Serangan &amp; Enterprise (210 Menit)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Alur terstruktur dari analisis serangan aktif lapangan hingga blueprint hardening router kampus.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SESI PERTAMA: ANATOMI SERANGAN AKTIF LAPANGAN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1 (00:00 - 00:35): </a:t>
            </a:r>
            <a:r>
              <a:rPr b="0">
                <a:solidFill>
                  <a:srgbClr val="0F172A"/>
                </a:solidFill>
              </a:rPr>
              <a:t>Review Kritis &amp; Taksonomi Serangan: Mengapa AES saja tidak cukup, 4 pilar ancaman nirkabel (DoS, MitM, Key Theft, Rogue Infrastructure).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2 (00:35 - 01:25): </a:t>
            </a:r>
            <a:r>
              <a:rPr b="0">
                <a:solidFill>
                  <a:srgbClr val="0F172A"/>
                </a:solidFill>
              </a:rPr>
              <a:t>Eksploitasi Frame Manajemen &amp; Rogue AP/Evil Twin: Deauth flooding via aireplay-ng, bahaya colokan LAN liar, kloning AP, dan phishing captive portal.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3 (01:25 - 01:45): </a:t>
            </a:r>
            <a:r>
              <a:rPr b="0">
                <a:solidFill>
                  <a:srgbClr val="0F172A"/>
                </a:solidFill>
              </a:rPr>
              <a:t>Istirahat &amp; Diskusi Interaktif: Analisis kasus pembobolan kredensial mahasiswa di jaringan publik.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SESI KEDUA: SERANGAN LANJUTAN &amp; BLUEPRINT ENTERPRISE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4 (01:45 - 02:35): </a:t>
            </a:r>
            <a:r>
              <a:rPr b="0">
                <a:solidFill>
                  <a:srgbClr val="0F172A"/>
                </a:solidFill>
              </a:rPr>
              <a:t>KRACK, PMKID, &amp; Arsitektur WPA-Enterprise: Eksploitasi Message 3 handshake, clientless PMKID attack, 3 komponen IEEE 802.1X (Supplicant, Authenticator, RADIUS), dan komparasi EAP-TLS vs PEAP.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5 (02:35 - 03:10): </a:t>
            </a:r>
            <a:r>
              <a:rPr b="0">
                <a:solidFill>
                  <a:srgbClr val="0F172A"/>
                </a:solidFill>
              </a:rPr>
              <a:t>Sistem Pertahanan &amp; Hardening WLAN: Protected Management Frames (PMF 802.11w), WIDS/WIPS Rogue Containment, Client Isolation, dan segmentasi multi-VLAN.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Sesi 6 (03:10 - 03:30): </a:t>
            </a:r>
            <a:r>
              <a:rPr b="0">
                <a:solidFill>
                  <a:srgbClr val="0F172A"/>
                </a:solidFill>
              </a:rPr>
              <a:t>Rangkuman Modul Keamanan &amp; Briefing Praktikum: Checklist audit router MikroTik dan pengantar simulasi lab.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FOKUS PRAKTISI NETWORK ENGINEER: </a:t>
            </a:r>
            <a:r>
              <a:rPr sz="1100" b="0">
                <a:solidFill>
                  <a:srgbClr val="0F172A"/>
                </a:solidFill>
                <a:latin typeface="Calibri"/>
              </a:rPr>
              <a:t>Bukan sekadar tahu cara meretas, melainkan memahami mekanisme di balik serangan agar mampu mendesain konfigurasi benteng pertahanan jaringan kampus yang kebal serangan aktif.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PETA MODEL ANCAMAN (THREAT MODELING)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Taksonomi 4 Pilar Serangan Nirkabel Modern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Klasifikasi terstruktur seluruh vektor serangan nirkabel yang mengancam infrastruktur kampus.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PILAR 1 &amp; 2: KETERSEDIAAN &amp; PENYADAPAN AKTIF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1. Denial of Service (DoS): </a:t>
            </a:r>
            <a:r>
              <a:rPr b="0">
                <a:solidFill>
                  <a:srgbClr val="0F172A"/>
                </a:solidFill>
              </a:rPr>
              <a:t>Melumpuhkan akses koneksi pengguna secara paksa: Deauthentication Flooding (memutus klien dari AP), Beacon Flooding (membanjiri udara dengan ribuan SSID palsu), dan RF Jamming (mengacaukan frekuensi radio secara fisik).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2. Man-in-the-Middle (MitM): </a:t>
            </a:r>
            <a:r>
              <a:rPr b="0">
                <a:solidFill>
                  <a:srgbClr val="0F172A"/>
                </a:solidFill>
              </a:rPr>
              <a:t>Menyisipkan diri di antara klien dan gerbang internet: Evil Twin Access Point (AP penipu berkekuatan sinyal tinggi), Fake Captive Portal Phishing, serta ARP Poisoning / DNS Spoofing di subnet lokal.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PILAR 3 &amp; 4: PENCURIAN KUNCI &amp; INFRASTRUKTUR LIAR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3. Credential &amp; Key Theft: </a:t>
            </a:r>
            <a:r>
              <a:rPr b="0">
                <a:solidFill>
                  <a:srgbClr val="0F172A"/>
                </a:solidFill>
              </a:rPr>
              <a:t>Membongkar kunci enkripsi dan akun login: Offline Dictionary Attack via Hashcat, PMKID Clientless Attack, serta manipulasi penginstalan ulang kunci (KRACK Attack).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4. Rogue Infrastructure: </a:t>
            </a:r>
            <a:r>
              <a:rPr b="0">
                <a:solidFill>
                  <a:srgbClr val="0F172A"/>
                </a:solidFill>
              </a:rPr>
              <a:t>Pemasangan perangkat fisik tidak sah di dalam gedung: Rogue AP (router rumahan dicolok staf ke switch kampus) dan Honeypot Wi-Fi pengumpul data privasi.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PARADIGMA PERTAHANAN BERLAPIS (DEFENSE-IN-DEPTH): </a:t>
            </a:r>
            <a:r>
              <a:rPr sz="1100" b="0">
                <a:solidFill>
                  <a:srgbClr val="0F172A"/>
                </a:solidFill>
                <a:latin typeface="Calibri"/>
              </a:rPr>
              <a:t>Mengamankan jaringan nirkabel tidak cukup hanya dengan memberi password router; dibutuhkan segmentasi VLAN, otentikasi RADIUS, isolasi klien, dan firewall terintegrasi.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EKSPLOITASI FRAME MANAJEMEN LAYER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Istilah: Deauthentication Flooding Attack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Bagaimana frame pemutusan koneksi standar 802.11 disalahgunakan untuk melumpuhkan pengguna.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CACAT FUNDAMENTAL PADA STANDAR 802.11 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itu Frame Deautentikasi?: </a:t>
            </a:r>
            <a:r>
              <a:rPr b="0">
                <a:solidFill>
                  <a:srgbClr val="0F172A"/>
                </a:solidFill>
              </a:rPr>
              <a:t>Frame manajemen resmi dalam standar 802.11 yang dikirim oleh AP untuk memberi tahu perangkat klien bahwa sesi koneksinya telah diakhiri (misal saat router reboot).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Masalah Protokol Konvensional: </a:t>
            </a:r>
            <a:r>
              <a:rPr b="0">
                <a:solidFill>
                  <a:srgbClr val="0F172A"/>
                </a:solidFill>
              </a:rPr>
              <a:t>Pada WPA/WPA2 tanpa fitur 802.11w, SELURUH FRAME MANAJEMEN DIKIRIM DALAM FORMAT PLAINTEXT DAN TANPA VERIFIKASI IDENTITAS PENGIRIM!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Kepatuhan Buta Kartu Klien: </a:t>
            </a:r>
            <a:r>
              <a:rPr b="0">
                <a:solidFill>
                  <a:srgbClr val="0F172A"/>
                </a:solidFill>
              </a:rPr>
              <a:t>Begitu smartphone atau laptop menerima frame Deauth yang mengatasnamakan AP miliknya, kartu jaringan WAJIB MEMATUHI PROTOKOL DAN LANGSUNG MEMUTUSKAN KONEKSI SEKETIKA!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EKSEKUSI SERANGAN VIA AIREPLAY-NG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Langkah 1: Monitor Mode: </a:t>
            </a:r>
            <a:r>
              <a:rPr b="0">
                <a:solidFill>
                  <a:srgbClr val="0F172A"/>
                </a:solidFill>
              </a:rPr>
              <a:t>Penyerang menyalakan kartu Wi-Fi ke Monitor Mode dan memindai BSSID AP target serta MAC address klien (STA).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Langkah 2: MAC Spoofing: </a:t>
            </a:r>
            <a:r>
              <a:rPr b="0">
                <a:solidFill>
                  <a:srgbClr val="0F172A"/>
                </a:solidFill>
              </a:rPr>
              <a:t>Penyerang memalsukan alamat MAC pengirim seolah-olah frame dibuat resmi oleh Access Point kampus.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Perintah Injeksi Paket: </a:t>
            </a:r>
            <a:r>
              <a:rPr b="0">
                <a:solidFill>
                  <a:srgbClr val="0F172A"/>
                </a:solidFill>
              </a:rPr>
              <a:t>sudo aireplay-ng --deauth 15 -a [MAC_AP] -c [MAC_KORBAN] wlan0mon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Dampak Instan: </a:t>
            </a:r>
            <a:r>
              <a:rPr b="0">
                <a:solidFill>
                  <a:srgbClr val="0F172A"/>
                </a:solidFill>
              </a:rPr>
              <a:t>Dalam 1 detik, laptop korban terputus total dari internet meskipun korban tidak melakukan kesalahan apapun!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TUJUAN GANDA PENYERANG: </a:t>
            </a:r>
            <a:r>
              <a:rPr sz="1100" b="0">
                <a:solidFill>
                  <a:srgbClr val="0F172A"/>
                </a:solidFill>
                <a:latin typeface="Calibri"/>
              </a:rPr>
              <a:t>Deauth Flooding dipakai untuk 2 hal: 1) Melumpuhkan koneksi (DoS murni), atau 2) Memaksa korban melakukan reconnect otomatis agar penyerang dapat menyadap rekaman 4-Way Handshake di udara!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ANCAMAN INFRASTRUKTUR FISIK INTERNAL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Istilah: Rogue Access Point (Ancaman dari Dalam)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Pemasangan perangkat nirkabel ilegal pada jaringan kabel internal kampus/perusahaan.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SKENARIO KEMUNCULAN ROGUE 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Definisi Rogue AP: </a:t>
            </a:r>
            <a:r>
              <a:rPr b="0">
                <a:solidFill>
                  <a:srgbClr val="0F172A"/>
                </a:solidFill>
              </a:rPr>
              <a:t>Perangkat Access Point fisik tidak sah yang terhubung secara langsung ke jaringan kabel LAN gedung tanpa izin administrator IT.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Skenario Nyata di Kampus: </a:t>
            </a:r>
            <a:r>
              <a:rPr b="0">
                <a:solidFill>
                  <a:srgbClr val="0F172A"/>
                </a:solidFill>
              </a:rPr>
              <a:t>Seorang staf atau dosen merasa sinyal Wi-Fi di ruangannya kurang kuat, lalu membawa router Wi-Fi mini dari rumah dan mencolokkannya ke port stopkontak LAN kampus di bawah mejanya.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Niat Tidak Jahat, Tapi Berbahaya: </a:t>
            </a:r>
            <a:r>
              <a:rPr b="0">
                <a:solidFill>
                  <a:srgbClr val="0F172A"/>
                </a:solidFill>
              </a:rPr>
              <a:t>Meskipun tujuannya hanya ingin internet lancar di meja kerja, tindakan ini membuka lubang keamanan raksasa bagi seluruh kampus!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MENGAPA ROGUE AP SANGAT MEMATIKAN?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Mem-Bypass Seluruh Firewall Kampus: </a:t>
            </a:r>
            <a:r>
              <a:rPr b="0">
                <a:solidFill>
                  <a:srgbClr val="0F172A"/>
                </a:solidFill>
              </a:rPr>
              <a:t>Kabel LAN dinding umumnya terhubung langsung ke segmen Core Network atau Server Intranet kampus yang memiliki hak akses tinggi.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Konfigurasi Rentan / Default: </a:t>
            </a:r>
            <a:r>
              <a:rPr b="0">
                <a:solidFill>
                  <a:srgbClr val="0F172A"/>
                </a:solidFill>
              </a:rPr>
              <a:t>Router rumahan staf biasanya tidak dipasangi password kuat, menggunakan enkripsi default yang mudah dibobol, atau bahkan dibiarkan OPEN tanpa password!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Pintu Belakang (Backdoor) Hacker: </a:t>
            </a:r>
            <a:r>
              <a:rPr b="0">
                <a:solidFill>
                  <a:srgbClr val="0F172A"/>
                </a:solidFill>
              </a:rPr>
              <a:t>Penyerang dari luar gedung di area parkir dapat terhubung ke sinyal Wi-Fi router liar tersebut, dan seketika langsung berada di dalam jaringan kabel intranet kampus!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SOLUSI NETWORK ADMINISTRATOR: </a:t>
            </a:r>
            <a:r>
              <a:rPr sz="1100" b="0">
                <a:solidFill>
                  <a:srgbClr val="0F172A"/>
                </a:solidFill>
                <a:latin typeface="Calibri"/>
              </a:rPr>
              <a:t>Wajib menerapkan fitur 'Port Security' (802.1X Port-Based Authentication dan Sticky MAC Address) pada semua switch edge LAN, sehingga port switch langsung mati otomatis jika dicolok perangkat asing.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SERANGAN PENYAMARAN CANGGIH (MAN-IN-THE-MIDDLE)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Istilah: Evil Twin Attack &amp; Kloning Sinyal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Membuat kembaran identik access point resmi untuk menjebak pengguna ke jaringan penyerang.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PRINSIP KERJA EVIL TWIN 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Definisi Evil Twin: </a:t>
            </a:r>
            <a:r>
              <a:rPr b="0">
                <a:solidFill>
                  <a:srgbClr val="0F172A"/>
                </a:solidFill>
              </a:rPr>
              <a:t>Sebuah Access Point palsu milik penyerang yang dikonfigurasi dengan nama SSID dan MAC Address (BSSID) yang persis sama dengan AP resmi kampus.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Pemanfaatan Master Mode: </a:t>
            </a:r>
            <a:r>
              <a:rPr b="0">
                <a:solidFill>
                  <a:srgbClr val="0F172A"/>
                </a:solidFill>
              </a:rPr>
              <a:t>Penyerang menyalakan kartu nirkabel kedua ke mode Master menggunakan software seperti hostapd-mana atau wifiphisher.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Penguatan Sinyal Radio (Tx Power): </a:t>
            </a:r>
            <a:r>
              <a:rPr b="0">
                <a:solidFill>
                  <a:srgbClr val="0F172A"/>
                </a:solidFill>
              </a:rPr>
              <a:t>Penyerang menaikkan daya pemancar atau mendekati lokasi korban sehingga sinyal AP palsu terdeteksi jauh lebih kuat daripada AP resmi.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PERILAKU ALAMI SMARTPHONE KORBAN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Logika Roaming Otomatis: </a:t>
            </a:r>
            <a:r>
              <a:rPr b="0">
                <a:solidFill>
                  <a:srgbClr val="0F172A"/>
                </a:solidFill>
              </a:rPr>
              <a:t>Sistem operasi modern (Android, iOS, Windows) secara alami dirancang untuk selalu memilih sinyal pemancar terkuat ketika mendeteksi nama SSID yang sama demi menghemat baterai.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Tahap Eksekusi Kombinasi: </a:t>
            </a:r>
            <a:r>
              <a:rPr b="0">
                <a:solidFill>
                  <a:srgbClr val="0F172A"/>
                </a:solidFill>
              </a:rPr>
              <a:t>1) Penyerang menembakkan Deauth Flood ke AP resmi kampus; 2) Korban terlempar keluar; 3) Saat reconnect otomatis, smartphone korban langsung menyambung ke Evil Twin karena sinyalnya paling dominan!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Korban Terperangkap: </a:t>
            </a:r>
            <a:r>
              <a:rPr b="0">
                <a:solidFill>
                  <a:srgbClr val="0F172A"/>
                </a:solidFill>
              </a:rPr>
              <a:t>Kini seluruh lalu lintas internet korban mengalir melalui laptop penyerang (Man-in-the-Middle penuh).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ANALOGI SEDERHANA: </a:t>
            </a:r>
            <a:r>
              <a:rPr sz="1100" b="0">
                <a:solidFill>
                  <a:srgbClr val="0F172A"/>
                </a:solidFill>
                <a:latin typeface="Calibri"/>
              </a:rPr>
              <a:t>Evil Twin seperti mendirikan plang ATM Bank Mandiri palsu tepat di samping ATM resmi, lengkap dengan logo dan cat yang identik, agar nasabah memasukkan kartu ke mesin penipu.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SKENARIO PENCURIAN KREDENSIAL NYATA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Alur Evil Twin: Phishing Captive Portal SIAKAD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Bagaimana penyerang mengelabui mahasiswa untuk menyerahkan username dan password secara sukarela.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REKAYASA SOSIAL BERBASIS CAPTIVE PORTAL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1. Pengalihan DNS (DNS Spoofing): </a:t>
            </a:r>
            <a:r>
              <a:rPr b="0">
                <a:solidFill>
                  <a:srgbClr val="0F172A"/>
                </a:solidFill>
              </a:rPr>
              <a:t>Saat korban terhubung ke Evil Twin dan membuka situs web apapun, server DNS palsu penyerang mengarahkan semua lalu lintas ke server web lokal penyerang.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2. Halaman Login Web Tiruan: </a:t>
            </a:r>
            <a:r>
              <a:rPr b="0">
                <a:solidFill>
                  <a:srgbClr val="0F172A"/>
                </a:solidFill>
              </a:rPr>
              <a:t>Penyerang menampilkan halaman Captive Portal yang meniru persis tampilan form login SIAKAD Politani atau Wi-Fi Kampus.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3. Pesan Rekayasa Sosial: </a:t>
            </a:r>
            <a:r>
              <a:rPr b="0">
                <a:solidFill>
                  <a:srgbClr val="0F172A"/>
                </a:solidFill>
              </a:rPr>
              <a:t>Menampilkan pesan meyakinkan: 'Pembaruan Keamanan Jaringan Kampus: Silakan masukkan kembali NIM dan Password Akun SIAKAD Anda untuk melanjutkan akses internet.'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PANEN KREDENSIAL &amp; AKIBAT FATAL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Mahasiswa Panik / Tidak Curiga: </a:t>
            </a:r>
            <a:r>
              <a:rPr b="0">
                <a:solidFill>
                  <a:srgbClr val="0F172A"/>
                </a:solidFill>
              </a:rPr>
              <a:t>Karena tadi baru saja koneksinya terputus (akibat deauth), mahasiswa mengira router kampus memang sedang mereset koneksi.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Kredensial Masuk ke Database Penyerang: </a:t>
            </a:r>
            <a:r>
              <a:rPr b="0">
                <a:solidFill>
                  <a:srgbClr val="0F172A"/>
                </a:solidFill>
              </a:rPr>
              <a:t>Begitu korban menekan tombol 'Login', username dan password langsung tersimpan dalam format teks terbuka di terminal penyerang.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Akses Internet Dialirkan: </a:t>
            </a:r>
            <a:r>
              <a:rPr b="0">
                <a:solidFill>
                  <a:srgbClr val="0F172A"/>
                </a:solidFill>
              </a:rPr>
              <a:t>Penyerang kemudian membuka akses internet korban melalui kartu modem 4G agar korban tidak sadar telah menjadi korban phishing!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EDUKASI PENTING MAHASISWA: </a:t>
            </a:r>
            <a:r>
              <a:rPr sz="1100" b="0">
                <a:solidFill>
                  <a:srgbClr val="0F172A"/>
                </a:solidFill>
                <a:latin typeface="Calibri"/>
              </a:rPr>
              <a:t>Jika jaringan Wi-Fi WPA2 yang biasanya meminta password di menu pengaturan tiba-tiba meminta login ulang melalui halaman web browser mencurigakan, WASPADA! Jaringan tersebut kemungkinan besar adalah Evil Twin!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SERANGAN KRIPTOGRAFI MUTAKHIR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Serangan KRACK (Key Reinstallation Attack - 2017)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Ditemukan oleh Mathy Vanhoef: Membuktikan bahwa implementasi protokol yang cacat dapat meruntuhkan AES.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PENJELASAN GAMBLANG: BUKAN AES YANG DIBOBOL!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Miskonsepsi Populer: </a:t>
            </a:r>
            <a:r>
              <a:rPr b="0">
                <a:solidFill>
                  <a:srgbClr val="0F172A"/>
                </a:solidFill>
              </a:rPr>
              <a:t>Banyak berita media menulis: 'Enkripsi AES WPA2 Berhasil Dipecahkan Hacker' -&gt; INI SALAH BESAR!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Fakta Ilmiah: </a:t>
            </a:r>
            <a:r>
              <a:rPr b="0">
                <a:solidFill>
                  <a:srgbClr val="0F172A"/>
                </a:solidFill>
              </a:rPr>
              <a:t>Algoritma enkripsi AES-128 tetap 100% utuh dan kokoh. Yang dieksploitasi oleh Mathy Vanhoef adalah LOGIKA STATE-MACHINE PADA PESAN 3 DARI 4-WAY HANDSHAKE.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Celah Penanganan Frame Hilang: </a:t>
            </a:r>
            <a:r>
              <a:rPr b="0">
                <a:solidFill>
                  <a:srgbClr val="0F172A"/>
                </a:solidFill>
              </a:rPr>
              <a:t>Protokol IEEE 802.11 dirancang untuk jaringan radio yang rawan paket hilang (lossy channel), sehingga memiliki mekanisme pengiriman ulang (retransmission) otomatis.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KONSEKUENSI PENGULANGAN PESAN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Aturan Standar 802.11 yang Cacat: </a:t>
            </a:r>
            <a:r>
              <a:rPr b="0">
                <a:solidFill>
                  <a:srgbClr val="0F172A"/>
                </a:solidFill>
              </a:rPr>
              <a:t>Ketika stasiun klien menerima Pesan 3 yang berulang, standar memerintahkan kartu jaringan untuk menginstal ulang kunci sesi PTK yang sama ke memori hardware.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Penyerang Sebagai MitM di Udara: </a:t>
            </a:r>
            <a:r>
              <a:rPr b="0">
                <a:solidFill>
                  <a:srgbClr val="0F172A"/>
                </a:solidFill>
              </a:rPr>
              <a:t>Penyerang sengaja menahan frame balasan ACK (Pesan 4) dari klien agar tidak sampai ke AP.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 Mengirim Ulang Pesan 3: </a:t>
            </a:r>
            <a:r>
              <a:rPr b="0">
                <a:solidFill>
                  <a:srgbClr val="0F172A"/>
                </a:solidFill>
              </a:rPr>
              <a:t>Karena tidak menerima Pesan 4, AP berasumsi pesan hilang, lalu mengirim ulang Pesan 3 ke klien secara berulang-ulang.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TITIK BALIK SEJARAH KEAMANAN WI-FI: </a:t>
            </a:r>
            <a:r>
              <a:rPr sz="1100" b="0">
                <a:solidFill>
                  <a:srgbClr val="0F172A"/>
                </a:solidFill>
                <a:latin typeface="Calibri"/>
              </a:rPr>
              <a:t>KRACK membuktikan bahwa keamanan tidak hanya ditentukan oleh kehebatan rumus matematika cipher, melainkan oleh ketelitian desain alur pertukaran pesan (state machine) protokol.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BEDAH MATEMATIS SERANGAN KRACK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Mekanisme KRACK: Nonce Reset &amp; Keystream Reuse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Bagaimana penginstalan ulang kunci mereset counter paket dan memicu pengulangan keystream pada AES-CCMP.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PETAKA RESET NONCE COUNTER KE NOL (0)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Fungsi Packet Counter (Nonce): </a:t>
            </a:r>
            <a:r>
              <a:rPr b="0">
                <a:solidFill>
                  <a:srgbClr val="0F172A"/>
                </a:solidFill>
              </a:rPr>
              <a:t>Pada mode AES-CCMP, setiap paket data yang dikirim memiliki nomor urut urut (Packet Number / Nonce) yang harus selalu bertambah untuk mencegah replay attack.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Bug Fatal Driver Wi-Fi Klien: </a:t>
            </a:r>
            <a:r>
              <a:rPr b="0">
                <a:solidFill>
                  <a:srgbClr val="0F172A"/>
                </a:solidFill>
              </a:rPr>
              <a:t>Saat klien menerima perintah 'Install Key' dari Pesan 3 yang berulang, driver kartu Wi-Fi mereset nomor urut Packet Counter KEMBALI KE NOL (0)!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Bencana Replay Keystream: </a:t>
            </a:r>
            <a:r>
              <a:rPr b="0">
                <a:solidFill>
                  <a:srgbClr val="0F172A"/>
                </a:solidFill>
              </a:rPr>
              <a:t>Kunci PTK yang sama persis kini dipasangkan dengan nilai Nonce yang kembali ke nol! Akibatnya, modul AES menghasilkan Keystream yang KEMBAR IDENTIK dengan paket-paket awal tadi!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DEKRIPSI DATA &amp; PENANGGULANGAN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Dekripsi Paket Tanpa Tahu Password: </a:t>
            </a:r>
            <a:r>
              <a:rPr b="0">
                <a:solidFill>
                  <a:srgbClr val="0F172A"/>
                </a:solidFill>
              </a:rPr>
              <a:t>Karena keystream berulang, penyerang dapat melakukan analisis XOR antar dua ciphertext (C1 ⊕ C2 = P1 ⊕ P2) untuk mendekripsi paket data browsing korban!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Khusus Sistem Linux / Android 6.0+: </a:t>
            </a:r>
            <a:r>
              <a:rPr b="0">
                <a:solidFill>
                  <a:srgbClr val="0F172A"/>
                </a:solidFill>
              </a:rPr>
              <a:t>Implementasi wpa_supplicant bahkan memiliki bug lebih parah: kunci di-clearkan dari RAM sehingga paket dienkripsi dengan KUNCI NOL SEMUA (All-Zero Encryption Key)!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Solusi Penambalan (Patching): </a:t>
            </a:r>
            <a:r>
              <a:rPr b="0">
                <a:solidFill>
                  <a:srgbClr val="0F172A"/>
                </a:solidFill>
              </a:rPr>
              <a:t>Ditambal melalui patch firmware sistem operasi: Klien dilarang mereset Packet Number jika kunci yang diinstal adalah kunci yang sama.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STATUS KERENTANAN SAAT INI: </a:t>
            </a:r>
            <a:r>
              <a:rPr sz="1100" b="0">
                <a:solidFill>
                  <a:srgbClr val="0F172A"/>
                </a:solidFill>
                <a:latin typeface="Calibri"/>
              </a:rPr>
              <a:t>Seluruh sistem operasi modern (Windows Update, patch kernel Linux, update Android/iOS akhir 2017) telah menambal bug KRACK. Router AP tidak perlu diganti, cukup perangkat klien yang di-update.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SERANGAN TANPA KLIEN (CLIENTLESS ATTACK)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Serangan PMKID (2018): Meretas Tanpa Menunggu Korban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Ditemukan oleh Jens Steube (Author Hashcat): Mengeksploitasi fitur Fast Roaming 802.11r.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BATASAN SERANGAN 4-WAY HANDSHAKE KLASIK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Ketergantungan Pada Klien Aktif: </a:t>
            </a:r>
            <a:r>
              <a:rPr b="0">
                <a:solidFill>
                  <a:srgbClr val="0F172A"/>
                </a:solidFill>
              </a:rPr>
              <a:t>Pada metode klasik, penyerang harus berada di lokasi saat ada mahasiswa yang login, atau harus melakukan Deauth Flood ke klien yang sedang online.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Masalah Bagi Penyerang: </a:t>
            </a:r>
            <a:r>
              <a:rPr b="0">
                <a:solidFill>
                  <a:srgbClr val="0F172A"/>
                </a:solidFill>
              </a:rPr>
              <a:t>Jika di malam hari kampus sepi dan tidak ada satu pun orang yang terhubung ke Wi-Fi, penyerang tidak bisa menangkap handshake.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Hadirnya Solusi Serangan PMKID: </a:t>
            </a:r>
            <a:r>
              <a:rPr b="0">
                <a:solidFill>
                  <a:srgbClr val="0F172A"/>
                </a:solidFill>
              </a:rPr>
              <a:t>Jens Steube menemukan celah pada AP modern yang mengaktifkan fitur Fast BSS Transition (IEEE 802.11r / Roaming Cepat).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MEKANISME PENANGKAPAN HASH PMKID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Apa itu PMKID?: </a:t>
            </a:r>
            <a:r>
              <a:rPr b="0">
                <a:solidFill>
                  <a:srgbClr val="0F172A"/>
                </a:solidFill>
              </a:rPr>
              <a:t>PMKID (Pairwise Master Key Identifier) adalah nilai hash pengenal yang dihitung dari: PMKID = HMAC-SHA1-128(PMK, 'PMK Name' || MAC_AP || MAC_STA).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Hanya Butuh 1 Paket Asosiasi: </a:t>
            </a:r>
            <a:r>
              <a:rPr b="0">
                <a:solidFill>
                  <a:srgbClr val="0F172A"/>
                </a:solidFill>
              </a:rPr>
              <a:t>Penyerang cukup mengirimkan 1 frame Association Request dari laptopnya ke AP target menggunakan tool hcxdumptool.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AP Membocorkan Hash di Pesan 1: </a:t>
            </a:r>
            <a:r>
              <a:rPr b="0">
                <a:solidFill>
                  <a:srgbClr val="0F172A"/>
                </a:solidFill>
              </a:rPr>
              <a:t>AP langsung membalas dengan Pesan 1 yang menyertakan informasi elemen PMKID di dalamnya, TANPA BUTUH KLIEN LAIN ONLINE!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Offline Cracking Instan: </a:t>
            </a:r>
            <a:r>
              <a:rPr b="0">
                <a:solidFill>
                  <a:srgbClr val="0F172A"/>
                </a:solidFill>
              </a:rPr>
              <a:t>Hash PMKID langsung diumpankan ke Hashcat untuk di-crack secara lokal di komputer penyerang.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C2626"/>
                </a:solidFill>
                <a:latin typeface="Calibri"/>
              </a:defRPr>
            </a:pPr>
            <a:r>
              <a:t>CARA MITIGASI PADA ROUTER: </a:t>
            </a:r>
            <a:r>
              <a:rPr sz="1100" b="0">
                <a:solidFill>
                  <a:srgbClr val="0F172A"/>
                </a:solidFill>
                <a:latin typeface="Calibri"/>
              </a:rPr>
              <a:t>Jika fitur Fast Roaming (802.11r) tidak benar-benar dibutuhkan di lingkungan kampus, matikan opsi 802.11r pada pengaturan router MikroTik/Access Point untuk menutup celah PMKID.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TRANSISI MENUJU KEAMANAN SKALA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Mengapa WPA-Personal (PSK) Tidak Layak di Enterprise?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Kelemahan arsitektur kata sandi bersama pada institusi kampus dan korporasi.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MASALAH KATA SANDI TUNGGAL BERSAMA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Single Shared Secret: </a:t>
            </a:r>
            <a:r>
              <a:rPr b="0">
                <a:solidFill>
                  <a:srgbClr val="0F172A"/>
                </a:solidFill>
              </a:rPr>
              <a:t>Seluruh ribuan mahasiswa, ratusan dosen, dan staf administrasi berbagi satu kata sandi Wi-Fi yang persis sama.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Kebocoran Yang Tak Terelakkan: </a:t>
            </a:r>
            <a:r>
              <a:rPr b="0">
                <a:solidFill>
                  <a:srgbClr val="0F172A"/>
                </a:solidFill>
              </a:rPr>
              <a:t>Cukup satu mahasiswa membagikan password ke teman luar kampus atau menuliskannya di papan pengumuman kantin, maka integritas seluruh jaringan langsung gugur!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Beban Operasional Mustahil: </a:t>
            </a:r>
            <a:r>
              <a:rPr b="0">
                <a:solidFill>
                  <a:srgbClr val="0F172A"/>
                </a:solidFill>
              </a:rPr>
              <a:t>Jika password bocor dan admin ingin menggantinya, admin harus mengubah konfigurasi di ratusan access point dan menyosialisasikan password baru ke ribuan pengguna!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KONSEKUENSI PENGELOLAAN PENGGUNA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Mahasiswa Lulus / Staf Resign: </a:t>
            </a:r>
            <a:r>
              <a:rPr b="0">
                <a:solidFill>
                  <a:srgbClr val="0F172A"/>
                </a:solidFill>
              </a:rPr>
              <a:t>Saat mahasiswa lulus atau pegawai berhenti kerja, mereka masih tetap memegang password Wi-Fi kampus dan bisa mengakses jaringan dari area parkir luar gedung.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Ketiadaan Jejak Akuntabilitas (No Audit Trail): </a:t>
            </a:r>
            <a:r>
              <a:rPr b="0">
                <a:solidFill>
                  <a:srgbClr val="0F172A"/>
                </a:solidFill>
              </a:rPr>
              <a:t>Jika terjadi insiden peretasan atau akses pornografi di jaringan nirkabel, admin tidak bisa melacak siapa pelakunya karena semua orang login dengan kredensial yang sama.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Solusi Industri: </a:t>
            </a:r>
            <a:r>
              <a:rPr b="0">
                <a:solidFill>
                  <a:srgbClr val="0F172A"/>
                </a:solidFill>
              </a:rPr>
              <a:t>Beralih mutlak ke standar otentikasi berbasis pengguna individu: WPA-Enterprise (IEEE 802.1X)!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RULE OF THUMB ADMINISTRATOR: </a:t>
            </a:r>
            <a:r>
              <a:rPr sz="1100" b="0">
                <a:solidFill>
                  <a:srgbClr val="0F172A"/>
                </a:solidFill>
                <a:latin typeface="Calibri"/>
              </a:rPr>
              <a:t>WPA-PSK hanya diperuntukkan untuk jaringan rumahan (SOHO &lt; 10 pengguna). Untuk skala sekolah, kampus, dan enterprise (&gt; 50 pengguna), IEEE 802.1X adalah kewajiban mutlak!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ARSITEKTUR KEAMANAN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Arsitektur IEEE 802.1X: Tiga Entitas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Pemisahan peran gerbang nirkabel dan validasi akun pengguna pada backend server sentral.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3405530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1. SUPPLICANT (KLIEN)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Siapa Supplicant?: </a:t>
            </a:r>
            <a:r>
              <a:rPr b="0">
                <a:solidFill>
                  <a:srgbClr val="0F172A"/>
                </a:solidFill>
              </a:rPr>
              <a:t>Software agen otentikasi yang berjalan di perangkat akhir pengguna (laptop, smartphone, tablet).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Fungsi Utama: </a:t>
            </a:r>
            <a:r>
              <a:rPr b="0">
                <a:solidFill>
                  <a:srgbClr val="0F172A"/>
                </a:solidFill>
              </a:rPr>
              <a:t>Menyimpan kredensial identitas pengguna (Username/Password SIAKAD atau Sertifikat Digital) dan menegosiasikan otentikasi dengan AP.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Bawaan Sistem Operasi: </a:t>
            </a:r>
            <a:r>
              <a:rPr b="0">
                <a:solidFill>
                  <a:srgbClr val="0F172A"/>
                </a:solidFill>
              </a:rPr>
              <a:t>Telah tertanam otomatis pada Windows, Android, macOS, iOS, dan Linux (wpa_supplicant).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3082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93082" y="1536192"/>
            <a:ext cx="3405530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2. AUTHENTICATOR (AP / SWITCH)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9386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Siapa Authenticator?: </a:t>
            </a:r>
            <a:r>
              <a:rPr b="0">
                <a:solidFill>
                  <a:srgbClr val="0F172A"/>
                </a:solidFill>
              </a:rPr>
              <a:t>Perangkat jaringan perantara (Access Point MikroTik, Ruijie, Cisco, atau Switch Managed).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Fungsi Penjaga Gerbang: </a:t>
            </a:r>
            <a:r>
              <a:rPr b="0">
                <a:solidFill>
                  <a:srgbClr val="0F172A"/>
                </a:solidFill>
              </a:rPr>
              <a:t>Bertindak sebagai 'Gatekeeper'. Port jaringan klien diblokir ketat dan hanya diizinkan melewatkan paket otentikasi EAP.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Tidak Tahu Password!: </a:t>
            </a:r>
            <a:r>
              <a:rPr b="0">
                <a:solidFill>
                  <a:srgbClr val="0F172A"/>
                </a:solidFill>
              </a:rPr>
              <a:t>AP tidak memverifikasi password; AP hanya membungkus paket EAP ke dalam protokol RADIUS menuju server backend.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4644" y="1536192"/>
            <a:ext cx="3405530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4644" y="1536192"/>
            <a:ext cx="340553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  3. AUTH SERVER (RADIUS)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0948" y="2130552"/>
            <a:ext cx="3112922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Siapa Auth Server?: </a:t>
            </a:r>
            <a:r>
              <a:rPr b="0">
                <a:solidFill>
                  <a:srgbClr val="0F172A"/>
                </a:solidFill>
              </a:rPr>
              <a:t>Server otentikasi terpusat, umumnya menggunakan FreeRADIUS atau Microsoft NPS (Network Policy Server).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Koneksi ke Database Kampus: </a:t>
            </a:r>
            <a:r>
              <a:rPr b="0">
                <a:solidFill>
                  <a:srgbClr val="0F172A"/>
                </a:solidFill>
              </a:rPr>
              <a:t>Terhubung ke database akun induk institusi (Active Directory / OpenLDAP / SIAKAD Politani).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  <a:latin typeface="Calibri"/>
              </a:defRPr>
            </a:pPr>
            <a:r>
              <a:t>• Penentu Keputusan: </a:t>
            </a:r>
            <a:r>
              <a:rPr b="0">
                <a:solidFill>
                  <a:srgbClr val="0F172A"/>
                </a:solidFill>
              </a:rPr>
              <a:t>Memvalidasi akun pengguna, lalu mengirim pesan RADIUS Access-Accept atau Access-Reject ke AP.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KEUNGGULAN MANAJEMEN TERPUSAT: </a:t>
            </a:r>
            <a:r>
              <a:rPr sz="1100" b="0">
                <a:solidFill>
                  <a:srgbClr val="0F172A"/>
                </a:solidFill>
                <a:latin typeface="Calibri"/>
              </a:rPr>
              <a:t>Jika seorang mahasiswa lulus atau pegawai berhenti, admin cukup me-nonaktifkan akunnya di database server pusat. Pengguna tersebut otomatis terblokir dari seluruh access point kampus tanpa perlu menyentuh router!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MEKANISME ISOLASI PORT GERBANG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Istilah: Controlled vs Uncontrolled Port pada 802.1X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Bagaimana Access Point menyaring lalu lintas sebelum dan sesudah proses otentikasi sukses.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STATUS PORT SEBELUM LOGIN (UNAUTHORIZED)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Controlled Port Terkunci Total: </a:t>
            </a:r>
            <a:r>
              <a:rPr b="0">
                <a:solidFill>
                  <a:srgbClr val="0F172A"/>
                </a:solidFill>
              </a:rPr>
              <a:t>Port virtual data ditutup rapat. Klien sama sekali tidak bisa mengirimkan paket browsing internet, ping, DNS query, atau lalu lintas data Layer 3.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Hanya Uncontrolled Port Yang Terbuka: </a:t>
            </a:r>
            <a:r>
              <a:rPr b="0">
                <a:solidFill>
                  <a:srgbClr val="0F172A"/>
                </a:solidFill>
              </a:rPr>
              <a:t>Access Point hanya mengizinkan satu jenis lalu lintas khusus: frame EAPoL (Extensible Authentication Protocol over LAN).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Tujuan Isolasi Awal: </a:t>
            </a:r>
            <a:r>
              <a:rPr b="0">
                <a:solidFill>
                  <a:srgbClr val="0F172A"/>
                </a:solidFill>
              </a:rPr>
              <a:t>Mencegah perangkat asing yang belum terdaftar melakukan scanning port, eksploitasi malware, atau penyadapan di jaringan lokal.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STATUS PORT SETELAH SUKSES (AUTHORIZED)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Pemberitahuan RADIUS Access-Accept: </a:t>
            </a:r>
            <a:r>
              <a:rPr b="0">
                <a:solidFill>
                  <a:srgbClr val="0F172A"/>
                </a:solidFill>
              </a:rPr>
              <a:t>Server RADIUS mengonfirmasi bahwa akun valid dan mengirimkan kunci enkripsi sesi master ke Authenticator.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Controlled Port Dibuka Penuh: </a:t>
            </a:r>
            <a:r>
              <a:rPr b="0">
                <a:solidFill>
                  <a:srgbClr val="0F172A"/>
                </a:solidFill>
              </a:rPr>
              <a:t>Access Point membuka blokir Controlled Port, mengalokasikan VLAN yang sesuai dengan profil pengguna, dan mengizinkan aliran data reguler.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Kunci Dinamis per Pengguna: </a:t>
            </a:r>
            <a:r>
              <a:rPr b="0">
                <a:solidFill>
                  <a:srgbClr val="0F172A"/>
                </a:solidFill>
              </a:rPr>
              <a:t>Setiap mahasiswa mendapatkan kunci enkripsi sesi temporal unik yang berbeda dengan mahasiswa di sebelahnya; tidak ada lagi penyadapan lateral!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ANALOGI GERBANG KAMPUS: </a:t>
            </a:r>
            <a:r>
              <a:rPr sz="1100" b="0">
                <a:solidFill>
                  <a:srgbClr val="0F172A"/>
                </a:solidFill>
                <a:latin typeface="Calibri"/>
              </a:rPr>
              <a:t>Uncontrolled Port ibarat pos satpam (hanya untuk menunjukkan kartu tanda mahasiswa). Controlled Port ibarat pintu gerbang utama yang baru dibuka lebar setelah kartu diverifikasi sah.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PROTOKOL AUTENTIKASI PENGGUNA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Komparasi Metode EAP: PEAP-MSCHAPv2 vs EAP-TLS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Memilih metode Extensible Authentication Protocol yang tepat untuk skenario kampus dan industri.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PEAP-MSCHAPV2 (STANDAR KAMPUS &amp; PENDIDIKAN)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Mekanisme Kerja: </a:t>
            </a:r>
            <a:r>
              <a:rPr b="0">
                <a:solidFill>
                  <a:srgbClr val="0F172A"/>
                </a:solidFill>
              </a:rPr>
              <a:t>Hanya Server RADIUS yang memasang sertifikat digital SSL/TLS. Klien memvalidasi sertifikat server, lalu membangun terowongan terenkripsi (TLS Tunnel).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Autentikasi di Dalam Terowongan: </a:t>
            </a:r>
            <a:r>
              <a:rPr b="0">
                <a:solidFill>
                  <a:srgbClr val="0F172A"/>
                </a:solidFill>
              </a:rPr>
              <a:t>Mahasiswa memasukkan Username dan Password akun SIAKAD di dalam terowongan yang telah terenkripsi aman.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Kelebihan Implementasi: </a:t>
            </a:r>
            <a:r>
              <a:rPr b="0">
                <a:solidFill>
                  <a:srgbClr val="0F172A"/>
                </a:solidFill>
              </a:rPr>
              <a:t>Sangat mudah diterapkan pada ribuan smartphone/laptop mahasiswa tanpa perlu menginstal file sertifikat pada perangkat masing-masing.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Celah yang Harus Diwaspadai: </a:t>
            </a:r>
            <a:r>
              <a:rPr b="0">
                <a:solidFill>
                  <a:srgbClr val="0F172A"/>
                </a:solidFill>
              </a:rPr>
              <a:t>Jika mahasiswa menonaktifkan opsi 'Validate Server Certificate' di HP-nya, jaringan rentan disusupi Evil Twin AP!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EAP-TLS (STANDAR KEAMANAN TERTINGGI / MILITER)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Autentikasi Sertifikat Digital Ganda: </a:t>
            </a:r>
            <a:r>
              <a:rPr b="0">
                <a:solidFill>
                  <a:srgbClr val="0F172A"/>
                </a:solidFill>
              </a:rPr>
              <a:t>Menggunakan Sertifikat Digital X.509 pada Server RADIUS DAN pada perangkat klien (Mutual Certificate Authentication).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Tanpa Password Sama Sekali!: </a:t>
            </a:r>
            <a:r>
              <a:rPr b="0">
                <a:solidFill>
                  <a:srgbClr val="0F172A"/>
                </a:solidFill>
              </a:rPr>
              <a:t>Pengguna tidak perlu mengetik password; autentikasi divalidasi melalui kepemilikan pasangan kunci privat dan sertifikat pada perangkat.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Kebal 100% Phishing &amp; Pencurian Akun: </a:t>
            </a:r>
            <a:r>
              <a:rPr b="0">
                <a:solidFill>
                  <a:srgbClr val="0F172A"/>
                </a:solidFill>
              </a:rPr>
              <a:t>Mustahil dipancing oleh Evil Twin atau Captive Portal palsu karena penyerang tidak memegang kunci privat sertifikat klien.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Peruntukan Khusus: </a:t>
            </a:r>
            <a:r>
              <a:rPr b="0">
                <a:solidFill>
                  <a:srgbClr val="0F172A"/>
                </a:solidFill>
              </a:rPr>
              <a:t>Sangat ideal untuk laptop dinas pimpinan kampus, server akademik, perangkat keuangan, dan mesin industri kritikal.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REKOMENDASI BEST PRACTICE: </a:t>
            </a:r>
            <a:r>
              <a:rPr sz="1100" b="0">
                <a:solidFill>
                  <a:srgbClr val="0F172A"/>
                </a:solidFill>
                <a:latin typeface="Calibri"/>
              </a:rPr>
              <a:t>Gunakan PEAP-MSCHAPv2 untuk Wi-Fi mahasiswa umum (skalabilitas tinggi), dan gunakan EAP-TLS untuk Wi-Fi staf rektorat &amp; server administrasi (keamanan mutlak).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SISTEM PERTAHANAN TINGKAT LANJUT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Protected Management Frames (IEEE 802.11w / PMF)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Solusi standar industri untuk mematikan serangan Deauthentication Flooding secara permanen.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BAGAIMANA CARA KERJA PMF?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Mengenkripsi Frame Manajemen: </a:t>
            </a:r>
            <a:r>
              <a:rPr b="0">
                <a:solidFill>
                  <a:srgbClr val="0F172A"/>
                </a:solidFill>
              </a:rPr>
              <a:t>Standar IEEE 802.11w (PMF) memperluas enkripsi kriptografis hingga ke frame manajemen (Deauthentication, Disassociation, dan Action Frames).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Protokol BIP (Broadcast Integrity Protocol): </a:t>
            </a:r>
            <a:r>
              <a:rPr b="0">
                <a:solidFill>
                  <a:srgbClr val="0F172A"/>
                </a:solidFill>
              </a:rPr>
              <a:t>Menggunakan algoritma kriptografi AES-128-CMAC untuk menandatangani frame manajemen siaran secara digital.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Tanda Tangan Keaslian Pengirim: </a:t>
            </a:r>
            <a:r>
              <a:rPr b="0">
                <a:solidFill>
                  <a:srgbClr val="0F172A"/>
                </a:solidFill>
              </a:rPr>
              <a:t>Setiap frame Deauth yang dikirim oleh AP resmi dibubuhi tanda tangan digital kriptografis yang hanya bisa dibuat oleh pemegang kunci sesi yang sah.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DAMPAKNYA TERHADAP HACKER DEAUTH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Serangan aireplay-ng Gagal Total!: </a:t>
            </a:r>
            <a:r>
              <a:rPr b="0">
                <a:solidFill>
                  <a:srgbClr val="0F172A"/>
                </a:solidFill>
              </a:rPr>
              <a:t>Ketika penyerang menembakkan frame deauth palsu, smartphone atau laptop klien yang mengaktifkan PMF memeriksa tanda tangan digital frame tersebut.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Penolakan Frame Palsu: </a:t>
            </a:r>
            <a:r>
              <a:rPr b="0">
                <a:solidFill>
                  <a:srgbClr val="0F172A"/>
                </a:solidFill>
              </a:rPr>
              <a:t>Karena hacker tidak memegang kunci kriptografis sah, frame palsu ditandai sebagai sampah dan LANGSUNG DIBUANG OLEH KARTU JARINGAN!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Koneksi Tetap Stabil: </a:t>
            </a:r>
            <a:r>
              <a:rPr b="0">
                <a:solidFill>
                  <a:srgbClr val="0F172A"/>
                </a:solidFill>
              </a:rPr>
              <a:t>Meskipun hacker menembakkan ribuan frame deauth per detik, koneksi mahasiswa tidak pernah terputus sedikitpun!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Status Regulasi: </a:t>
            </a:r>
            <a:r>
              <a:rPr b="0">
                <a:solidFill>
                  <a:srgbClr val="0F172A"/>
                </a:solidFill>
              </a:rPr>
              <a:t>PMF bersifat OPSIONAL pada WPA2 dan DIWAJIBKAN MUTLAK pada standar WPA3.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SETTING DI ROUTEROS MIKROTIK: </a:t>
            </a:r>
            <a:r>
              <a:rPr sz="1100" b="0">
                <a:solidFill>
                  <a:srgbClr val="0F172A"/>
                </a:solidFill>
                <a:latin typeface="Calibri"/>
              </a:rPr>
              <a:t>Pada menu Security Profile MikroTik: Atur parameter 'Management Protection' dari 'disabled' menjadi 'allowed' (untuk kompatibilitas) atau 'required' (untuk keamanan maksimal).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SISTEM PEMANTAUAN SPEKTRUM AKTIF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Istilah: WIDS &amp; WIPS pada Jaringan Kampus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Sensor radio otomatis untuk mendeteksi ancaman dan menetralisir access point liar.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WIDS (WIRELESS INTRUSION DETECTION SYSTEM)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Deteksi Ancaman 24/7: </a:t>
            </a:r>
            <a:r>
              <a:rPr b="0">
                <a:solidFill>
                  <a:srgbClr val="0F172A"/>
                </a:solidFill>
              </a:rPr>
              <a:t>Memanfaatkan sensor radio khusus yang terus memindai kanal spektrum nirkabel di seluruh gedung secara non-stop.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Pendeteksian Rogue AP: </a:t>
            </a:r>
            <a:r>
              <a:rPr b="0">
                <a:solidFill>
                  <a:srgbClr val="0F172A"/>
                </a:solidFill>
              </a:rPr>
              <a:t>Mendeteksi secara otomatis kemunculan AP tidak sah yang MAC-nya tidak terdaftar dalam database resmi kampus.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Pendeteksian Evil Twin &amp; Phishing: </a:t>
            </a:r>
            <a:r>
              <a:rPr b="0">
                <a:solidFill>
                  <a:srgbClr val="0F172A"/>
                </a:solidFill>
              </a:rPr>
              <a:t>Membunyikan alarm peringatan seketika saat ada pemancar yang memancarkan SSID resmi kampus namun memiliki BSSID berbeda atau sinyal abnormal.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Deteksi Serangan DoS &amp; Jamming: </a:t>
            </a:r>
            <a:r>
              <a:rPr b="0">
                <a:solidFill>
                  <a:srgbClr val="0F172A"/>
                </a:solidFill>
              </a:rPr>
              <a:t>Merekam lonjakan drastis volume frame deauth di udara atau anomali noise frekuensi radio.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WIPS (WIRELESS INTRUSION PREVENTION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Mitigasi Aktif Otomatis: </a:t>
            </a:r>
            <a:r>
              <a:rPr b="0">
                <a:solidFill>
                  <a:srgbClr val="0F172A"/>
                </a:solidFill>
              </a:rPr>
              <a:t>Bukan sekadar membunyikan alarm; WIPS langsung mengambil tindakan pemblokiran tanpa menunggu instruksi manusia.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Teknik Rogue Containment: </a:t>
            </a:r>
            <a:r>
              <a:rPr b="0">
                <a:solidFill>
                  <a:srgbClr val="0F172A"/>
                </a:solidFill>
              </a:rPr>
              <a:t>Jika sensor mendeteksi mahasiswa mencoba terhubung ke Evil Twin milik hacker, sensor WIPS akan menembakkan frame deauth terarah khusus ke laptop mahasiswa tersebut untuk MEMUTUSKANNYA DARI AP PALSU!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Pemisahan Port Switch Fisik: </a:t>
            </a:r>
            <a:r>
              <a:rPr b="0">
                <a:solidFill>
                  <a:srgbClr val="0F172A"/>
                </a:solidFill>
              </a:rPr>
              <a:t>WIPS mengirimkan perintah via SNMP ke switch edge untuk langsung mematikan port LAN fisik yang menjadi sumber colokan Rogue AP.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Hasil Lapangan: </a:t>
            </a:r>
            <a:r>
              <a:rPr b="0">
                <a:solidFill>
                  <a:srgbClr val="0F172A"/>
                </a:solidFill>
              </a:rPr>
              <a:t>Serangan dinetralisir dalam hitungan detik sebelum sempat memakan korban.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Calibri"/>
              </a:defRPr>
            </a:pPr>
            <a:r>
              <a:t>PERINGATAN REGULASI &amp; KESELAMATAN: </a:t>
            </a:r>
            <a:r>
              <a:rPr sz="1100" b="0">
                <a:solidFill>
                  <a:srgbClr val="0F172A"/>
                </a:solidFill>
                <a:latin typeface="Calibri"/>
              </a:rPr>
              <a:t>Teknik Rogue Containment (penembakan deauth otomatis) harus dikonfigurasi dengan sangat hati-hati agar tidak salah menembak AP milik tetangga gedung resmi yang dapat memicu tuntutan hukum.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DESAIN ARSITEKTUR JARINGAN INDUSTRI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Blueprint Segmentasi &amp; Hardening WLAN Kampus Politani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Rancangan multi-SSID, isolasi VLAN, dan kebijakan keamanan untuk lingkungan institusi.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536192"/>
          <a:ext cx="10728655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188720"/>
                <a:gridCol w="2468880"/>
                <a:gridCol w="2377440"/>
                <a:gridCol w="2590495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Nama SSID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VLAN ID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Metode Otentikasi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Fitur Hardening Wajib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Hak Akses Jaringan</a:t>
                      </a:r>
                    </a:p>
                  </a:txBody>
                  <a:tcPr anchor="ctr">
                    <a:solidFill>
                      <a:srgbClr val="0F172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POLITANI-STAFF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VLAN 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WPA2/WPA3 Enterprise (PEAP)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PMF Required, Bandwidth Uncapped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Akses Penuh: Intranet, SIAKAD Dosen, Server Akademik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POLITANI-MHS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VLAN 20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WPA2 Enterprise (RADIUS)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Bandwidth Quota, Peer-to-Peer Drop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Akses Terbatas: Internet Kampus &amp; Portal Mahasiswa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POLITANI-GUEST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VLAN 30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Captive Portal Web Login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Client Isolation ON, PMF Allowed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Akses Publik: Hanya Port 80/443 ke Gateway Internet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POLITANI-IOT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VLAN 40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WPA2-PSK (Password Acak 32 Char)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MAC Whitelist, No Broadcast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Hanya Komunikasi ke Server MQTT / Sensor Kebun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4233672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Catatan Penting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Aturan Emas: Aktifkan fitur Client Isolation (default-forwarding=no) pada VLAN Mahasiswa dan Tamu agar laptop pengguna tidak bisa saling serang secara lateral!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HARDENING ROUTER MIKROTIK / CONTROLLER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Bedah Istilah: Client Isolation &amp; Default Forwarding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Memutus rantai serangan lateral (lateral movement) di antara pengguna pada satu access point yang sama.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BAHAYA JARINGAN WIRELESS TANPA ISOLASI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Kondisi Default Access Point: </a:t>
            </a:r>
            <a:r>
              <a:rPr b="0">
                <a:solidFill>
                  <a:srgbClr val="0F172A"/>
                </a:solidFill>
              </a:rPr>
              <a:t>Secara default, Access Point bertindak seperti switch nirkabel: seluruh perangkat yang terhubung berada dalam satu broadcast domain Layer 2 yang sama.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Surga Bagi Hacker di Kafe/Kampus: </a:t>
            </a:r>
            <a:r>
              <a:rPr b="0">
                <a:solidFill>
                  <a:srgbClr val="0F172A"/>
                </a:solidFill>
              </a:rPr>
              <a:t>Seorang hacker di kantin kampus dapat menjalankan software pemindai (Nmap) untuk mencari port rentan pada laptop mahasiswa lain yang sedang duduk di sebelahnya.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Serangan ARP Poisoning Lokal: </a:t>
            </a:r>
            <a:r>
              <a:rPr b="0">
                <a:solidFill>
                  <a:srgbClr val="0F172A"/>
                </a:solidFill>
              </a:rPr>
              <a:t>Penyerang membanjiri tabel ARP sehingga seluruh lalu lintas browsing teman di sebelahnya berbelok melewati laptop penyerang.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Penyebaran Malware Otomatis: </a:t>
            </a:r>
            <a:r>
              <a:rPr b="0">
                <a:solidFill>
                  <a:srgbClr val="0F172A"/>
                </a:solidFill>
              </a:rPr>
              <a:t>Worm dan ransomware dapat menular cepat antar laptop melalui celah protokol file sharing Windows (SMB port 445).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FUNGSI CLIENT ISOLATION PADA MIKROTIK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Perintah 'default-forwarding=no': </a:t>
            </a:r>
            <a:r>
              <a:rPr b="0">
                <a:solidFill>
                  <a:srgbClr val="0F172A"/>
                </a:solidFill>
              </a:rPr>
              <a:t>Pada konfigurasi MikroTik RouterOS di menu Wireless Interface: Matikan opsi default-forwarding.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Mekanisme Pemblokiran: </a:t>
            </a:r>
            <a:r>
              <a:rPr b="0">
                <a:solidFill>
                  <a:srgbClr val="0F172A"/>
                </a:solidFill>
              </a:rPr>
              <a:t>Access Point secara tegas MEMBLOKIR SEMUA KOMUNIKASI LANGSUNG ANTAR-KLIEN NIRKABEL yang terhubung ke radio tersebut.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Hanya Boleh Bicara ke Gateway: </a:t>
            </a:r>
            <a:r>
              <a:rPr b="0">
                <a:solidFill>
                  <a:srgbClr val="0F172A"/>
                </a:solidFill>
              </a:rPr>
              <a:t>Setiap laptop pengguna hanya diizinkan berkomunikasi ke arah router gateway untuk keluar menuju internet.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Hasil Proteksi: </a:t>
            </a:r>
            <a:r>
              <a:rPr b="0">
                <a:solidFill>
                  <a:srgbClr val="0F172A"/>
                </a:solidFill>
              </a:rPr>
              <a:t>Penyerang tidak bisa melakukan ping, tidak bisa memindai port, dan tidak bisa melancarkan ARP poisoning ke pengguna lain!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Calibri"/>
              </a:defRPr>
            </a:pPr>
            <a:r>
              <a:t>PANDUAN KONFIGURASI LAPANGAN: </a:t>
            </a:r>
            <a:r>
              <a:rPr sz="1100" b="0">
                <a:solidFill>
                  <a:srgbClr val="0F172A"/>
                </a:solidFill>
                <a:latin typeface="Calibri"/>
              </a:rPr>
              <a:t>Setting wajib untuk semua hotspot publik: 1) Matikan default-forwarding pada interface wireless; 2) Pasang rule firewall drop forward antar-IP di subnet tamu.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PENUTUP &amp; JEMBATAN LAYER FISIK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  <a:latin typeface="Calibri"/>
              </a:defRPr>
            </a:pPr>
            <a:r>
              <a:t>Rangkuman Pertemuan 2 &amp; Jembatan ke Pertemuan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72865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Menuntaskan modul keamanan logis dan bersiap melangkah ke modul perangkat keras gelombang radio.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8686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475569"/>
                </a:solidFill>
                <a:latin typeface="Calibri"/>
              </a:defRPr>
            </a:pPr>
            <a:r>
              <a:t>Sistem Komunikasi Nirkabel (TRK Politani) • Minggu X • Pertemuan 2 • Dosen: M. Riza Nurtam, M.Kom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6355080"/>
            <a:ext cx="185897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4F46E5"/>
                </a:solidFill>
                <a:latin typeface="Calibri"/>
              </a:defRPr>
            </a:pPr>
            <a:r>
              <a:t>Slide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36192"/>
            <a:ext cx="5204307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SINTESIS MODUL KEAMANAN (PERTEMUAN 1 &amp; 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Pertahanan Holistik: </a:t>
            </a:r>
            <a:r>
              <a:rPr b="0">
                <a:solidFill>
                  <a:srgbClr val="0F172A"/>
                </a:solidFill>
              </a:rPr>
              <a:t>Keamanan sistem nirkabel mencakup kriptografi data (AES-CCMP), autentikasi identitas individu (IEEE 802.1X / RADIUS), dan perlindungan integritas frame kontrol (PMF 802.11w).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Mitigasi Ancaman Aktif: </a:t>
            </a:r>
            <a:r>
              <a:rPr b="0">
                <a:solidFill>
                  <a:srgbClr val="0F172A"/>
                </a:solidFill>
              </a:rPr>
              <a:t>Deauth flood dinetralisir oleh PMF; Rogue AP ditangkal oleh Port Security &amp; WIPS; Evil Twin dicegah oleh validasi sertifikat EAP-TLS/PEAP; serangan lateral dihentikan oleh Client Isolation.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Fondasi Engineer Lengkap: </a:t>
            </a:r>
            <a:r>
              <a:rPr b="0">
                <a:solidFill>
                  <a:srgbClr val="0F172A"/>
                </a:solidFill>
              </a:rPr>
              <a:t>Mahasiswa TRK kini menguasai arsitektur keamanan logis nirkabel dari level frame hingga skala enterprise.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1536192"/>
            <a:ext cx="5204307" cy="388620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1536192"/>
            <a:ext cx="5204307" cy="5029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  PENGANTAR MENUJU PERTEMUAN 3: ANTENA WIRELESS!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130552"/>
            <a:ext cx="4838547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Pertanyaan Besar Berikutnya: </a:t>
            </a:r>
            <a:r>
              <a:rPr b="0">
                <a:solidFill>
                  <a:srgbClr val="0F172A"/>
                </a:solidFill>
              </a:rPr>
              <a:t>'Sehebat apapun enkripsi dan arsitektur keamanan kita, bagaimana sinyal Wi-Fi tersebut merambat di alam nyata?'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Peran Gerbang Fisik (Antena): </a:t>
            </a:r>
            <a:r>
              <a:rPr b="0">
                <a:solidFill>
                  <a:srgbClr val="0F172A"/>
                </a:solidFill>
              </a:rPr>
              <a:t>Antena adalah pintu gerbang fisik yang menentukan ke mana energi sinyal diarahkan, seberapa jauh jangkauannya, dan seberapa bersih dari interferensi.</a:t>
            </a:r>
          </a:p>
          <a:p>
            <a:pPr>
              <a:spcAft>
                <a:spcPts val="800"/>
              </a:spcAft>
              <a:defRPr sz="1150" b="1">
                <a:solidFill>
                  <a:srgbClr val="0F172A"/>
                </a:solidFill>
                <a:latin typeface="Calibri"/>
              </a:defRPr>
            </a:pPr>
            <a:r>
              <a:t>• Materi Pertemuan 3 (Minggu XI): </a:t>
            </a:r>
            <a:r>
              <a:rPr b="0">
                <a:solidFill>
                  <a:srgbClr val="0F172A"/>
                </a:solidFill>
              </a:rPr>
              <a:t>Kita akan masuk ke dunia fisik: Panduan Praktis Antena untuk Network Engineer (memahami satuan dBm/dBi/EIRP, beamwidth HPBW, polarisasi V/H, downtilt, dan link budget lapangan)!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559552"/>
            <a:ext cx="10728655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632704"/>
            <a:ext cx="10454335" cy="53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F46E5"/>
                </a:solidFill>
                <a:latin typeface="Calibri"/>
              </a:defRPr>
            </a:pPr>
            <a:r>
              <a:t>ARAHAN PRAKTIKUM MINGGU INI: </a:t>
            </a:r>
            <a:r>
              <a:rPr sz="1100" b="0">
                <a:solidFill>
                  <a:srgbClr val="0F172A"/>
                </a:solidFill>
                <a:latin typeface="Calibri"/>
              </a:rPr>
              <a:t>Buka modul Praktikum.md: Kita akan mempraktikkan simulasi Deauthentication Attack di lingkungan lab tertutup, konfigurasi FreeRADIUS untuk otentikasi akun, dan setting hardening MikroTik default-forwarding=no.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