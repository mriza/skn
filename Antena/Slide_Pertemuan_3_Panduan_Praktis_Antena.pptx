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7160" cy="34747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02412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284C7"/>
                </a:solidFill>
                <a:latin typeface="Calibri"/>
              </a:defRPr>
            </a:pPr>
            <a:r>
              <a:t>TEKNOLOGI REKAYASA KOMPUTER (TRK) • SISTEM KOMUNIKASI NIRKABEL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Panduan Praktis Antena Wireless untuk Network Engineer</a:t>
            </a:r>
          </a:p>
          <a:p>
            <a:pPr>
              <a:spcAft>
                <a:spcPts val="3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Pertemuan 3 (Minggu XI) | Alokasi Waktu: 210 Menit (3 x 70 Menit) (Terapan &amp; Praktis Network Engineer)</a:t>
            </a:r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Dosen Pengampu: M. Riza Nurtam, M.Kom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Jurusan Rekayasa Pertanian dan Komputer - Politeknik Pertanian Negeri Pangkajene dan Kepulauan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RELOAD &amp; JEMBATAN MATERI PERKULIAHAN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Reload Pertemuan 1 &amp; 2: Dari Keamanan Logis ke Layer Fisik 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Jembatan Konseptual: Menghubungkan Pemahaman Sebelumnya Menuju Tantangan Baru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794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KILAS BALIK MATERI SEBELUMNYA (YANG SUDAH DIKUASAI)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Keamanan Logis &amp; Enkripsi: </a:t>
            </a:r>
            <a:r>
              <a:rPr b="0">
                <a:solidFill>
                  <a:srgbClr val="0F172A"/>
                </a:solidFill>
              </a:rPr>
              <a:t>Pada Pertemuan 1 dan 2, kita menguasai perlindungan layer data link: enkripsi AES-CCMP, 4-Way Handshake, dan otentikasi enterprise IEEE 802.1X (RADIUS).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Integritas &amp; Hardening: </a:t>
            </a:r>
            <a:r>
              <a:rPr b="0">
                <a:solidFill>
                  <a:srgbClr val="0F172A"/>
                </a:solidFill>
              </a:rPr>
              <a:t>Kita memahami cara menangkal serangan deauth via PMF (802.11w), mencegah Rogue AP, dan isolasi klien (default-forwarding=no).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Batasan Layer Logis: </a:t>
            </a:r>
            <a:r>
              <a:rPr b="0">
                <a:solidFill>
                  <a:srgbClr val="0F172A"/>
                </a:solidFill>
              </a:rPr>
              <a:t>Seluruh protokol keamanan tersebut berasumsi bahwa gelombang radio dapat terkirim dan diterima dengan baik oleh perangkat.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7947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KONEKSI KE HARI INI (MENGAPA MATERI INI DIBUTUHKAN?)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➔ Sinyal Wi-Fi adalah Gelombang Fisik: </a:t>
            </a:r>
            <a:r>
              <a:rPr b="0">
                <a:solidFill>
                  <a:srgbClr val="0F172A"/>
                </a:solidFill>
              </a:rPr>
              <a:t>Sehebat dan sekuat apapun enkripsi kriptografi Anda, koneksi nirkabel tidak akan pernah terjadi jika energi gelombang radio (RF) tidak sampai ke antena penerima!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➔ Antena Sebagai Pintu Gerbang Fisik: </a:t>
            </a:r>
            <a:r>
              <a:rPr b="0">
                <a:solidFill>
                  <a:srgbClr val="0F172A"/>
                </a:solidFill>
              </a:rPr>
              <a:t>Antena adalah komponen fisik yang menentukan: Ke mana arah energi dipancarkan? Seberapa jauh jangkauannya? Seberapa tahan terhadap gangguan interferensi tetangga?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284C7"/>
                </a:solidFill>
                <a:latin typeface="Calibri"/>
              </a:defRPr>
            </a:pPr>
            <a:r>
              <a:t>➔ Misi Hari Ini: </a:t>
            </a:r>
            <a:r>
              <a:rPr b="0">
                <a:solidFill>
                  <a:srgbClr val="0F172A"/>
                </a:solidFill>
              </a:rPr>
              <a:t>Memahami karakteristik fisik antena, satuan desibel (dB/dBm/dBi), sudut berkas (beamwidth), polarisasi, dan link budget tanpa terjebak rumus elektromagnetik rumit.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95544"/>
            <a:ext cx="10728655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86984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Calibri"/>
              </a:defRPr>
            </a:pPr>
            <a:r>
              <a:t>KATA KUNCI PEMBELAJARAN TERPADU: </a:t>
            </a:r>
            <a:r>
              <a:rPr sz="1100" b="0">
                <a:solidFill>
                  <a:srgbClr val="0F172A"/>
                </a:solidFill>
                <a:latin typeface="Calibri"/>
              </a:rPr>
              <a:t>Keamanan logika Layer 2 dan perambatan fisik Layer 1 adalah dua sisi mata uang yang tak terpisahkan dalam rekayasa sistem komunikasi nirkabel!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PETA KURIKULUM &amp; ALOKASI WAKTU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Rencana Perkuliahan Modul Antena Wireless (210 Menit)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Alur praktis memahami komponen pasif radio dari analogi intuitif hingga perhitungan link budget.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SESI PERTAMA: PRINSIP FISIK &amp; BENTUK ANTENA LAPANGAN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1 (00:00 - 00:35): </a:t>
            </a:r>
            <a:r>
              <a:rPr b="0">
                <a:solidFill>
                  <a:srgbClr val="0F172A"/>
                </a:solidFill>
              </a:rPr>
              <a:t>Pengantar Antena &amp; Prinsip Kerja Intuitif: Mengapa engineer butuh paham antena, konsep pengarah energi (analogi balon air &amp; bohlam vs senter), serta bedah satuan desibel (dB, dBm, dBi, dBd).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2 (00:35 - 01:25): </a:t>
            </a:r>
            <a:r>
              <a:rPr b="0">
                <a:solidFill>
                  <a:srgbClr val="0F172A"/>
                </a:solidFill>
              </a:rPr>
              <a:t>Jenis &amp; Karakteristik Fisik Antena Industri: Membedah Omni, Patch Panel, Sectoral, Parabolic Grid/Dish, Yagi-Uda, serta anatomi konektor RF (SMA, RP-SMA, N-Type) dan kabel pigtail.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3 (01:25 - 01:45): </a:t>
            </a:r>
            <a:r>
              <a:rPr b="0">
                <a:solidFill>
                  <a:srgbClr val="0F172A"/>
                </a:solidFill>
              </a:rPr>
              <a:t>Istirahat &amp; Diskusi Interaktif: Analisis kesalahan pemilihan antena pada proyek RT-RW Net.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SESI KEDUA: SUDUT PANCAR, POLARISASI, &amp; METRIK KUALITAS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4 (01:45 - 02:30): </a:t>
            </a:r>
            <a:r>
              <a:rPr b="0">
                <a:solidFill>
                  <a:srgbClr val="0F172A"/>
                </a:solidFill>
              </a:rPr>
              <a:t>Karakteristik Beam &amp; Fenomena Downtilt: Parameter HPBW (-3 dB), Azimuth vs Elevasi, trade-off Gain vs Sudut, fenomena dead zone di bawah tower dan solusi penundukan antena (downtilting).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5 (02:30 - 03:10): </a:t>
            </a:r>
            <a:r>
              <a:rPr b="0">
                <a:solidFill>
                  <a:srgbClr val="0F172A"/>
                </a:solidFill>
              </a:rPr>
              <a:t>Polarisasi, Regulasi EIRP, &amp; Metrik Kualitas: Polarisasi V/H dan rugi cross-pol, perhitungan daya legal Kominfo (EIRP), Front-to-Back ratio, serta checklist indikator (RSSI, Noise, SNR, CCQ).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6 (03:10 - 03:30): </a:t>
            </a:r>
            <a:r>
              <a:rPr b="0">
                <a:solidFill>
                  <a:srgbClr val="0F172A"/>
                </a:solidFill>
              </a:rPr>
              <a:t>Rangkuman, Studi Kasus, &amp; Pengantar Praktikum: Tips belanja perangkat nirkabel dan briefing lab pemetaan sinyal.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PARADIGMA BELAJAR TRK POLITANI: </a:t>
            </a:r>
            <a:r>
              <a:rPr sz="1100" b="0">
                <a:solidFill>
                  <a:srgbClr val="0F172A"/>
                </a:solidFill>
                <a:latin typeface="Calibri"/>
              </a:rPr>
              <a:t>Bagi engineer komputer/jaringan, antena bukanlah persamaan gelombang diferensial Maxwell yang rumit, melainkan komponen praktis pengarah energi transmisi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KONSEP FUNDAMENTAL TRANSMISI 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Konsep Dasar: Antena Sebagai 'Pengarah Energi'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Membongkar miskonsepsi paling populer mengenai fungsi antena pada perangkat radio.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MISKONSEPSI: 'ANTENA MENAMBAH DAYA LISTRIK'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Pemahaman Yang Keliru: </a:t>
            </a:r>
            <a:r>
              <a:rPr b="0">
                <a:solidFill>
                  <a:srgbClr val="0F172A"/>
                </a:solidFill>
              </a:rPr>
              <a:t>Banyak teknisi pemula mengira memasang antena ber-dBi besar akan 'menambah watt' atau melipatgandakan energi listrik yang keluar dari radio pemancar.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Fakta Fisika: </a:t>
            </a:r>
            <a:r>
              <a:rPr b="0">
                <a:solidFill>
                  <a:srgbClr val="0F172A"/>
                </a:solidFill>
              </a:rPr>
              <a:t>ANTENA ADALAH KOMPONEN PASIF MURNI! Antena tidak memiliki colokan listrik dan tidak bisa menciptakan daya baru.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Sumber Daya Sejati: </a:t>
            </a:r>
            <a:r>
              <a:rPr b="0">
                <a:solidFill>
                  <a:srgbClr val="0F172A"/>
                </a:solidFill>
              </a:rPr>
              <a:t>Daya transmisi sepenuhnya berasal dari sirkuit amplifier radio pemancar (Transmit Power / P_Tx) yang diukur dalam satuan miliwatt (mW) atau dBm.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ANALOGI NYATA: BALON AIR &amp; LAMPU SENTER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Analogi Balon Karet Berisi Air: </a:t>
            </a:r>
            <a:r>
              <a:rPr b="0">
                <a:solidFill>
                  <a:srgbClr val="0F172A"/>
                </a:solidFill>
              </a:rPr>
              <a:t>Bayangkan balon bulat berisi air dengan volume tetap (volume air mengibaratkan daya pemancar radio P_Tx).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Antena Omni (Gain Rendah): </a:t>
            </a:r>
            <a:r>
              <a:rPr b="0">
                <a:solidFill>
                  <a:srgbClr val="0F172A"/>
                </a:solidFill>
              </a:rPr>
              <a:t>Balon dibiarkan bulat: Air menyebar rata ke segala arah ($360^\circ$). Jangkauannya dekat ke semua sisi.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Antena Directional (Gain Tinggi): </a:t>
            </a:r>
            <a:r>
              <a:rPr b="0">
                <a:solidFill>
                  <a:srgbClr val="0F172A"/>
                </a:solidFill>
              </a:rPr>
              <a:t>Balon ditekan kedua sisinya menjadi lonjong memanjang: Air terdorong sangat jauh ke satu arah depan, namun sisi sampingnya menjadi sangat tipis!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Analogi Bohlam vs Lampu Senter: </a:t>
            </a:r>
            <a:r>
              <a:rPr b="0">
                <a:solidFill>
                  <a:srgbClr val="0F172A"/>
                </a:solidFill>
              </a:rPr>
              <a:t>Bohlam menyinari seisi kamar (Omni); lampu senter dengan reflektor memfokuskan cahaya menjadi satu berkas sorot tajam ke depan (Directional).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HUKUM KEKEKALAN ENERGI: </a:t>
            </a:r>
            <a:r>
              <a:rPr sz="1100" b="0">
                <a:solidFill>
                  <a:srgbClr val="0F172A"/>
                </a:solidFill>
                <a:latin typeface="Calibri"/>
              </a:rPr>
              <a:t>Gain antena (dBi) adalah ukuran SEBERAPA KUAT ANTENA MEMADATKAN DAN MEMFOKUSKAN ENERGI KE SATU ARAH TERTENTU, bukan menambah total energi yang dipancarkan!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SATUAN PENGUKURAN LAPANGAN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Bedah Satuan Praktis: Membedakan dB, dBm, dBi, &amp; dBd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Pedoman cepat memahami angka-angka desibel pada datasheet tanpa kalkulator saintifik rumit.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SATUAN RELATIF VS SATUAN MUTLAK DAYA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dB (Decibel): </a:t>
            </a:r>
            <a:r>
              <a:rPr b="0">
                <a:solidFill>
                  <a:srgbClr val="0F172A"/>
                </a:solidFill>
              </a:rPr>
              <a:t>Satuan perbandingan (rasio) logaritmik relatif murni antara dua nilai daya. Tidak memiliki satuan fisik.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Aturan Praktis (Rule of Thumb): </a:t>
            </a:r>
            <a:r>
              <a:rPr b="0">
                <a:solidFill>
                  <a:srgbClr val="0F172A"/>
                </a:solidFill>
              </a:rPr>
              <a:t>1) Penambahan +3 dB = Daya berlipat 2 KALI lipat; 2) Penurunan -3 dB = Daya berkurang SEPARUHNYA (1/2); 3) Penambahan +10 dB = Daya melonjak 10 KALI lipat; 4) Penurunan -10 dB = Daya drop menjadi 1/10.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dBm (Decibel-milliwatt): </a:t>
            </a:r>
            <a:r>
              <a:rPr b="0">
                <a:solidFill>
                  <a:srgbClr val="0F172A"/>
                </a:solidFill>
              </a:rPr>
              <a:t>Satuan DAYA MUTLAK radio dengan acuan 1 miliwatt (mW): 0 dBm = 1 mW. Menunjukkan kekuatan sirkuit pemancar radio.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SATUAN PENGUATAN FOKUS (GAIN ANTENA)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dBi (Decibel-Isotropic): </a:t>
            </a:r>
            <a:r>
              <a:rPr b="0">
                <a:solidFill>
                  <a:srgbClr val="0F172A"/>
                </a:solidFill>
              </a:rPr>
              <a:t>Nilai penguatan fokus antena dibandingkan dengan Antena Isotropis teoritis (antena titik ideal yang memancarkan energi berbentuk bola sempurna $360^\circ$ ke segala arah). Inilah satuan gain yang paling sering tertera pada datasheet Wi-Fi.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dBd (Decibel-Dipole): </a:t>
            </a:r>
            <a:r>
              <a:rPr b="0">
                <a:solidFill>
                  <a:srgbClr val="0F172A"/>
                </a:solidFill>
              </a:rPr>
              <a:t>Nilai penguatan antena dibandingkan dengan Antena Dipol setengah gelombang nyata di laboratorium fisika.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Hubungan Konversi: </a:t>
            </a:r>
            <a:r>
              <a:rPr b="0">
                <a:solidFill>
                  <a:srgbClr val="0F172A"/>
                </a:solidFill>
              </a:rPr>
              <a:t>dBi = dBd + 2.15 (Antena dipol nyata sudah memiliki fokus alami sebesar 2.15 dBi dibandingkan bola teoritis).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TABEL KONVERSI DAYA CEPAT ENGINEER: </a:t>
            </a:r>
            <a:r>
              <a:rPr sz="1100" b="0">
                <a:solidFill>
                  <a:srgbClr val="0F172A"/>
                </a:solidFill>
                <a:latin typeface="Calibri"/>
              </a:rPr>
              <a:t>0 dBm = 1 mW | 10 dBm = 10 mW | 14 dBm = 25 mW | 17 dBm = 50 mW | 20 dBm = 100 mW (Standar AP Indoor) | 27 dBm = 500 mW | 30 dBm = 1.000 mW = 1 Watt!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KLASIFIKASI ANTENA #1 (SEBARAN 360 DERAJAT)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Antena Omnidirectional: Batang Silinder Penyebar 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Pilihan utama untuk melayani banyak pengguna dari berbagai penjuru dalam jarak dekat.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BENTUK FISIK &amp; POLA RADIASI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Bentuk Fisik: </a:t>
            </a:r>
            <a:r>
              <a:rPr b="0">
                <a:solidFill>
                  <a:srgbClr val="0F172A"/>
                </a:solidFill>
              </a:rPr>
              <a:t>Batang silinder vertikal lurus. Untuk indoor berupa stick karet lentur (Rubber Duck), untuk outdoor berupa pipa fiberglass tahan cuaca.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Pola Radiasi Horizontal ($360^\circ$): </a:t>
            </a:r>
            <a:r>
              <a:rPr b="0">
                <a:solidFill>
                  <a:srgbClr val="0F172A"/>
                </a:solidFill>
              </a:rPr>
              <a:t>Memancarkan dan menerima gelombang radio sama kuat ke seluruh arah mata angin mendatar secara melingkar penuh.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Bentuk Geometri Donut: </a:t>
            </a:r>
            <a:r>
              <a:rPr b="0">
                <a:solidFill>
                  <a:srgbClr val="0F172A"/>
                </a:solidFill>
              </a:rPr>
              <a:t>Pola radiasi 3 dimensinya menyerupai kue donat: melebar di bidang horizontal, namun terdapat lubang cekung (dead zone) tepat di ujung atas dan bawah batang antena!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KELEBIHAN, KEKURANGAN, &amp; PENGGUNAAN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Kelebihan Utama: </a:t>
            </a:r>
            <a:r>
              <a:rPr b="0">
                <a:solidFill>
                  <a:srgbClr val="0F172A"/>
                </a:solidFill>
              </a:rPr>
              <a:t>Klien dari arah mana pun bisa langsung terhubung tanpa teknisi perlu mengarahkan sudut antena (Zero Pointing required).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Kekurangan Fatal: </a:t>
            </a:r>
            <a:r>
              <a:rPr b="0">
                <a:solidFill>
                  <a:srgbClr val="0F172A"/>
                </a:solidFill>
              </a:rPr>
              <a:t>Jangkauan jarak terbatas. Karena 'mendengar' dari semua arah ($360^\circ$), antena omni sangat rentan menyedot polusi noise interferensi dari AP tetangga sekitar!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Skenario Penggunaan Riil: </a:t>
            </a:r>
            <a:r>
              <a:rPr b="0">
                <a:solidFill>
                  <a:srgbClr val="0F172A"/>
                </a:solidFill>
              </a:rPr>
              <a:t>Hotspot kafe, ruang kelas kuliah TRK, lobi kantor, taman kampus, dan Access Point rumahan.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TIPS INSTALASI PRAKTISI: </a:t>
            </a:r>
            <a:r>
              <a:rPr sz="1100" b="0">
                <a:solidFill>
                  <a:srgbClr val="0F172A"/>
                </a:solidFill>
                <a:latin typeface="Calibri"/>
              </a:rPr>
              <a:t>Pasang antena omni dalam posisi tegak lurus (vertikal sempurna). Jika antena dipasang miring, pola donatnya akan mengarah ke langit dan lantai tanah, merusak jangkauan sinyal pengguna!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KLASIFIKASI ANTENA #2 (TERARAH SEDANG)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Antena Patch / Flat Panel: Kotak Datar Terarah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Solusi terarah kompak berdaya tahan tinggi untuk stasiun klien outdoor dan lorong memanjang.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BENTUK FISIK &amp; KARAKTERISTIK BERKAS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Bentuk Fisik: </a:t>
            </a:r>
            <a:r>
              <a:rPr b="0">
                <a:solidFill>
                  <a:srgbClr val="0F172A"/>
                </a:solidFill>
              </a:rPr>
              <a:t>Kotak persegi tipis tertutup bahan plastik ABS tahan sinar UV matahari. Di dalamnya terdapat lempengan tembaga patch pemancar terisolasi.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Sudut Pancaran Sedang: </a:t>
            </a:r>
            <a:r>
              <a:rPr b="0">
                <a:solidFill>
                  <a:srgbClr val="0F172A"/>
                </a:solidFill>
              </a:rPr>
              <a:t>Menembakkan sinyal ke arah depan dengan sudut berkas horizontal antara $30^\circ	ext{ hingga } 60^\circ$.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Gain Tipikal: </a:t>
            </a:r>
            <a:r>
              <a:rPr b="0">
                <a:solidFill>
                  <a:srgbClr val="0F172A"/>
                </a:solidFill>
              </a:rPr>
              <a:t>Berkisar antara 12 dBi hingga 19 dBi. Jangkauan efektif outdoor mencapai 500 meter hingga 3 kilometer.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Tampilan Estetis: </a:t>
            </a:r>
            <a:r>
              <a:rPr b="0">
                <a:solidFill>
                  <a:srgbClr val="0F172A"/>
                </a:solidFill>
              </a:rPr>
              <a:t>Rapi, tidak mencolok, sangat cocok dipasang di fasad dinding gedung perkantoran atau rumah.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SKENARIO PENGGUNAAN UTAMA DI INDUSTRI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Klien Outdoor CPE (Customer Premises Equipment): </a:t>
            </a:r>
            <a:r>
              <a:rPr b="0">
                <a:solidFill>
                  <a:srgbClr val="0F172A"/>
                </a:solidFill>
              </a:rPr>
              <a:t>Dipasang di atas atap rumah pelanggan WISP / RT-RW Net, ditembakkan lurus menghadap ke arah menara pemancar Base Station (BTS).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Coverage Area Lorong Memanjang: </a:t>
            </a:r>
            <a:r>
              <a:rPr b="0">
                <a:solidFill>
                  <a:srgbClr val="0F172A"/>
                </a:solidFill>
              </a:rPr>
              <a:t>Sangat ideal dipasang di ujung lorong hotel, selasar rumah sakit, atau rak lorong gudang pabrik untuk menyinari jalur jalan memanjang.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Isolasi Interferensi: </a:t>
            </a:r>
            <a:r>
              <a:rPr b="0">
                <a:solidFill>
                  <a:srgbClr val="0F172A"/>
                </a:solidFill>
              </a:rPr>
              <a:t>Karena hanya fokus ke depan, antena panel menolak sinyal pengganggu yang datang dari arah belakang dan samping.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CONTOH PRODUK POPULER: </a:t>
            </a:r>
            <a:r>
              <a:rPr sz="1100" b="0">
                <a:solidFill>
                  <a:srgbClr val="0F172A"/>
                </a:solidFill>
                <a:latin typeface="Calibri"/>
              </a:rPr>
              <a:t>MikroTik SXTsq series, Ubiquiti NanoStation Loco, dan TP-Link Pharos CPE series adalah contoh integrasi radio dan antena patch panel dalam satu kotak ringkas.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KLASIFIKASI ANTENA #3 (TULANG PUNGGUNG BASE STATION)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Antena Sectoral: Tulang Punggung Menara Base Station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Dirancang khusus untuk membagi wilayah cakupan menara menjadi beberapa sektor berkapasitas besar.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GEOMETRI PANCARAN BERBENTUK KIPAS (FAN BEAM)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Bentuk Fisik: </a:t>
            </a:r>
            <a:r>
              <a:rPr b="0">
                <a:solidFill>
                  <a:srgbClr val="0F172A"/>
                </a:solidFill>
              </a:rPr>
              <a:t>Bilah panel memanjang vertikal dengan tinggi antara 60 cm hingga 1,5 meter yang kokoh terpasang pada tiang menara pipa.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Lebar Horizontal Terencana: </a:t>
            </a:r>
            <a:r>
              <a:rPr b="0">
                <a:solidFill>
                  <a:srgbClr val="0F172A"/>
                </a:solidFill>
              </a:rPr>
              <a:t>Dirancang memancarkan sinyal mendatar menyerupai kipas terbuka lebar, dengan pilihan sudut standar pabrikan: $60^\circ$, $90^\circ$, atau $120^\circ$.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Sangat Tipis Secara Vertikal: </a:t>
            </a:r>
            <a:r>
              <a:rPr b="0">
                <a:solidFill>
                  <a:srgbClr val="0F172A"/>
                </a:solidFill>
              </a:rPr>
              <a:t>Sudut berkas vertikalnya sangat pipih dan sempit, biasanya hanya berkisar antara $4^\circ	ext{ hingga } 8^\circ$ saja!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Gain Tinggi: </a:t>
            </a:r>
            <a:r>
              <a:rPr b="0">
                <a:solidFill>
                  <a:srgbClr val="0F172A"/>
                </a:solidFill>
              </a:rPr>
              <a:t>Gain tipikal berkisar antara 15 dBi hingga 21 dBi.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MENGAPA MENARA WISP MENGGUNAKAN SECTORAL?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Membagi Wilayah $360^\circ$ Menjadi Beberapa Sektor: </a:t>
            </a:r>
            <a:r>
              <a:rPr b="0">
                <a:solidFill>
                  <a:srgbClr val="0F172A"/>
                </a:solidFill>
              </a:rPr>
              <a:t>Daripada memasang 1 antena omni yang cepat kelebihan beban (overload), menara dipasangi 3 unit antena sectoral $120^\circ$ atau 4 unit antena sectoral $90^\circ$.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Melipatgandakan Kapasitas Bandwidth: </a:t>
            </a:r>
            <a:r>
              <a:rPr b="0">
                <a:solidFill>
                  <a:srgbClr val="0F172A"/>
                </a:solidFill>
              </a:rPr>
              <a:t>Masing-masing antena sectoral terhubung ke radio pemancar independen dengan frekuensi kanal berbeda, melipatgandakan jumlah klien yang bisa ditampung hingga 3x - 4x lipat!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Standar Menara Telekomunikasi: </a:t>
            </a:r>
            <a:r>
              <a:rPr b="0">
                <a:solidFill>
                  <a:srgbClr val="0F172A"/>
                </a:solidFill>
              </a:rPr>
              <a:t>Digunakan oleh seluruh BTS seluler (Telkomsel, Indosat) dan BTS Internet Service Provider (WISP).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PERINGATAN INSTALASI MENARA: </a:t>
            </a:r>
            <a:r>
              <a:rPr sz="1100" b="0">
                <a:solidFill>
                  <a:srgbClr val="0F172A"/>
                </a:solidFill>
                <a:latin typeface="Calibri"/>
              </a:rPr>
              <a:t>Karena sudut vertikalnya sangat pipih ($4^\circ - 8^\circ$), antena sectoral wajib diberi sudut kemiringan menunduk (Downtilt) agar sinyalnya menyentuh pelanggan di bawah menara!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KLASIFIKASI ANTENA #4 (PENEMBAK JARAK JAUH)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Antena Parabolic Grid &amp; Dish: Penembak Jarak Jauh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Fokus berkas pensil super sempit untuk sambungan Point to Point antar-gedung hingga puluhan kilometer.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PRINSIP REFLEKTOR PARABOLA KISI &amp; PIRINGAN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Geometri Reflektor Cekung: </a:t>
            </a:r>
            <a:r>
              <a:rPr b="0">
                <a:solidFill>
                  <a:srgbClr val="0F172A"/>
                </a:solidFill>
              </a:rPr>
              <a:t>Menggunakan prinsip kurva parabola: Stik pencatu daya (Feed Horn) diletakkan tepat di titik fokus, memantulkan seluruh gelombang menjadi berkas paralel ke depan.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Sudut Berkas Pensil (Pencil Beam): </a:t>
            </a:r>
            <a:r>
              <a:rPr b="0">
                <a:solidFill>
                  <a:srgbClr val="0F172A"/>
                </a:solidFill>
              </a:rPr>
              <a:t>Sudut pancaran sangat sempit dan runcing, umumnya hanya berkisar antara $4^\circ	ext{ hingga } 9^\circ$ saja!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Gain Tertinggi di Kelasnya: </a:t>
            </a:r>
            <a:r>
              <a:rPr b="0">
                <a:solidFill>
                  <a:srgbClr val="0F172A"/>
                </a:solidFill>
              </a:rPr>
              <a:t>Menghasilkan penguatan luar biasa antara 24 dBi hingga 34 dBi, mampu menjangkau jarak link nirkabel antara 5 km hingga 30+ km.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Kekebalan Interferensi Maksimal: </a:t>
            </a:r>
            <a:r>
              <a:rPr b="0">
                <a:solidFill>
                  <a:srgbClr val="0F172A"/>
                </a:solidFill>
              </a:rPr>
              <a:t>Hanya menerima sinyal lurus dari depan; gelombang bising dari samping dan belakang otomatis ditolak.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MENGAPA MEMILIH KISI GRID DI ATAS MENARA TINGGI?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Beban Terpaan Angin Rendah (Low Wind Load): </a:t>
            </a:r>
            <a:r>
              <a:rPr b="0">
                <a:solidFill>
                  <a:srgbClr val="0F172A"/>
                </a:solidFill>
              </a:rPr>
              <a:t>Di atas menara tower setinggi 30 meter, hembusan angin badai sangat kencang. Rangka kisi-kisi aluminium meloloskan hingga 80% hembusan angin tanpa hambatan!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Dish Solid vs Grid: </a:t>
            </a:r>
            <a:r>
              <a:rPr b="0">
                <a:solidFill>
                  <a:srgbClr val="0F172A"/>
                </a:solidFill>
              </a:rPr>
              <a:t>Dish piringan solid utuh bertindak seperti layar perahu; terpaan angin kencang dapat memuntir tiang menara dan merusak bidikan arah sinyal.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Solusi Solid Dish Modern: </a:t>
            </a:r>
            <a:r>
              <a:rPr b="0">
                <a:solidFill>
                  <a:srgbClr val="0F172A"/>
                </a:solidFill>
              </a:rPr>
              <a:t>Solid dish hanya dipakai untuk kapasitas gigabit frekuensi tinggi (11 GHz - 24 GHz) dan wajib dipasangi penutup kubah aerodinamis (Radome).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FOKUS MATERI PERTEMUAN 4: </a:t>
            </a:r>
            <a:r>
              <a:rPr sz="1100" b="0">
                <a:solidFill>
                  <a:srgbClr val="0F172A"/>
                </a:solidFill>
                <a:latin typeface="Calibri"/>
              </a:rPr>
              <a:t>Antena Grid inilah yang akan menjadi fokus utama praktik perakitan dan konfigurasi Point to Point (PTP) kita di Pertemuan ke-4 minggu depan!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KLASIFIKASI ANTENA #5 (DESAIN KLASIK TULANG IKAN)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Antena Yagi-Uda: Desain Tulang Ikan Jarak Menengah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Antena terarah legendaris penemu asal Jepang untuk daerah rural dan pedesaan.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ANATOMI FISIK ELEMEN YAGI-UDA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Boom (Batang Penyangga): </a:t>
            </a:r>
            <a:r>
              <a:rPr b="0">
                <a:solidFill>
                  <a:srgbClr val="0F172A"/>
                </a:solidFill>
              </a:rPr>
              <a:t>Pipa logam horizontal panjang tempat menempelnya seluruh elemen sirip antena.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Reflector (Sirip Belakang): </a:t>
            </a:r>
            <a:r>
              <a:rPr b="0">
                <a:solidFill>
                  <a:srgbClr val="0F172A"/>
                </a:solidFill>
              </a:rPr>
              <a:t>Elemen logam paling panjang di belakang yang bertugas memantulkan kembali gelombang ke arah depan.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Driven Element (Dipol Aktif): </a:t>
            </a:r>
            <a:r>
              <a:rPr b="0">
                <a:solidFill>
                  <a:srgbClr val="0F172A"/>
                </a:solidFill>
              </a:rPr>
              <a:t>Satu-satunya elemen yang tersambung ke kabel koaksial radio; berfungsi mengubah arus listrik menjadi gelombang elektromagnetik.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Directors (Sirip Pengarah Depan): </a:t>
            </a:r>
            <a:r>
              <a:rPr b="0">
                <a:solidFill>
                  <a:srgbClr val="0F172A"/>
                </a:solidFill>
              </a:rPr>
              <a:t>Serangkaian sirip logam yang berukuran makin pendek ke arah depan untuk menarik dan memfokuskan berkas gelombang.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KARAKTERISTIK &amp; PENGGUNAAN LAPANGAN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Sudut Pancaran Menengah: </a:t>
            </a:r>
            <a:r>
              <a:rPr b="0">
                <a:solidFill>
                  <a:srgbClr val="0F172A"/>
                </a:solidFill>
              </a:rPr>
              <a:t>Sudut berkas horizontal berada pada rentang sedang antara $25^\circ	ext{ hingga } 40^\circ$.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Gain Tipikal: </a:t>
            </a:r>
            <a:r>
              <a:rPr b="0">
                <a:solidFill>
                  <a:srgbClr val="0F172A"/>
                </a:solidFill>
              </a:rPr>
              <a:t>Berkisar antara 12 dBi hingga 18 dBi untuk jangkauan jarak menengah antara 1 km hingga 5 km.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Kelebihan Mekanis: </a:t>
            </a:r>
            <a:r>
              <a:rPr b="0">
                <a:solidFill>
                  <a:srgbClr val="0F172A"/>
                </a:solidFill>
              </a:rPr>
              <a:t>Sangat ringan, mudah dirakit sendiri dari bahan pipa aluminium lokal, dan memiliki hambatan angin yang relatif kecil.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Aplikasi Lapangan: </a:t>
            </a:r>
            <a:r>
              <a:rPr b="0">
                <a:solidFill>
                  <a:srgbClr val="0F172A"/>
                </a:solidFill>
              </a:rPr>
              <a:t>Banyak dipakai untuk penembak sinyal modem GSM 4G di area perkebunan/pedesaan dan link Wi-Fi antar-kantor desa.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FAKTA SEJARAH TEKNIK: </a:t>
            </a:r>
            <a:r>
              <a:rPr sz="1100" b="0">
                <a:solidFill>
                  <a:srgbClr val="0F172A"/>
                </a:solidFill>
                <a:latin typeface="Calibri"/>
              </a:rPr>
              <a:t>Ditemukan pada tahun 1926 oleh Shintaro Uda dan Hidetsugu Yagi di Universitas Tohoku Jepang, dan hingga kini tetap menjadi salah satu desain antena terarah paling efisien di dunia.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PERANGKAT KERAS ANTARMUKA 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Anatomi Konektor RF &amp; Redaman Kabel Pigtail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Penyambung fisik sinyal gelombang radio antara sirkuit radio pemancar dan antena.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3405530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KONEKTOR SMA &amp; RP-SMA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Bentuk Fisik: </a:t>
            </a:r>
            <a:r>
              <a:rPr b="0">
                <a:solidFill>
                  <a:srgbClr val="0F172A"/>
                </a:solidFill>
              </a:rPr>
              <a:t>Konektor berulir mini warna emas pada kartu Wi-Fi indoor atau router rumahan.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Mengapa RP-SMA?: </a:t>
            </a:r>
            <a:r>
              <a:rPr b="0">
                <a:solidFill>
                  <a:srgbClr val="0F172A"/>
                </a:solidFill>
              </a:rPr>
              <a:t>RP = Reverse Polarity. Pin jarum jantan dan betinanya ditukar posisinya.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Alasan Regulasi FCC: </a:t>
            </a:r>
            <a:r>
              <a:rPr b="0">
                <a:solidFill>
                  <a:srgbClr val="0F172A"/>
                </a:solidFill>
              </a:rPr>
              <a:t>Dibuat agar pengguna biasa tidak sembarangan memasang antena profesional penguat sinyal ilegal ke router rumahan.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3082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3082" y="1536192"/>
            <a:ext cx="340553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KONEKTOR N-TYPE OUTDOOR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386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Bentuk Fisik: </a:t>
            </a:r>
            <a:r>
              <a:rPr b="0">
                <a:solidFill>
                  <a:srgbClr val="0F172A"/>
                </a:solidFill>
              </a:rPr>
              <a:t>Konektor berulir tebal warna perak berdiameter besar (N-Male &amp; N-Female).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Standar Outdoor Tahan Cuaca: </a:t>
            </a:r>
            <a:r>
              <a:rPr b="0">
                <a:solidFill>
                  <a:srgbClr val="0F172A"/>
                </a:solidFill>
              </a:rPr>
              <a:t>Memiliki cincin karet silikon kedap air (waterproof) dan tahan getaran hembusan angin kencang di menara tower.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Frekuensi Tinggi: </a:t>
            </a:r>
            <a:r>
              <a:rPr b="0">
                <a:solidFill>
                  <a:srgbClr val="0F172A"/>
                </a:solidFill>
              </a:rPr>
              <a:t>Mampu meloloskan frekuensi hingga 11 GHz dengan redaman kontak sangat minim (&lt; 0.1 dB).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4644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4644" y="1536192"/>
            <a:ext cx="340553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REDAMAN KABEL PIGTAIL (LOSS)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948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Kabel Koaksial Membuang Daya!: </a:t>
            </a:r>
            <a:r>
              <a:rPr b="0">
                <a:solidFill>
                  <a:srgbClr val="0F172A"/>
                </a:solidFill>
              </a:rPr>
              <a:t>Kabel koaksial tipis RG-58 meredam sinyal hingga 1 dB per meter pada frekuensi 2.4 GHz!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Kabel Low-Loss LMR-400: </a:t>
            </a:r>
            <a:r>
              <a:rPr b="0">
                <a:solidFill>
                  <a:srgbClr val="0F172A"/>
                </a:solidFill>
              </a:rPr>
              <a:t>Kabel tebal berkualitas tinggi dengan redaman hanya ~0.2 dB per meter.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Aturan Emas Teknisi: </a:t>
            </a:r>
            <a:r>
              <a:rPr b="0">
                <a:solidFill>
                  <a:srgbClr val="0F172A"/>
                </a:solidFill>
              </a:rPr>
              <a:t>Letakkan kotak radio sedekat mungkin dengan antena menggunakan kabel jumper pigtail sependek mungkin (&lt; 1 meter)!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PERINGATAN WATERPROOFING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Setiap sambungan konektor N-Type di atas tower WAJIB dibalut isolasi karet bakar (Self-Amalgamating Rubber Tape) dan isolasi PVC untuk mencegah kelembaban air hujan masuk yang dapat merusak radio!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PARAMETER KUNCI LEMBAR SPESIFIKASI (DATASHEET)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Memahami Sudut Pancar (Beamwidth): Parameter HPBW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Bagaimana membaca grafik sebaran berkas dan memahami hukum trade-off gain vs sudut.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DEFINISI HPBW (HALF-POWER BEAMWIDTH)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Apa itu HPBW?: </a:t>
            </a:r>
            <a:r>
              <a:rPr b="0">
                <a:solidFill>
                  <a:srgbClr val="0F172A"/>
                </a:solidFill>
              </a:rPr>
              <a:t>Sudut bentang derajat di mana kekuatan daya sinyal radio turun separuhnya (-3 dB) dari titik puncak pancaran utamanya.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Area Efektif Sinyal: </a:t>
            </a:r>
            <a:r>
              <a:rPr b="0">
                <a:solidFill>
                  <a:srgbClr val="0F172A"/>
                </a:solidFill>
              </a:rPr>
              <a:t>Di dalam batas sudut HPBW inilah perangkat klien dapat menangkap transfer data internet dengan kecepatan optimal.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Dua Dimensi Berkas: </a:t>
            </a:r>
            <a:r>
              <a:rPr b="0">
                <a:solidFill>
                  <a:srgbClr val="0F172A"/>
                </a:solidFill>
              </a:rPr>
              <a:t>1) Horizontal Beamwidth (Azimuth / H-Plane): Lebar sebaran sinyal ke arah kiri dan kanan; 2) Vertical Beamwidth (Elevation / E-Plane): Lebar sebaran sinyal ke arah atas dan bawah.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HUKUM TRADE-OFF: GAIN VS LEBAR SUDUT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Hukum Fisika Mutlak: </a:t>
            </a:r>
            <a:r>
              <a:rPr b="0">
                <a:solidFill>
                  <a:srgbClr val="0F172A"/>
                </a:solidFill>
              </a:rPr>
              <a:t>MAKIN BESAR GAIN (dBi) SEBUAH ANTENA, MAKIN SEMPIT DAN TIPIS SUDUT BERKAS PANCARANNYA!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Perbandingan Nyata: </a:t>
            </a:r>
            <a:r>
              <a:rPr b="0">
                <a:solidFill>
                  <a:srgbClr val="0F172A"/>
                </a:solidFill>
              </a:rPr>
              <a:t>Antena Omni 5 dBi memiliki sudut horizontal $360^\circ$ (tidak butuh bidikan); Antena Grid 24 dBi memiliki sudut hanya $\sim 6^\circ$!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Konsekuensi Praktisi: </a:t>
            </a:r>
            <a:r>
              <a:rPr b="0">
                <a:solidFill>
                  <a:srgbClr val="0F172A"/>
                </a:solidFill>
              </a:rPr>
              <a:t>Memasang antena ber-gain tinggi menuntut akurasi bidikan arah (pointing) super presisi. Meleset $3^\circ$ saja di atas tiang menara, sinyal di seberang langsung lenyap total!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MANTRA NETWORK ENGINEER: </a:t>
            </a:r>
            <a:r>
              <a:rPr sz="1100" b="0">
                <a:solidFill>
                  <a:srgbClr val="0F172A"/>
                </a:solidFill>
                <a:latin typeface="Calibri"/>
              </a:rPr>
              <a:t>'Jangan tergiur membeli dBi paling besar jika peruntukannya salah!' Antena gain tinggi di lokasi yang salah justru menyebabkan banyak area tidak tercover sinyal.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SOLUSI MASALAH LAPANGAN (TROUBLESHOOTING MENARA)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Fenomena 'Dead Zone' di Bawah Menara &amp; Solusi Downtilt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Mengapa smartphone yang berada tepat di bawah menara BTS sinyalnya justru jelek atau hilang?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PENYEBAB FENOMENA DEAD ZONE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Sudut Vertikal Sectoral Sangat Tipis: </a:t>
            </a:r>
            <a:r>
              <a:rPr b="0">
                <a:solidFill>
                  <a:srgbClr val="0F172A"/>
                </a:solidFill>
              </a:rPr>
              <a:t>Antena sectoral di menara memiliki sudut vertikal yang sangat pipih (hanya $4^\circ	ext{ hingga } 8^\circ$).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Sinyal Melayang di Atas Kepala!: </a:t>
            </a:r>
            <a:r>
              <a:rPr b="0">
                <a:solidFill>
                  <a:srgbClr val="0F172A"/>
                </a:solidFill>
              </a:rPr>
              <a:t>Jika dipasang tegak lurus sempurna ($0^\circ$), berkas sinyal memancar lurus mendatar ke kejauhan, melayang jauh di atas atap rumah warga di bawah menara!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Area Buta (Dead Zone): </a:t>
            </a:r>
            <a:r>
              <a:rPr b="0">
                <a:solidFill>
                  <a:srgbClr val="0F172A"/>
                </a:solidFill>
              </a:rPr>
              <a:t>Pengguna di radius 50 - 200 meter di bawah menara berada di luar berkas utama dan mengalami kondisi sinyal drop atau tidak mendapat sinyal sama sekali.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SOLUSI ENGINEER: DOWNTILTING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Apa itu Downtilting?: </a:t>
            </a:r>
            <a:r>
              <a:rPr b="0">
                <a:solidFill>
                  <a:srgbClr val="0F172A"/>
                </a:solidFill>
              </a:rPr>
              <a:t>Teknik menundukkan sudut pancar antena sedikit ke arah bawah ($2^\circ	ext{ hingga } 8^\circ$) agar berkas utama menyentuh permukaan tanah di area sasaran pengguna.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1. Mechanical Downtilt: </a:t>
            </a:r>
            <a:r>
              <a:rPr b="0">
                <a:solidFill>
                  <a:srgbClr val="0F172A"/>
                </a:solidFill>
              </a:rPr>
              <a:t>Menundukkan posisi fisik braket besi antena menggunakan baut setelan pada pipa menara (paling umum dan murah).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2. Electrical Downtilt: </a:t>
            </a:r>
            <a:r>
              <a:rPr b="0">
                <a:solidFill>
                  <a:srgbClr val="0F172A"/>
                </a:solidFill>
              </a:rPr>
              <a:t>Mengatur beda pergeseran fasa (phase shift) arus listrik pada elemen internal antena tanpa mengubah fisik braket luar (standar BTS modern).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RUMUS CEPAT SUDUT DOWNTILT: </a:t>
            </a:r>
            <a:r>
              <a:rPr sz="1100" b="0">
                <a:solidFill>
                  <a:srgbClr val="0F172A"/>
                </a:solidFill>
                <a:latin typeface="Calibri"/>
              </a:rPr>
              <a:t>Sudut Downtilt $_x0007_pprox _x0007_rctan\left(_x000C_rac{Tinggi\ Menara\ (m)}{Jarak\ Target\ Klien\ (m)}_x000D_ight)$. Untuk menara 30 meter dengan target klien jarak 500 meter, sudut tunduk ideal adalah sekitar $\sim 3.4^\circ$.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KARAKTERISTIK FISIK GELOMBANG RADIO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Polarisasi Gelombang: Vertikal, Horizontal, &amp; Dual-Slant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Arah osilasi medan listrik gelombang radio dan bahaya kerugian Cross-Polarization.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DEFINISI POLARISASI GELOMBANG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Orientasi Medan Listrik (E-Field): </a:t>
            </a:r>
            <a:r>
              <a:rPr b="0">
                <a:solidFill>
                  <a:srgbClr val="0F172A"/>
                </a:solidFill>
              </a:rPr>
              <a:t>Polarisasi adalah arah getaran vektor medan listrik gelombang elektromagnetik terhadap permukaan bumi saat merambat di udara.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Polarisasi Vertikal (V-Pol): </a:t>
            </a:r>
            <a:r>
              <a:rPr b="0">
                <a:solidFill>
                  <a:srgbClr val="0F172A"/>
                </a:solidFill>
              </a:rPr>
              <a:t>Medan listrik berosilasi naik-turun tegak lurus terhadap tanah (standar antena omni batang).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Polarisasi Horizontal (H-Pol): </a:t>
            </a:r>
            <a:r>
              <a:rPr b="0">
                <a:solidFill>
                  <a:srgbClr val="0F172A"/>
                </a:solidFill>
              </a:rPr>
              <a:t>Medan listrik berosilasi mendatar sejajar dengan permukaan tanah.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Dual-Slant $\pm 45^\circ$: </a:t>
            </a:r>
            <a:r>
              <a:rPr b="0">
                <a:solidFill>
                  <a:srgbClr val="0F172A"/>
                </a:solidFill>
              </a:rPr>
              <a:t>Dua pemancar miring $45^\circ$ saling silang untuk teknologi MIMO (Multiple Input Multiple Output).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BENCANA CROSS-POLARIZATION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Syarat Mutlak Sambungan Nirkabel: </a:t>
            </a:r>
            <a:r>
              <a:rPr b="0">
                <a:solidFill>
                  <a:srgbClr val="0F172A"/>
                </a:solidFill>
              </a:rPr>
              <a:t>Antena pemancar (Tx) dan antena penerima (Rx) WAJIB MENGGUNAKAN POLARISASI YANG IDENTIK!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Apa yang Terjadi Jika Polarisasi Beda?: </a:t>
            </a:r>
            <a:r>
              <a:rPr b="0">
                <a:solidFill>
                  <a:srgbClr val="0F172A"/>
                </a:solidFill>
              </a:rPr>
              <a:t>Jika Stasiun A memancar secara Vertikal, namun Stasiun B memasang antena secara Horizontal, terjadi pelemahan sinyal drastis sebesar: 20 dB HINGGA 30 dB (CROSS-POLARIZATION LOSS)!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Dampak Riil: </a:t>
            </a:r>
            <a:r>
              <a:rPr b="0">
                <a:solidFill>
                  <a:srgbClr val="0F172A"/>
                </a:solidFill>
              </a:rPr>
              <a:t>Penurunan 30 dB artinya kekuatan sinyal anjlok menjadi 1/1.000 (seperseribu) dari seharusnya! Sambungan radio akan putus total.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MANFAAT POLARISASI BERBEDA UNTUK ISOLASI: </a:t>
            </a:r>
            <a:r>
              <a:rPr sz="1100" b="0">
                <a:solidFill>
                  <a:srgbClr val="0F172A"/>
                </a:solidFill>
                <a:latin typeface="Calibri"/>
              </a:rPr>
              <a:t>Engineer dapat memanfaatkan perbedaan polarisasi untuk menghindari interferensi: Dua link nirkabel yang melintasi jalur berdekatan dapat dipisahkan (satu Vertikal, satu Horizontal) agar tidak saling mengganggu!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KEPATUHAN REGULASI PEMERINTAH (SDPPI / KOMINFO)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Perhitungan Daya Legal: Konsep EIRP (Aturan Kominfo)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Membatasi kekuatan pancaran total agar tidak menimbulkan polusi frekuensi liar di udara publik.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FORMULA STANDAR EIRP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Kepanjangan EIRP: </a:t>
            </a:r>
            <a:r>
              <a:rPr b="0">
                <a:solidFill>
                  <a:srgbClr val="0F172A"/>
                </a:solidFill>
              </a:rPr>
              <a:t>Effective Isotropic Radiated Power (Daya Pancar Efektif terhadap Antena Isotropis).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Definisi Praktis: </a:t>
            </a:r>
            <a:r>
              <a:rPr b="0">
                <a:solidFill>
                  <a:srgbClr val="0F172A"/>
                </a:solidFill>
              </a:rPr>
              <a:t>Total daya kombinasi nyata yang benar-benar terpancar ke udara setelah memperhitungkan kekuatan radio, redaman kabel, dan penguatan fokus antena.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Rumus Link Budget Pemancar: </a:t>
            </a:r>
            <a:r>
              <a:rPr b="0">
                <a:solidFill>
                  <a:srgbClr val="0F172A"/>
                </a:solidFill>
              </a:rPr>
              <a:t>EIRP (dBm) = Daya Radio P_Tx (dBm) - Redaman Kabel (dB) + Gain Antena (dBi)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Aturan Penjumlahan Desibel: </a:t>
            </a:r>
            <a:r>
              <a:rPr b="0">
                <a:solidFill>
                  <a:srgbClr val="0F172A"/>
                </a:solidFill>
              </a:rPr>
              <a:t>Ingat: Nilai dBm ditambah dBi dan dikurangi dB menghasilkan satuan akhir dBm!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CONTOH KASUS PERHITUNGAN LAPANGAN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Data Perangkat Lapangan: </a:t>
            </a:r>
            <a:r>
              <a:rPr b="0">
                <a:solidFill>
                  <a:srgbClr val="0F172A"/>
                </a:solidFill>
              </a:rPr>
              <a:t>Radio outdoor diset daya: 20 dBm (100 mW); Kabel jumper pigtail loss: 1 dB; Antena Grid terpasang: 24 dBi.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Perhitungan EIRP: </a:t>
            </a:r>
            <a:r>
              <a:rPr b="0">
                <a:solidFill>
                  <a:srgbClr val="0F172A"/>
                </a:solidFill>
              </a:rPr>
              <a:t>EIRP = 20 dBm - 1 dB + 24 dBi = 43 dBm!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Berapa Watt Daya Nyata di Udara?: </a:t>
            </a:r>
            <a:r>
              <a:rPr b="0">
                <a:solidFill>
                  <a:srgbClr val="0F172A"/>
                </a:solidFill>
              </a:rPr>
              <a:t>43 dBm setara dengan daya pancar 20 WATT! Antena pasif berhasil melipatgandakan intensitas energi 200 KALI LIPAT dari daya asli radio 100 mW!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Batas Hukum Kominfo: </a:t>
            </a:r>
            <a:r>
              <a:rPr b="0">
                <a:solidFill>
                  <a:srgbClr val="0F172A"/>
                </a:solidFill>
              </a:rPr>
              <a:t>Regulasi SDPPI membatasi batas EIRP legal maksimal pada pita frekuensi 2.4 GHz dan 5.8 GHz untuk mencegah interferensi antar ISP.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HUKUMAN HUKUM OPERASIONAL: </a:t>
            </a:r>
            <a:r>
              <a:rPr sz="1100" b="0">
                <a:solidFill>
                  <a:srgbClr val="0F172A"/>
                </a:solidFill>
                <a:latin typeface="Calibri"/>
              </a:rPr>
              <a:t>Mengoperasikan pemancar radio nirkabel di atas batas legal EIRP tanpa izin resmi stasiun radio (ISR) dapat disita oleh Balai Monitor Spektrum Frekuensi Radio Kominfo.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PARAMETER ISOLASI ANTENA SEKTOR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Front-to-Back (F/B) Ratio: Mencegah Kebocoran Belakang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Mengapa antena directional tidak boleh membiarkan sinyalnya bocor ke arah belakang tiang menara.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DEFINISI &amp; DAMPAK SINYAL BOCOR KE BELAKANG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Apa itu Front-to-Back Ratio?: </a:t>
            </a:r>
            <a:r>
              <a:rPr b="0">
                <a:solidFill>
                  <a:srgbClr val="0F172A"/>
                </a:solidFill>
              </a:rPr>
              <a:t>Perbandingan (dalam desibel / dB) antara kekuatan sinyal yang ditembakkan ke arah depan utama dengan kekuatan sinyal yang bocor merembes ke arah belakang antena.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Kondisi Menara Tower Padat: </a:t>
            </a:r>
            <a:r>
              <a:rPr b="0">
                <a:solidFill>
                  <a:srgbClr val="0F172A"/>
                </a:solidFill>
              </a:rPr>
              <a:t>Di satu tiang menara BTS, terdapat 3 atau 4 antena sectoral yang dipasang saling memunggungi memutari tiang menara.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Bahaya 'Self-Interference': </a:t>
            </a:r>
            <a:r>
              <a:rPr b="0">
                <a:solidFill>
                  <a:srgbClr val="0F172A"/>
                </a:solidFill>
              </a:rPr>
              <a:t>Jika antena Sektor 1 memiliki F/B ratio jelek (misal hanya 10 dB), sinyal pancarannya akan menembus ke belakang dan langsung menabrak modul radio Sektor 2 dan 3 di tiang yang sama!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STANDAR KELAYAKAN INDUSTRI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Target Nilai F/B Ratio Ideal: </a:t>
            </a:r>
            <a:r>
              <a:rPr b="0">
                <a:solidFill>
                  <a:srgbClr val="0F172A"/>
                </a:solidFill>
              </a:rPr>
              <a:t>Antena profesional berkualitas tinggi wajib memiliki F/B ratio MINIMAL &gt; 25 dB HINGGA 30 dB.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Desain Shielding Pelindung: </a:t>
            </a:r>
            <a:r>
              <a:rPr b="0">
                <a:solidFill>
                  <a:srgbClr val="0F172A"/>
                </a:solidFill>
              </a:rPr>
              <a:t>Antena sectoral kelas carrier dilengkapi lempengan pelindung logam (RF Armor / Isoshield) di bagian belakang bodi untuk meredam kebocoran gelombang.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Manfaat di Lapangan: </a:t>
            </a:r>
            <a:r>
              <a:rPr b="0">
                <a:solidFill>
                  <a:srgbClr val="0F172A"/>
                </a:solidFill>
              </a:rPr>
              <a:t>Noise floor radio tetap bersih, throughput klien stabil, dan radio-radio di satu menara bisa beroperasi bersamaan tanpa saling mengganggu.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PANDUAN MEMBACA DATASHEET: </a:t>
            </a:r>
            <a:r>
              <a:rPr sz="1100" b="0">
                <a:solidFill>
                  <a:srgbClr val="0F172A"/>
                </a:solidFill>
                <a:latin typeface="Calibri"/>
              </a:rPr>
              <a:t>Saat memilih antena sectoral untuk BTS WISP, jangan hanya melihat angka Gain (dBi). Cek baris 'Front-to-Back Ratio'; jika di bawah 20 dB, HINDARI penggunaan untuk menara yang padat!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CHECKLIST DIAGNOSTIK TEKNISI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Checklist Metrik Kualitas Sinyal Nirkabel di Lapangan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Panduan evaluasi status kesehatan link radio wireless saat dipantau melalui aplikasi Winbox RouterOS.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36192"/>
          <a:ext cx="1072865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2103120"/>
                <a:gridCol w="2103120"/>
                <a:gridCol w="222473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Indikator Lapangan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Nilai Sangat Bagus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Nilai Layak / Standar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Nilai Buruk (Trouble)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Tindakan Teknisi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RSSI (Signal Strength)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-50 s/d -60 dBm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-65 s/d -72 dBm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-78 dBm (Drop)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Perbaiki arah bidikan pointing / cek kabel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Noise Floor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-98 s/d -105 dBm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-92 s/d -95 dBm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&gt; -88 dBm (Polusi RF)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Pindai spektrum &amp; geser ke kanal bersih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SNR (Signal-to-Noise)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&gt; 30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22 s/d 29 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18 dB (Lemot)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Tinggikan antena / gunakan antena ber-dBi lebih besar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CCQ (Connection Quality)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95% - 100%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85% - 94%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&lt; 70% (Banyak Retransmit)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Cek interferensi frekuensi atau halangan pohon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Tx/Rx CCQ Imbalance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Selisih &lt; 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Selisih 5% - 15%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Selisih &gt; 25% (Pincang)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Penyelarasan polarisasi atau halangan zona Fresnel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73659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Catatan Penting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Perhatian: Sinyal yang terlalu kuat (&gt; -45 dBm pada jarak dekat) dapat menyebabkan sirkuit receiver radio mengalami saturasi / distorsi (Overdrive)! Selalu targetkan RSSI antara -50 s/d -65 dBm.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PANDUAN PEMBELIAN &amp; PERANCANGAN JARINGAN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Matriks Panduan Pemilihan Antena Berdasarkan Kasus Nyata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Rujukan cepat bagi network engineer dalam menentukan jenis antena saat menyusun proposal anggaran.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36192"/>
          <a:ext cx="10728655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03120"/>
                <a:gridCol w="2103120"/>
                <a:gridCol w="1828800"/>
                <a:gridCol w="2499055"/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Skenario Penggunaan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Tipe Antena Terpilih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Pola Sebaran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Rentang Gain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Alasan Pemilihan</a:t>
                      </a:r>
                    </a:p>
                  </a:txBody>
                  <a:tcPr anchor="ctr">
                    <a:solidFill>
                      <a:srgbClr val="0C4A6E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Hotspot Ruang Kelas / Kafe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Omnidirectional (Stick)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360 Derajat Horizontal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3 - 7 dBi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Klien tersebar acak di sekitar meja tanpa perlu pointing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Base Station BTS WISP RT-RW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Sectoral (Bilah Tegak)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Kipas (60 - 120 Derajat)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15 - 21 dBi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Membagi area 360 menara jadi 3-4 sektor kapasitas tinggi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Klien Rumah Pelanggan (CPE)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Directional Patch Panel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Terarah (30 - 60 Derajat)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12 - 16 dBi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Kompak, rapi di atap rumah, fokus menembak ke arah tower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Backbone PTP Antar Gedung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Parabolic Grid / Dish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Pensil Sempit (4 - 9 Derajat)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24 - 30 dBi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Gain raksasa menembus jarak jauh, kisi lolos terpaan angin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Selasar / Lorong Gudang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Directional Flat Panel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Terarah Memanjang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10 - 14 dBi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Menyinari jalur lorong tanpa buang energi ke dinding beton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73659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Catatan Penting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Kombinasi paling umum di industri WISP: Base Station menggunakan Sectoral, pelanggan menggunakan Patch Panel (CPE), dan link antar-tower menggunakan Parabolic Grid.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KETERAMPILAN PRAKTISI LAPANGAN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Membaca Datasheet Vendor Komersial (MikroTik / Ubiquiti)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Memahami grafik pola radiasi polar horizontal (Azimuth) dan vertikal (Elevasi).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CARA MEMBACA GRAFIK RADIASI POLAR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Diagram Lingkaran Polar: </a:t>
            </a:r>
            <a:r>
              <a:rPr b="0">
                <a:solidFill>
                  <a:srgbClr val="0F172A"/>
                </a:solidFill>
              </a:rPr>
              <a:t>Grafik lingkaran $360^\circ$ dengan skala lingkaran konsentris desibel (0 dB di tepi luar, -10 dB, -20 dB, -30 dB ke arah pusat).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Main Lobe (Daun Pancaran Utama): </a:t>
            </a:r>
            <a:r>
              <a:rPr b="0">
                <a:solidFill>
                  <a:srgbClr val="0F172A"/>
                </a:solidFill>
              </a:rPr>
              <a:t>Kubah kurva terbesar yang menunjuk ke arah $0^\circ$ depan. Titik puncak ini adalah kekuatan gain maksimal antena.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Mencari Titik HPBW (-3 dB): </a:t>
            </a:r>
            <a:r>
              <a:rPr b="0">
                <a:solidFill>
                  <a:srgbClr val="0F172A"/>
                </a:solidFill>
              </a:rPr>
              <a:t>Tarik garis dari puncak kurva turun sejauh 3 dB ke sisi kiri dan kanan; sudut bentang derajat di antara kedua titik itulah nilai Beamwidth antena!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IDENTIFIKASI SIDE LOBE &amp; BACK LOBE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Side Lobes (Daun Samping): </a:t>
            </a:r>
            <a:r>
              <a:rPr b="0">
                <a:solidFill>
                  <a:srgbClr val="0F172A"/>
                </a:solidFill>
              </a:rPr>
              <a:t>Gelembung kurva kecil yang muncul di sisi kiri dan kanan berkas utama. Ini adalah energi bocoran yang tidak diinginkan.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Back Lobe (Daun Belakang): </a:t>
            </a:r>
            <a:r>
              <a:rPr b="0">
                <a:solidFill>
                  <a:srgbClr val="0F172A"/>
                </a:solidFill>
              </a:rPr>
              <a:t>Pancaran kecil ke arah $180^\circ$ belakang. Selisih antara puncak Main Lobe dan Back Lobe menunjukkan Front-to-Back Ratio.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Null (Titik Mati): </a:t>
            </a:r>
            <a:r>
              <a:rPr b="0">
                <a:solidFill>
                  <a:srgbClr val="0F172A"/>
                </a:solidFill>
              </a:rPr>
              <a:t>Lembah penurunan tajam di antara daun utama dan daun samping di mana sinyal drop drastis mendekati nol.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JEBAKAN POINTING YANG AKAN DIBAHAS MINGGU DEPAN: </a:t>
            </a:r>
            <a:r>
              <a:rPr sz="1100" b="0">
                <a:solidFill>
                  <a:srgbClr val="0F172A"/>
                </a:solidFill>
                <a:latin typeface="Calibri"/>
              </a:rPr>
              <a:t>Hati-hati! Saat melakukan pointing di tower, teknisi pemula sering mengira Side Lobe adalah berkas utama karena sinyalnya terdeteksi naik sedikit, padahal Main Lobe sejati belum tersentuh!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PENUTUP &amp; ORIENTASI PRAKTIK MENARA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Kesimpulan Pertemuan 3 &amp; Jembatan ke Pertemuan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Menuntaskan teori karakteristik antena dan bersiap melakukan instalasi riil link Point to 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XI • Pertemuan 3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0284C7"/>
                </a:solidFill>
                <a:latin typeface="Calibri"/>
              </a:defRPr>
            </a:pPr>
            <a:r>
              <a:t>Slide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C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SINTESIS PEMBELAJARAN PERTEMUAN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Pengarah Pasif: </a:t>
            </a:r>
            <a:r>
              <a:rPr b="0">
                <a:solidFill>
                  <a:srgbClr val="0F172A"/>
                </a:solidFill>
              </a:rPr>
              <a:t>Antena adalah pengarah energi (bukan penambah watt); Gain (dBi) mengukur seberapa tajam energi dipadatkan ke satu arah.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Hukum Trade-Off: </a:t>
            </a:r>
            <a:r>
              <a:rPr b="0">
                <a:solidFill>
                  <a:srgbClr val="0F172A"/>
                </a:solidFill>
              </a:rPr>
              <a:t>Gain makin besar = sudut pancar makin sempit dan tipis = butuh bidikan makin akurat.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Polarisasi Serasi: </a:t>
            </a:r>
            <a:r>
              <a:rPr b="0">
                <a:solidFill>
                  <a:srgbClr val="0F172A"/>
                </a:solidFill>
              </a:rPr>
              <a:t>Kedua stasiun radio wajib memiliki polarisasi yang sama (V atau H) untuk menghindari kerugian cross-polarization 30 dB.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Link Budget Sehat: </a:t>
            </a:r>
            <a:r>
              <a:rPr b="0">
                <a:solidFill>
                  <a:srgbClr val="0F172A"/>
                </a:solidFill>
              </a:rPr>
              <a:t>Selalu evaluasi parameter RSSI (-50 s/d -65 dBm), Noise Floor (&lt;-95 dBm), SNR (&gt;25 dB), dan CCQ (&gt;90%).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PENGANTAR MENUJU PERTEMUAN 4 (MINGGU XII)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Implementasi Lapangan Nyata: </a:t>
            </a:r>
            <a:r>
              <a:rPr b="0">
                <a:solidFill>
                  <a:srgbClr val="0F172A"/>
                </a:solidFill>
              </a:rPr>
              <a:t>Di Pertemuan 4 minggu depan, kita akan mempraktikkan seluruh ilmu ini ke dalam instalasi nyata: KONFIGURASI ANTENA GRID SECARA POINT TO POINT (PTP)!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Tantangan Lapangan: </a:t>
            </a:r>
            <a:r>
              <a:rPr b="0">
                <a:solidFill>
                  <a:srgbClr val="0F172A"/>
                </a:solidFill>
              </a:rPr>
              <a:t>Kita akan membedah perakitan reflektor kisi, orientasi feed horn, perhitungan clearance Zona Fresnel, konfigurasi RouterOS MikroTik (mode ap-bridge &amp; station-bridge).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Seni Pointing Sistematis: </a:t>
            </a:r>
            <a:r>
              <a:rPr b="0">
                <a:solidFill>
                  <a:srgbClr val="0F172A"/>
                </a:solidFill>
              </a:rPr>
              <a:t>Mempraktikkan teknik sweeping azimuth-elevasi bertahap dan trik menghindari 'Side Lobe Trap' di atas tiang rigging!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Calibri"/>
              </a:defRPr>
            </a:pPr>
            <a:r>
              <a:t>ARAHAN PRAKTIKUM MINGGU INI: </a:t>
            </a:r>
            <a:r>
              <a:rPr sz="1100" b="0">
                <a:solidFill>
                  <a:srgbClr val="0F172A"/>
                </a:solidFill>
                <a:latin typeface="Calibri"/>
              </a:rPr>
              <a:t>Buka modul Praktikum.md: Kita akan melakukan simulasi coverage mapping, membedah lembar datasheet antena komersial, serta merancang link budget kalkulasi outdoor menggunakan simulator airLink Ubiquiti.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