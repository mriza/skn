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137160" cy="34747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097280"/>
            <a:ext cx="10241280" cy="4754880"/>
          </a:xfrm>
          <a:prstGeom prst="rect">
            <a:avLst/>
          </a:prstGeom>
          <a:noFill/>
        </p:spPr>
        <p:txBody>
          <a:bodyPr wrap="square" lIns="0" tIns="0" rIns="0" bIns="0">
            <a:spAutoFit/>
          </a:bodyPr>
          <a:lstStyle/>
          <a:p>
            <a:pPr>
              <a:spcAft>
                <a:spcPts val="1400"/>
              </a:spcAft>
              <a:defRPr sz="1300" b="1">
                <a:solidFill>
                  <a:srgbClr val="2563EB"/>
                </a:solidFill>
                <a:latin typeface="Calibri"/>
              </a:defRPr>
            </a:pPr>
            <a:r>
              <a:t>TEKNOLOGI REKAYASA KOMPUTER (TRK) • SISTEM KOMUNIKASI NIRKABEL</a:t>
            </a:r>
          </a:p>
          <a:p>
            <a:pPr>
              <a:spcAft>
                <a:spcPts val="1600"/>
              </a:spcAft>
              <a:defRPr sz="3600" b="1">
                <a:solidFill>
                  <a:srgbClr val="FFFFFF"/>
                </a:solidFill>
                <a:latin typeface="Calibri"/>
              </a:defRPr>
            </a:pPr>
            <a:r>
              <a:t>Dasar Keamanan Nirkabel, Protokol Enkripsi, &amp; Autentikasi</a:t>
            </a:r>
          </a:p>
          <a:p>
            <a:pPr>
              <a:spcAft>
                <a:spcPts val="3200"/>
              </a:spcAft>
              <a:defRPr sz="1600">
                <a:solidFill>
                  <a:srgbClr val="94A3B8"/>
                </a:solidFill>
                <a:latin typeface="Calibri"/>
              </a:defRPr>
            </a:pPr>
            <a:r>
              <a:t>Pertemuan 1 (Minggu IX) | Alokasi Waktu: 210 Menit (3 x 70 Menit) (Terapan &amp; Praktis Network Engineer)</a:t>
            </a:r>
          </a:p>
          <a:p>
            <a:pPr>
              <a:defRPr sz="1500" b="1">
                <a:solidFill>
                  <a:srgbClr val="FFFFFF"/>
                </a:solidFill>
                <a:latin typeface="Calibri"/>
              </a:defRPr>
            </a:pPr>
            <a:r>
              <a:t>Dosen Pengampu: M. Riza Nurtam, M.Kom</a:t>
            </a:r>
          </a:p>
          <a:p>
            <a:pPr>
              <a:defRPr sz="1300">
                <a:solidFill>
                  <a:srgbClr val="CBD5E1"/>
                </a:solidFill>
                <a:latin typeface="Calibri"/>
              </a:defRPr>
            </a:pPr>
            <a:r>
              <a:t>Jurusan Rekayasa Pertanian dan Komputer - Politeknik Pertanian Negeri Pangkajene dan Kepulauan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PETA KURIKULUM &amp; ALOKASI WAKTU</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Rencana Perkuliahan Modul Keamanan Nirkabel (210 Menit)</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Alur pembelajaran komprehensif dari prinsip fisik propagasi hingga standar kriptografi mutakhir.</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2</a:t>
            </a:r>
          </a:p>
        </p:txBody>
      </p:sp>
      <p:sp>
        <p:nvSpPr>
          <p:cNvPr id="8" name="Rounded Rectangle 7"/>
          <p:cNvSpPr/>
          <p:nvPr/>
        </p:nvSpPr>
        <p:spPr>
          <a:xfrm>
            <a:off x="731520"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5204307"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SESI PERTAMA: PRINSIP FISIK &amp; BEDAH KEGAGALAN WEP</a:t>
            </a:r>
          </a:p>
        </p:txBody>
      </p:sp>
      <p:sp>
        <p:nvSpPr>
          <p:cNvPr id="10" name="TextBox 9"/>
          <p:cNvSpPr txBox="1"/>
          <p:nvPr/>
        </p:nvSpPr>
        <p:spPr>
          <a:xfrm>
            <a:off x="914400"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Sesi 1 (00:00 - 00:35): </a:t>
            </a:r>
            <a:r>
              <a:rPr b="0">
                <a:solidFill>
                  <a:srgbClr val="0F172A"/>
                </a:solidFill>
              </a:rPr>
              <a:t>Sifat Media Nirkabel &amp; Mode Interface: Perimeter fisik vs RF signal leakage, CIA triad, 5 mode kartu Wi-Fi (Managed, Master, Monitor, Ad-Hoc, Mesh), serta aktivitas pemetaan Wardriving.</a:t>
            </a:r>
          </a:p>
          <a:p>
            <a:pPr>
              <a:spcAft>
                <a:spcPts val="800"/>
              </a:spcAft>
              <a:defRPr sz="1150" b="1">
                <a:solidFill>
                  <a:srgbClr val="0F172A"/>
                </a:solidFill>
                <a:latin typeface="Calibri"/>
              </a:defRPr>
            </a:pPr>
            <a:r>
              <a:t>• Sesi 2 (00:35 - 01:25): </a:t>
            </a:r>
            <a:r>
              <a:rPr b="0">
                <a:solidFill>
                  <a:srgbClr val="0F172A"/>
                </a:solidFill>
              </a:rPr>
              <a:t>Bedah Kegagalan WEP &amp; Solusi TKIP: Stream cipher RC4, fungsi IV, matematika tabrakan IV (2^24), Birthday Paradox, kebocoran keystream, serta 3 lapis tambalan TKIP.</a:t>
            </a:r>
          </a:p>
          <a:p>
            <a:pPr>
              <a:spcAft>
                <a:spcPts val="800"/>
              </a:spcAft>
              <a:defRPr sz="1150" b="1">
                <a:solidFill>
                  <a:srgbClr val="0F172A"/>
                </a:solidFill>
                <a:latin typeface="Calibri"/>
              </a:defRPr>
            </a:pPr>
            <a:r>
              <a:t>• Sesi 3 (01:25 - 01:45): </a:t>
            </a:r>
            <a:r>
              <a:rPr b="0">
                <a:solidFill>
                  <a:srgbClr val="0F172A"/>
                </a:solidFill>
              </a:rPr>
              <a:t>Istirahat &amp; Kuis Interaktif Sesi 1: Evaluasi pemahaman fundamental media dan cipher.</a:t>
            </a:r>
          </a:p>
        </p:txBody>
      </p:sp>
      <p:sp>
        <p:nvSpPr>
          <p:cNvPr id="11" name="Rounded Rectangle 10"/>
          <p:cNvSpPr/>
          <p:nvPr/>
        </p:nvSpPr>
        <p:spPr>
          <a:xfrm>
            <a:off x="6255867"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5867" y="1536192"/>
            <a:ext cx="5204307"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SESI KEDUA: WPA2, 4-WAY HANDSHAKE, &amp; WPA3</a:t>
            </a:r>
          </a:p>
        </p:txBody>
      </p:sp>
      <p:sp>
        <p:nvSpPr>
          <p:cNvPr id="13" name="TextBox 12"/>
          <p:cNvSpPr txBox="1"/>
          <p:nvPr/>
        </p:nvSpPr>
        <p:spPr>
          <a:xfrm>
            <a:off x="6438747"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Sesi 4 (01:45 - 02:35): </a:t>
            </a:r>
            <a:r>
              <a:rPr b="0">
                <a:solidFill>
                  <a:srgbClr val="0F172A"/>
                </a:solidFill>
              </a:rPr>
              <a:t>WPA2, AES-CCMP, &amp; 4-Way Handshake: Block cipher 128-bit vs RC4, derivasi PMK (PBKDF2 &amp; Salt SSID), bedah 4 frame EAPoL, dan 4 sub-kunci PTK (KCK, KEK, TK, MIC).</a:t>
            </a:r>
          </a:p>
          <a:p>
            <a:pPr>
              <a:spcAft>
                <a:spcPts val="800"/>
              </a:spcAft>
              <a:defRPr sz="1150" b="1">
                <a:solidFill>
                  <a:srgbClr val="0F172A"/>
                </a:solidFill>
                <a:latin typeface="Calibri"/>
              </a:defRPr>
            </a:pPr>
            <a:r>
              <a:t>• Sesi 5 (02:35 - 03:10): </a:t>
            </a:r>
            <a:r>
              <a:rPr b="0">
                <a:solidFill>
                  <a:srgbClr val="0F172A"/>
                </a:solidFill>
              </a:rPr>
              <a:t>Standar Baru WPA3-SAE &amp; Membongkar Mitos: Dragonfly handshake, Zero-Knowledge Proof, Forward Secrecy, serta membedah mitos Hide SSID &amp; MAC Filtering.</a:t>
            </a:r>
          </a:p>
          <a:p>
            <a:pPr>
              <a:spcAft>
                <a:spcPts val="800"/>
              </a:spcAft>
              <a:defRPr sz="1150" b="1">
                <a:solidFill>
                  <a:srgbClr val="0F172A"/>
                </a:solidFill>
                <a:latin typeface="Calibri"/>
              </a:defRPr>
            </a:pPr>
            <a:r>
              <a:t>• Sesi 6 (03:10 - 03:30): </a:t>
            </a:r>
            <a:r>
              <a:rPr b="0">
                <a:solidFill>
                  <a:srgbClr val="0F172A"/>
                </a:solidFill>
              </a:rPr>
              <a:t>Rangkuman 4 Generasi &amp; Arahan Praktikum: Matriks perbandingan WEP, TKIP, WPA2, WPA3 dan panduan lab Wireshark.</a:t>
            </a:r>
          </a:p>
        </p:txBody>
      </p:sp>
      <p:sp>
        <p:nvSpPr>
          <p:cNvPr id="14" name="Rounded Rectangle 13"/>
          <p:cNvSpPr/>
          <p:nvPr/>
        </p:nvSpPr>
        <p:spPr>
          <a:xfrm>
            <a:off x="731520" y="5559552"/>
            <a:ext cx="10728655" cy="68580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32704"/>
            <a:ext cx="10454335" cy="539496"/>
          </a:xfrm>
          <a:prstGeom prst="rect">
            <a:avLst/>
          </a:prstGeom>
          <a:noFill/>
        </p:spPr>
        <p:txBody>
          <a:bodyPr wrap="square" lIns="0" tIns="0" rIns="0" bIns="0">
            <a:spAutoFit/>
          </a:bodyPr>
          <a:lstStyle/>
          <a:p>
            <a:pPr>
              <a:defRPr sz="1100" b="1">
                <a:solidFill>
                  <a:srgbClr val="2563EB"/>
                </a:solidFill>
                <a:latin typeface="Calibri"/>
              </a:defRPr>
            </a:pPr>
            <a:r>
              <a:t>TARGET KOMPETENSI MAHASISWA TRK: </a:t>
            </a:r>
            <a:r>
              <a:rPr sz="1100" b="0">
                <a:solidFill>
                  <a:srgbClr val="0F172A"/>
                </a:solidFill>
                <a:latin typeface="Calibri"/>
              </a:rPr>
              <a:t>Mampu menganalisis kerentanan kriptografis nirkabel hingga tingkat frame, memahami alasan matematis di balik penggantian protokol, dan menerapkan konfigurasi pengamanan jaringan nirkabel standar industri.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FONDASI KEAMANAN JARINGAN</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Karakteristik Media: Kabel (Guided) vs Nirkabel (Unguided)</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Memahami perbedaan perimeter keamanan antara media transmisi berpemandu dan udara bebas.</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3</a:t>
            </a:r>
          </a:p>
        </p:txBody>
      </p:sp>
      <p:sp>
        <p:nvSpPr>
          <p:cNvPr id="8" name="Rounded Rectangle 7"/>
          <p:cNvSpPr/>
          <p:nvPr/>
        </p:nvSpPr>
        <p:spPr>
          <a:xfrm>
            <a:off x="731520"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5204307"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PERIMETER FISIK JARINGAN KABEL (IEEE 802.3)</a:t>
            </a:r>
          </a:p>
        </p:txBody>
      </p:sp>
      <p:sp>
        <p:nvSpPr>
          <p:cNvPr id="10" name="TextBox 9"/>
          <p:cNvSpPr txBox="1"/>
          <p:nvPr/>
        </p:nvSpPr>
        <p:spPr>
          <a:xfrm>
            <a:off x="914400"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Media Terpandu (Guided Media): </a:t>
            </a:r>
            <a:r>
              <a:rPr b="0">
                <a:solidFill>
                  <a:srgbClr val="0F172A"/>
                </a:solidFill>
              </a:rPr>
              <a:t>Sinyal listrik atau cahaya terkungkung secara fisik di dalam inti tembaga (kabel UTP) atau serat kaca (fiber optik).</a:t>
            </a:r>
          </a:p>
          <a:p>
            <a:pPr>
              <a:spcAft>
                <a:spcPts val="800"/>
              </a:spcAft>
              <a:defRPr sz="1150" b="1">
                <a:solidFill>
                  <a:srgbClr val="0F172A"/>
                </a:solidFill>
                <a:latin typeface="Calibri"/>
              </a:defRPr>
            </a:pPr>
            <a:r>
              <a:t>• Batas Akses Jelas: </a:t>
            </a:r>
            <a:r>
              <a:rPr b="0">
                <a:solidFill>
                  <a:srgbClr val="0F172A"/>
                </a:solidFill>
              </a:rPr>
              <a:t>Penyerang wajib memiliki akses fisik langsung ke dalam ruangan gedung, mencolokkan kabel ke port switch, atau memotong fisik kabel jaringan.</a:t>
            </a:r>
          </a:p>
          <a:p>
            <a:pPr>
              <a:spcAft>
                <a:spcPts val="800"/>
              </a:spcAft>
              <a:defRPr sz="1150" b="1">
                <a:solidFill>
                  <a:srgbClr val="0F172A"/>
                </a:solidFill>
                <a:latin typeface="Calibri"/>
              </a:defRPr>
            </a:pPr>
            <a:r>
              <a:t>• Isolasi Sinyal Alami: </a:t>
            </a:r>
            <a:r>
              <a:rPr b="0">
                <a:solidFill>
                  <a:srgbClr val="0F172A"/>
                </a:solidFill>
              </a:rPr>
              <a:t>Gelombang transmisi tidak memancar keluar dinding ruangan, memudahkan pengaturan otentikasi berbasis port fisik (Port Security switch).</a:t>
            </a:r>
          </a:p>
        </p:txBody>
      </p:sp>
      <p:sp>
        <p:nvSpPr>
          <p:cNvPr id="11" name="Rounded Rectangle 10"/>
          <p:cNvSpPr/>
          <p:nvPr/>
        </p:nvSpPr>
        <p:spPr>
          <a:xfrm>
            <a:off x="6255867"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5867" y="1536192"/>
            <a:ext cx="5204307"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PERIMETER ELEKTROMAGNETIK NIRKABEL (IEEE 802.11)</a:t>
            </a:r>
          </a:p>
        </p:txBody>
      </p:sp>
      <p:sp>
        <p:nvSpPr>
          <p:cNvPr id="13" name="TextBox 12"/>
          <p:cNvSpPr txBox="1"/>
          <p:nvPr/>
        </p:nvSpPr>
        <p:spPr>
          <a:xfrm>
            <a:off x="6438747"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Media Tak Terpandu (Unguided Broadcast): </a:t>
            </a:r>
            <a:r>
              <a:rPr b="0">
                <a:solidFill>
                  <a:srgbClr val="0F172A"/>
                </a:solidFill>
              </a:rPr>
              <a:t>Sinyal radio frekuensi (RF) merambat bebas ke segala penjuru melalui udara, menembus dinding tembok beton, kaca, dan batas kepemilikan tanah.</a:t>
            </a:r>
          </a:p>
          <a:p>
            <a:pPr>
              <a:spcAft>
                <a:spcPts val="800"/>
              </a:spcAft>
              <a:defRPr sz="1150" b="1">
                <a:solidFill>
                  <a:srgbClr val="0F172A"/>
                </a:solidFill>
                <a:latin typeface="Calibri"/>
              </a:defRPr>
            </a:pPr>
            <a:r>
              <a:t>• Kebocoran Sinyal (RF Signal Leakage): </a:t>
            </a:r>
            <a:r>
              <a:rPr b="0">
                <a:solidFill>
                  <a:srgbClr val="0F172A"/>
                </a:solidFill>
              </a:rPr>
              <a:t>Access Point di lantai 2 kampus memancarkan sinyal yang dapat ditangkap dari jarak ratusan meter di area parkir jalan raya luar pagar kampus.</a:t>
            </a:r>
          </a:p>
          <a:p>
            <a:pPr>
              <a:spcAft>
                <a:spcPts val="800"/>
              </a:spcAft>
              <a:defRPr sz="1150" b="1">
                <a:solidFill>
                  <a:srgbClr val="0F172A"/>
                </a:solidFill>
                <a:latin typeface="Calibri"/>
              </a:defRPr>
            </a:pPr>
            <a:r>
              <a:t>• Ketiadaan Batas Fisik: </a:t>
            </a:r>
            <a:r>
              <a:rPr b="0">
                <a:solidFill>
                  <a:srgbClr val="0F172A"/>
                </a:solidFill>
              </a:rPr>
              <a:t>Penyerang tidak perlu menyusup ke dalam gedung; cukup duduk di dalam mobil di luar pagar kampus untuk menyadap seluruh lalu lintas data!</a:t>
            </a:r>
          </a:p>
        </p:txBody>
      </p:sp>
      <p:sp>
        <p:nvSpPr>
          <p:cNvPr id="14" name="Rounded Rectangle 13"/>
          <p:cNvSpPr/>
          <p:nvPr/>
        </p:nvSpPr>
        <p:spPr>
          <a:xfrm>
            <a:off x="731520" y="5559552"/>
            <a:ext cx="10728655" cy="68580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32704"/>
            <a:ext cx="10454335" cy="539496"/>
          </a:xfrm>
          <a:prstGeom prst="rect">
            <a:avLst/>
          </a:prstGeom>
          <a:noFill/>
        </p:spPr>
        <p:txBody>
          <a:bodyPr wrap="square" lIns="0" tIns="0" rIns="0" bIns="0">
            <a:spAutoFit/>
          </a:bodyPr>
          <a:lstStyle/>
          <a:p>
            <a:pPr>
              <a:defRPr sz="1100" b="1">
                <a:solidFill>
                  <a:srgbClr val="DC2626"/>
                </a:solidFill>
                <a:latin typeface="Calibri"/>
              </a:defRPr>
            </a:pPr>
            <a:r>
              <a:t>IMPLIKASI CIA TRIAD PADA WLAN: </a:t>
            </a:r>
            <a:r>
              <a:rPr sz="1100" b="0">
                <a:solidFill>
                  <a:srgbClr val="0F172A"/>
                </a:solidFill>
                <a:latin typeface="Calibri"/>
              </a:rPr>
              <a:t>Confidentiality (Kerahasiaan) terancam penyadapan pasif; Integrity (Keutuhan) terancam injeksi frame palsu; Availability (Ketersediaan) rentan serangan Jamming gelombang radio.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ARSITEKTUR KARTU NIRKABEL (WIRELESS NIC)</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Bedah Istilah: 5 Mode Operasi Antarmuka Kartu Wi-Fi</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Chipset radio kartu nirkabel dapat diatur perilakunya menggunakan driver sistem operasi.</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4</a:t>
            </a:r>
          </a:p>
        </p:txBody>
      </p:sp>
      <p:sp>
        <p:nvSpPr>
          <p:cNvPr id="8" name="Rounded Rectangle 7"/>
          <p:cNvSpPr/>
          <p:nvPr/>
        </p:nvSpPr>
        <p:spPr>
          <a:xfrm>
            <a:off x="731520" y="1536192"/>
            <a:ext cx="3405530"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3405530"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  MANAGED &amp; MASTER MODE</a:t>
            </a:r>
          </a:p>
        </p:txBody>
      </p:sp>
      <p:sp>
        <p:nvSpPr>
          <p:cNvPr id="10" name="TextBox 9"/>
          <p:cNvSpPr txBox="1"/>
          <p:nvPr/>
        </p:nvSpPr>
        <p:spPr>
          <a:xfrm>
            <a:off x="877824" y="2130552"/>
            <a:ext cx="3112922" cy="3200400"/>
          </a:xfrm>
          <a:prstGeom prst="rect">
            <a:avLst/>
          </a:prstGeom>
          <a:noFill/>
        </p:spPr>
        <p:txBody>
          <a:bodyPr wrap="square" lIns="0" tIns="0" rIns="0" bIns="0">
            <a:spAutoFit/>
          </a:bodyPr>
          <a:lstStyle/>
          <a:p>
            <a:pPr>
              <a:spcAft>
                <a:spcPts val="600"/>
              </a:spcAft>
              <a:defRPr sz="1100" b="1">
                <a:solidFill>
                  <a:srgbClr val="0F172A"/>
                </a:solidFill>
                <a:latin typeface="Calibri"/>
              </a:defRPr>
            </a:pPr>
            <a:r>
              <a:t>• Managed Mode (Station / Client): </a:t>
            </a:r>
            <a:r>
              <a:rPr b="0">
                <a:solidFill>
                  <a:srgbClr val="0F172A"/>
                </a:solidFill>
              </a:rPr>
              <a:t>Mode bawaan perangkat laptop dan smartphone. Kartu hanya berkomunikasi dengan satu Access Point (BSSID) yang telah terhubung dan otomatis membuang paket milik pengguna lain.</a:t>
            </a:r>
          </a:p>
          <a:p>
            <a:pPr>
              <a:spcAft>
                <a:spcPts val="600"/>
              </a:spcAft>
              <a:defRPr sz="1100" b="1">
                <a:solidFill>
                  <a:srgbClr val="0F172A"/>
                </a:solidFill>
                <a:latin typeface="Calibri"/>
              </a:defRPr>
            </a:pPr>
            <a:r>
              <a:t>• Master Mode (Access Point / AP): </a:t>
            </a:r>
            <a:r>
              <a:rPr b="0">
                <a:solidFill>
                  <a:srgbClr val="0F172A"/>
                </a:solidFill>
              </a:rPr>
              <a:t>Kartu bertindak sebagai pemancar pusat (Access Point). Memancarkan Beacon secara periodik, menerima asosiasi klien, dan merutekan data antar perangkat.</a:t>
            </a:r>
          </a:p>
        </p:txBody>
      </p:sp>
      <p:sp>
        <p:nvSpPr>
          <p:cNvPr id="11" name="Rounded Rectangle 10"/>
          <p:cNvSpPr/>
          <p:nvPr/>
        </p:nvSpPr>
        <p:spPr>
          <a:xfrm>
            <a:off x="4393082" y="1536192"/>
            <a:ext cx="3405530"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3082" y="1536192"/>
            <a:ext cx="3405530" cy="5029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  MONITOR MODE (PROMISCUOUS RF)</a:t>
            </a:r>
          </a:p>
        </p:txBody>
      </p:sp>
      <p:sp>
        <p:nvSpPr>
          <p:cNvPr id="13" name="TextBox 12"/>
          <p:cNvSpPr txBox="1"/>
          <p:nvPr/>
        </p:nvSpPr>
        <p:spPr>
          <a:xfrm>
            <a:off x="4539386" y="2130552"/>
            <a:ext cx="3112922" cy="3200400"/>
          </a:xfrm>
          <a:prstGeom prst="rect">
            <a:avLst/>
          </a:prstGeom>
          <a:noFill/>
        </p:spPr>
        <p:txBody>
          <a:bodyPr wrap="square" lIns="0" tIns="0" rIns="0" bIns="0">
            <a:spAutoFit/>
          </a:bodyPr>
          <a:lstStyle/>
          <a:p>
            <a:pPr>
              <a:spcAft>
                <a:spcPts val="600"/>
              </a:spcAft>
              <a:defRPr sz="1100" b="1">
                <a:solidFill>
                  <a:srgbClr val="0F172A"/>
                </a:solidFill>
                <a:latin typeface="Calibri"/>
              </a:defRPr>
            </a:pPr>
            <a:r>
              <a:t>• Definisi Monitor Mode: </a:t>
            </a:r>
            <a:r>
              <a:rPr b="0">
                <a:solidFill>
                  <a:srgbClr val="0F172A"/>
                </a:solidFill>
              </a:rPr>
              <a:t>Mode khusus di mana kartu melepas asosiasi dari AP manapun dan mendengarkan seluruh gelombang radio di kanal frekuensi terpilih secara pasif.</a:t>
            </a:r>
          </a:p>
          <a:p>
            <a:pPr>
              <a:spcAft>
                <a:spcPts val="600"/>
              </a:spcAft>
              <a:defRPr sz="1100" b="1">
                <a:solidFill>
                  <a:srgbClr val="0F172A"/>
                </a:solidFill>
                <a:latin typeface="Calibri"/>
              </a:defRPr>
            </a:pPr>
            <a:r>
              <a:t>• Fungsi Auditor &amp; Penyerang: </a:t>
            </a:r>
            <a:r>
              <a:rPr b="0">
                <a:solidFill>
                  <a:srgbClr val="0F172A"/>
                </a:solidFill>
              </a:rPr>
              <a:t>Menangkap SEMUA frame 802.11 di udara tanpa diketahui AP: frame Beacon, Data, Probe, hingga paket otentikasi handshake.</a:t>
            </a:r>
          </a:p>
          <a:p>
            <a:pPr>
              <a:spcAft>
                <a:spcPts val="600"/>
              </a:spcAft>
              <a:defRPr sz="1100" b="1">
                <a:solidFill>
                  <a:srgbClr val="0F172A"/>
                </a:solidFill>
                <a:latin typeface="Calibri"/>
              </a:defRPr>
            </a:pPr>
            <a:r>
              <a:t>• Tool Lapangan: </a:t>
            </a:r>
            <a:r>
              <a:rPr b="0">
                <a:solidFill>
                  <a:srgbClr val="0F172A"/>
                </a:solidFill>
              </a:rPr>
              <a:t>Wajib diaktifkan saat menggunakan airodump-ng, Kismet, atau Wireshark.</a:t>
            </a:r>
          </a:p>
        </p:txBody>
      </p:sp>
      <p:sp>
        <p:nvSpPr>
          <p:cNvPr id="14" name="Rounded Rectangle 13"/>
          <p:cNvSpPr/>
          <p:nvPr/>
        </p:nvSpPr>
        <p:spPr>
          <a:xfrm>
            <a:off x="8054644" y="1536192"/>
            <a:ext cx="3405530"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54644" y="1536192"/>
            <a:ext cx="3405530"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  AD-HOC &amp; MESH MODE</a:t>
            </a:r>
          </a:p>
        </p:txBody>
      </p:sp>
      <p:sp>
        <p:nvSpPr>
          <p:cNvPr id="16" name="TextBox 15"/>
          <p:cNvSpPr txBox="1"/>
          <p:nvPr/>
        </p:nvSpPr>
        <p:spPr>
          <a:xfrm>
            <a:off x="8200948" y="2130552"/>
            <a:ext cx="3112922" cy="3200400"/>
          </a:xfrm>
          <a:prstGeom prst="rect">
            <a:avLst/>
          </a:prstGeom>
          <a:noFill/>
        </p:spPr>
        <p:txBody>
          <a:bodyPr wrap="square" lIns="0" tIns="0" rIns="0" bIns="0">
            <a:spAutoFit/>
          </a:bodyPr>
          <a:lstStyle/>
          <a:p>
            <a:pPr>
              <a:spcAft>
                <a:spcPts val="600"/>
              </a:spcAft>
              <a:defRPr sz="1100" b="1">
                <a:solidFill>
                  <a:srgbClr val="0F172A"/>
                </a:solidFill>
                <a:latin typeface="Calibri"/>
              </a:defRPr>
            </a:pPr>
            <a:r>
              <a:t>• Ad-Hoc Mode (IBSS): </a:t>
            </a:r>
            <a:r>
              <a:rPr b="0">
                <a:solidFill>
                  <a:srgbClr val="0F172A"/>
                </a:solidFill>
              </a:rPr>
              <a:t>Komunikasi nirkabel langsung secara peer-to-peer antar perangkat komputer tanpa perantara Access Point pusat.</a:t>
            </a:r>
          </a:p>
          <a:p>
            <a:pPr>
              <a:spcAft>
                <a:spcPts val="600"/>
              </a:spcAft>
              <a:defRPr sz="1100" b="1">
                <a:solidFill>
                  <a:srgbClr val="0F172A"/>
                </a:solidFill>
                <a:latin typeface="Calibri"/>
              </a:defRPr>
            </a:pPr>
            <a:r>
              <a:t>• Mesh Mode (IEEE 802.11s): </a:t>
            </a:r>
            <a:r>
              <a:rPr b="0">
                <a:solidFill>
                  <a:srgbClr val="0F172A"/>
                </a:solidFill>
              </a:rPr>
              <a:t>Kartu berpartisipasi dalam topologi jala terdistribusi, di mana setiap node dapat merutekan dan meneruskan paket ke node tetangga (multi-hop) secara dinamis.</a:t>
            </a:r>
          </a:p>
        </p:txBody>
      </p:sp>
      <p:sp>
        <p:nvSpPr>
          <p:cNvPr id="17" name="Rounded Rectangle 16"/>
          <p:cNvSpPr/>
          <p:nvPr/>
        </p:nvSpPr>
        <p:spPr>
          <a:xfrm>
            <a:off x="731520" y="5559552"/>
            <a:ext cx="10728655" cy="68580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632704"/>
            <a:ext cx="10454335" cy="539496"/>
          </a:xfrm>
          <a:prstGeom prst="rect">
            <a:avLst/>
          </a:prstGeom>
          <a:noFill/>
        </p:spPr>
        <p:txBody>
          <a:bodyPr wrap="square" lIns="0" tIns="0" rIns="0" bIns="0">
            <a:spAutoFit/>
          </a:bodyPr>
          <a:lstStyle/>
          <a:p>
            <a:pPr>
              <a:defRPr sz="1100" b="1">
                <a:solidFill>
                  <a:srgbClr val="D97706"/>
                </a:solidFill>
                <a:latin typeface="Calibri"/>
              </a:defRPr>
            </a:pPr>
            <a:r>
              <a:t>CATATAN PENTING TEKNISI TRK: </a:t>
            </a:r>
            <a:r>
              <a:rPr sz="1100" b="0">
                <a:solidFill>
                  <a:srgbClr val="0F172A"/>
                </a:solidFill>
                <a:latin typeface="Calibri"/>
              </a:rPr>
              <a:t>Kartu Wi-Fi bawaan laptop umumnya terkunci oleh driver pada mode Managed. Auditor nirkabel wajib menggunakan kartu Wi-Fi USB eksternal (chipset Atheros AR9271 / Ralink RT3070) yang mendukung Monitor Mode &amp; Packet Injection.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PENGINTAIAN LAPANGAN (RECONNAISSANCE)</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Bedah Istilah: Fenomena Wardriving &amp; Pemetaan Sinyal</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Bagaimana penyerang mengidentifikasi target access point rentan dari atas kendaraan bergerak.</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5</a:t>
            </a:r>
          </a:p>
        </p:txBody>
      </p:sp>
      <p:sp>
        <p:nvSpPr>
          <p:cNvPr id="8" name="Rounded Rectangle 7"/>
          <p:cNvSpPr/>
          <p:nvPr/>
        </p:nvSpPr>
        <p:spPr>
          <a:xfrm>
            <a:off x="731520"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5204307"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KONSEP &amp; PERALATAN WARDRIVING</a:t>
            </a:r>
          </a:p>
        </p:txBody>
      </p:sp>
      <p:sp>
        <p:nvSpPr>
          <p:cNvPr id="10" name="TextBox 9"/>
          <p:cNvSpPr txBox="1"/>
          <p:nvPr/>
        </p:nvSpPr>
        <p:spPr>
          <a:xfrm>
            <a:off x="914400"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Apa itu Wardriving?: </a:t>
            </a:r>
            <a:r>
              <a:rPr b="0">
                <a:solidFill>
                  <a:srgbClr val="0F172A"/>
                </a:solidFill>
              </a:rPr>
              <a:t>Aktivitas berkendara (mobil, motor, atau jalan kaki) sambil memindai, mencatat, dan memetakan koordinat geografis jaringan nirkabel di sepanjang jalan.</a:t>
            </a:r>
          </a:p>
          <a:p>
            <a:pPr>
              <a:spcAft>
                <a:spcPts val="800"/>
              </a:spcAft>
              <a:defRPr sz="1150" b="1">
                <a:solidFill>
                  <a:srgbClr val="0F172A"/>
                </a:solidFill>
                <a:latin typeface="Calibri"/>
              </a:defRPr>
            </a:pPr>
            <a:r>
              <a:t>• Laptop / Single Board Computer: </a:t>
            </a:r>
            <a:r>
              <a:rPr b="0">
                <a:solidFill>
                  <a:srgbClr val="0F172A"/>
                </a:solidFill>
              </a:rPr>
              <a:t>Menggunakan Kali Linux yang menjalankan software Kismet atau aplikasi Android WiGLE WiFi Wardriving.</a:t>
            </a:r>
          </a:p>
          <a:p>
            <a:pPr>
              <a:spcAft>
                <a:spcPts val="800"/>
              </a:spcAft>
              <a:defRPr sz="1150" b="1">
                <a:solidFill>
                  <a:srgbClr val="0F172A"/>
                </a:solidFill>
                <a:latin typeface="Calibri"/>
              </a:defRPr>
            </a:pPr>
            <a:r>
              <a:t>• Antena High-Gain Eksternal: </a:t>
            </a:r>
            <a:r>
              <a:rPr b="0">
                <a:solidFill>
                  <a:srgbClr val="0F172A"/>
                </a:solidFill>
              </a:rPr>
              <a:t>Antena omnidirectional 9-12 dBi magnetik di atap mobil untuk menangkap sinyal bocoran hingga jarak 200 meter.</a:t>
            </a:r>
          </a:p>
          <a:p>
            <a:pPr>
              <a:spcAft>
                <a:spcPts val="800"/>
              </a:spcAft>
              <a:defRPr sz="1150" b="1">
                <a:solidFill>
                  <a:srgbClr val="0F172A"/>
                </a:solidFill>
                <a:latin typeface="Calibri"/>
              </a:defRPr>
            </a:pPr>
            <a:r>
              <a:t>• GPS Receiver USB Dongle: </a:t>
            </a:r>
            <a:r>
              <a:rPr b="0">
                <a:solidFill>
                  <a:srgbClr val="0F172A"/>
                </a:solidFill>
              </a:rPr>
              <a:t>Merekam koordinat garis lintang dan bujur (Latitude/Longitude) setiap kali mendeteksi sinyal Beacon AP baru.</a:t>
            </a:r>
          </a:p>
        </p:txBody>
      </p:sp>
      <p:sp>
        <p:nvSpPr>
          <p:cNvPr id="11" name="Rounded Rectangle 10"/>
          <p:cNvSpPr/>
          <p:nvPr/>
        </p:nvSpPr>
        <p:spPr>
          <a:xfrm>
            <a:off x="6255867"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5867" y="1536192"/>
            <a:ext cx="5204307"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DATABASE PUBLIK WiGLE.NET &amp; DAMPAK KEAMANAN</a:t>
            </a:r>
          </a:p>
        </p:txBody>
      </p:sp>
      <p:sp>
        <p:nvSpPr>
          <p:cNvPr id="13" name="TextBox 12"/>
          <p:cNvSpPr txBox="1"/>
          <p:nvPr/>
        </p:nvSpPr>
        <p:spPr>
          <a:xfrm>
            <a:off x="6438747"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WiGLE (Wireless Geographic Logging Engine): </a:t>
            </a:r>
            <a:r>
              <a:rPr b="0">
                <a:solidFill>
                  <a:srgbClr val="0F172A"/>
                </a:solidFill>
              </a:rPr>
              <a:t>Database global publik berbasis cloud yang menampung ratusan juta data koordinat Access Point dari para pelaku wardriving di seluruh dunia.</a:t>
            </a:r>
          </a:p>
          <a:p>
            <a:pPr>
              <a:spcAft>
                <a:spcPts val="800"/>
              </a:spcAft>
              <a:defRPr sz="1150" b="1">
                <a:solidFill>
                  <a:srgbClr val="0F172A"/>
                </a:solidFill>
                <a:latin typeface="Calibri"/>
              </a:defRPr>
            </a:pPr>
            <a:r>
              <a:t>• Peta Kerentanan Terbuka: </a:t>
            </a:r>
            <a:r>
              <a:rPr b="0">
                <a:solidFill>
                  <a:srgbClr val="0F172A"/>
                </a:solidFill>
              </a:rPr>
              <a:t>Siapapun dapat membuka situs wigle.net, memperbesar peta kota kampus/kantor, dan melihat daftar SSID, tipe enkripsi (Open, WEP, WPA2, WPA3), MAC address AP, dan nama vendor router.</a:t>
            </a:r>
          </a:p>
          <a:p>
            <a:pPr>
              <a:spcAft>
                <a:spcPts val="800"/>
              </a:spcAft>
              <a:defRPr sz="1150" b="1">
                <a:solidFill>
                  <a:srgbClr val="0F172A"/>
                </a:solidFill>
                <a:latin typeface="Calibri"/>
              </a:defRPr>
            </a:pPr>
            <a:r>
              <a:t>• Pelajaran Bagi Network Admin: </a:t>
            </a:r>
            <a:r>
              <a:rPr b="0">
                <a:solidFill>
                  <a:srgbClr val="0F172A"/>
                </a:solidFill>
              </a:rPr>
              <a:t>Admin tidak bisa menyembunyikan lokasi fisik AP; jika AP kampus masih menggunakan enkripsi usang (WEP/Open), posisi rentannya terpampang di internet!</a:t>
            </a:r>
          </a:p>
        </p:txBody>
      </p:sp>
      <p:sp>
        <p:nvSpPr>
          <p:cNvPr id="14" name="Rounded Rectangle 13"/>
          <p:cNvSpPr/>
          <p:nvPr/>
        </p:nvSpPr>
        <p:spPr>
          <a:xfrm>
            <a:off x="731520" y="5559552"/>
            <a:ext cx="10728655" cy="685800"/>
          </a:xfrm>
          <a:prstGeom prst="roundRect">
            <a:avLst/>
          </a:prstGeom>
          <a:solidFill>
            <a:srgbClr val="F1F5F9"/>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32704"/>
            <a:ext cx="10454335" cy="539496"/>
          </a:xfrm>
          <a:prstGeom prst="rect">
            <a:avLst/>
          </a:prstGeom>
          <a:noFill/>
        </p:spPr>
        <p:txBody>
          <a:bodyPr wrap="square" lIns="0" tIns="0" rIns="0" bIns="0">
            <a:spAutoFit/>
          </a:bodyPr>
          <a:lstStyle/>
          <a:p>
            <a:pPr>
              <a:defRPr sz="1100" b="1">
                <a:solidFill>
                  <a:srgbClr val="1E293B"/>
                </a:solidFill>
                <a:latin typeface="Calibri"/>
              </a:defRPr>
            </a:pPr>
            <a:r>
              <a:t>ASPEK LEGALITAS &amp; ETIKA: </a:t>
            </a:r>
            <a:r>
              <a:rPr sz="1100" b="0">
                <a:solidFill>
                  <a:srgbClr val="0F172A"/>
                </a:solidFill>
                <a:latin typeface="Calibri"/>
              </a:rPr>
              <a:t>Mendengarkan siaran Beacon di udara bersifat pasif dan legal di banyak yurisdiksi, namun mencoba masuk tanpa hak (unauthorized access) atau memecahkan enkripsi merupakan tindak pidana pelanggaran UU ITE di Indonesia.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STRUKTUR PROTOKOL DATA LINK</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Anatomi Frame IEEE 802.11: Tiga Kategori Utama</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Memahami mengapa sebagian lalu lintas nirkabel tidak pernah dienkripsi oleh standar Wi-Fi konvensional.</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6</a:t>
            </a:r>
          </a:p>
        </p:txBody>
      </p:sp>
      <p:sp>
        <p:nvSpPr>
          <p:cNvPr id="8" name="Rounded Rectangle 7"/>
          <p:cNvSpPr/>
          <p:nvPr/>
        </p:nvSpPr>
        <p:spPr>
          <a:xfrm>
            <a:off x="731520" y="1536192"/>
            <a:ext cx="3405530"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3405530"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  MANAGEMENT FRAMES</a:t>
            </a:r>
          </a:p>
        </p:txBody>
      </p:sp>
      <p:sp>
        <p:nvSpPr>
          <p:cNvPr id="10" name="TextBox 9"/>
          <p:cNvSpPr txBox="1"/>
          <p:nvPr/>
        </p:nvSpPr>
        <p:spPr>
          <a:xfrm>
            <a:off x="877824" y="2130552"/>
            <a:ext cx="3112922" cy="3200400"/>
          </a:xfrm>
          <a:prstGeom prst="rect">
            <a:avLst/>
          </a:prstGeom>
          <a:noFill/>
        </p:spPr>
        <p:txBody>
          <a:bodyPr wrap="square" lIns="0" tIns="0" rIns="0" bIns="0">
            <a:spAutoFit/>
          </a:bodyPr>
          <a:lstStyle/>
          <a:p>
            <a:pPr>
              <a:spcAft>
                <a:spcPts val="600"/>
              </a:spcAft>
              <a:defRPr sz="1100" b="1">
                <a:solidFill>
                  <a:srgbClr val="0F172A"/>
                </a:solidFill>
                <a:latin typeface="Calibri"/>
              </a:defRPr>
            </a:pPr>
            <a:r>
              <a:t>• Fungsi Utama: </a:t>
            </a:r>
            <a:r>
              <a:rPr b="0">
                <a:solidFill>
                  <a:srgbClr val="0F172A"/>
                </a:solidFill>
              </a:rPr>
              <a:t>Membangun dan memelihara koneksi nirkabel antara AP dan Station.</a:t>
            </a:r>
          </a:p>
          <a:p>
            <a:pPr>
              <a:spcAft>
                <a:spcPts val="600"/>
              </a:spcAft>
              <a:defRPr sz="1100" b="1">
                <a:solidFill>
                  <a:srgbClr val="0F172A"/>
                </a:solidFill>
                <a:latin typeface="Calibri"/>
              </a:defRPr>
            </a:pPr>
            <a:r>
              <a:t>• Sub-Tipe Kritis: </a:t>
            </a:r>
            <a:r>
              <a:rPr b="0">
                <a:solidFill>
                  <a:srgbClr val="0F172A"/>
                </a:solidFill>
              </a:rPr>
              <a:t>1) Beacon (siaran periodik eksistensi SSID), 2) Probe Request/Response (pencarian jaringan), 3) Association Request/Response, 4) Deauthentication (pemutusan paksa).</a:t>
            </a:r>
          </a:p>
          <a:p>
            <a:pPr>
              <a:spcAft>
                <a:spcPts val="600"/>
              </a:spcAft>
              <a:defRPr sz="1100" b="1">
                <a:solidFill>
                  <a:srgbClr val="0F172A"/>
                </a:solidFill>
                <a:latin typeface="Calibri"/>
              </a:defRPr>
            </a:pPr>
            <a:r>
              <a:t>• Celah Struktural: </a:t>
            </a:r>
            <a:r>
              <a:rPr b="0">
                <a:solidFill>
                  <a:srgbClr val="0F172A"/>
                </a:solidFill>
              </a:rPr>
              <a:t>Pada WPA/WPA2 standar, seluruh frame ini dikirimkan dalam format PLAINTEXT tanpa enkripsi maupun otentikasi!</a:t>
            </a:r>
          </a:p>
        </p:txBody>
      </p:sp>
      <p:sp>
        <p:nvSpPr>
          <p:cNvPr id="11" name="Rounded Rectangle 10"/>
          <p:cNvSpPr/>
          <p:nvPr/>
        </p:nvSpPr>
        <p:spPr>
          <a:xfrm>
            <a:off x="4393082" y="1536192"/>
            <a:ext cx="3405530"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3082" y="1536192"/>
            <a:ext cx="3405530"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  CONTROL FRAMES</a:t>
            </a:r>
          </a:p>
        </p:txBody>
      </p:sp>
      <p:sp>
        <p:nvSpPr>
          <p:cNvPr id="13" name="TextBox 12"/>
          <p:cNvSpPr txBox="1"/>
          <p:nvPr/>
        </p:nvSpPr>
        <p:spPr>
          <a:xfrm>
            <a:off x="4539386" y="2130552"/>
            <a:ext cx="3112922" cy="3200400"/>
          </a:xfrm>
          <a:prstGeom prst="rect">
            <a:avLst/>
          </a:prstGeom>
          <a:noFill/>
        </p:spPr>
        <p:txBody>
          <a:bodyPr wrap="square" lIns="0" tIns="0" rIns="0" bIns="0">
            <a:spAutoFit/>
          </a:bodyPr>
          <a:lstStyle/>
          <a:p>
            <a:pPr>
              <a:spcAft>
                <a:spcPts val="600"/>
              </a:spcAft>
              <a:defRPr sz="1100" b="1">
                <a:solidFill>
                  <a:srgbClr val="0F172A"/>
                </a:solidFill>
                <a:latin typeface="Calibri"/>
              </a:defRPr>
            </a:pPr>
            <a:r>
              <a:t>• Fungsi Utama: </a:t>
            </a:r>
            <a:r>
              <a:rPr b="0">
                <a:solidFill>
                  <a:srgbClr val="0F172A"/>
                </a:solidFill>
              </a:rPr>
              <a:t>Membantu pertukaran data, mengontrol akses media, dan mengonfirmasi penerimaan paket.</a:t>
            </a:r>
          </a:p>
          <a:p>
            <a:pPr>
              <a:spcAft>
                <a:spcPts val="600"/>
              </a:spcAft>
              <a:defRPr sz="1100" b="1">
                <a:solidFill>
                  <a:srgbClr val="0F172A"/>
                </a:solidFill>
                <a:latin typeface="Calibri"/>
              </a:defRPr>
            </a:pPr>
            <a:r>
              <a:t>• Sub-Tipe Kritis: </a:t>
            </a:r>
            <a:r>
              <a:rPr b="0">
                <a:solidFill>
                  <a:srgbClr val="0F172A"/>
                </a:solidFill>
              </a:rPr>
              <a:t>1) RTS (Request to Send), 2) CTS (Clear to Send), 3) ACK (Acknowledgment tanda paket sampai dengan selamat).</a:t>
            </a:r>
          </a:p>
          <a:p>
            <a:pPr>
              <a:spcAft>
                <a:spcPts val="600"/>
              </a:spcAft>
              <a:defRPr sz="1100" b="1">
                <a:solidFill>
                  <a:srgbClr val="0F172A"/>
                </a:solidFill>
                <a:latin typeface="Calibri"/>
              </a:defRPr>
            </a:pPr>
            <a:r>
              <a:t>• Karakteristik: </a:t>
            </a:r>
            <a:r>
              <a:rPr b="0">
                <a:solidFill>
                  <a:srgbClr val="0F172A"/>
                </a:solidFill>
              </a:rPr>
              <a:t>Ukuran sangat kecil (tanpa payload data) dan tidak pernah dienkripsi karena dibutuhkan kartu jaringan di layer fisik.</a:t>
            </a:r>
          </a:p>
        </p:txBody>
      </p:sp>
      <p:sp>
        <p:nvSpPr>
          <p:cNvPr id="14" name="Rounded Rectangle 13"/>
          <p:cNvSpPr/>
          <p:nvPr/>
        </p:nvSpPr>
        <p:spPr>
          <a:xfrm>
            <a:off x="8054644" y="1536192"/>
            <a:ext cx="3405530"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54644" y="1536192"/>
            <a:ext cx="3405530" cy="5029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  DATA FRAMES</a:t>
            </a:r>
          </a:p>
        </p:txBody>
      </p:sp>
      <p:sp>
        <p:nvSpPr>
          <p:cNvPr id="16" name="TextBox 15"/>
          <p:cNvSpPr txBox="1"/>
          <p:nvPr/>
        </p:nvSpPr>
        <p:spPr>
          <a:xfrm>
            <a:off x="8200948" y="2130552"/>
            <a:ext cx="3112922" cy="3200400"/>
          </a:xfrm>
          <a:prstGeom prst="rect">
            <a:avLst/>
          </a:prstGeom>
          <a:noFill/>
        </p:spPr>
        <p:txBody>
          <a:bodyPr wrap="square" lIns="0" tIns="0" rIns="0" bIns="0">
            <a:spAutoFit/>
          </a:bodyPr>
          <a:lstStyle/>
          <a:p>
            <a:pPr>
              <a:spcAft>
                <a:spcPts val="600"/>
              </a:spcAft>
              <a:defRPr sz="1100" b="1">
                <a:solidFill>
                  <a:srgbClr val="0F172A"/>
                </a:solidFill>
                <a:latin typeface="Calibri"/>
              </a:defRPr>
            </a:pPr>
            <a:r>
              <a:t>• Fungsi Utama: </a:t>
            </a:r>
            <a:r>
              <a:rPr b="0">
                <a:solidFill>
                  <a:srgbClr val="0F172A"/>
                </a:solidFill>
              </a:rPr>
              <a:t>Membawa muatan informasi aktual pengguna (payload IP, TCP, UDP, browsing web, transfer file, VoIP).</a:t>
            </a:r>
          </a:p>
          <a:p>
            <a:pPr>
              <a:spcAft>
                <a:spcPts val="600"/>
              </a:spcAft>
              <a:defRPr sz="1100" b="1">
                <a:solidFill>
                  <a:srgbClr val="0F172A"/>
                </a:solidFill>
                <a:latin typeface="Calibri"/>
              </a:defRPr>
            </a:pPr>
            <a:r>
              <a:t>• Sub-Tipe Kritis: </a:t>
            </a:r>
            <a:r>
              <a:rPr b="0">
                <a:solidFill>
                  <a:srgbClr val="0F172A"/>
                </a:solidFill>
              </a:rPr>
              <a:t>Data frame reguler, QoS Data, dan Null Data frames.</a:t>
            </a:r>
          </a:p>
          <a:p>
            <a:pPr>
              <a:spcAft>
                <a:spcPts val="600"/>
              </a:spcAft>
              <a:defRPr sz="1100" b="1">
                <a:solidFill>
                  <a:srgbClr val="0F172A"/>
                </a:solidFill>
                <a:latin typeface="Calibri"/>
              </a:defRPr>
            </a:pPr>
            <a:r>
              <a:t>• Titik Enkripsi: </a:t>
            </a:r>
            <a:r>
              <a:rPr b="0">
                <a:solidFill>
                  <a:srgbClr val="0F172A"/>
                </a:solidFill>
              </a:rPr>
              <a:t>Hanya isi payload pada Data Frame inilah yang dienkripsi oleh protokol keamanan (WEP, WPA, WPA2-AES, WPA3). Header MAC tetap terbuka!</a:t>
            </a:r>
          </a:p>
        </p:txBody>
      </p:sp>
      <p:sp>
        <p:nvSpPr>
          <p:cNvPr id="17" name="Rounded Rectangle 16"/>
          <p:cNvSpPr/>
          <p:nvPr/>
        </p:nvSpPr>
        <p:spPr>
          <a:xfrm>
            <a:off x="731520" y="5559552"/>
            <a:ext cx="10728655" cy="68580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632704"/>
            <a:ext cx="10454335" cy="539496"/>
          </a:xfrm>
          <a:prstGeom prst="rect">
            <a:avLst/>
          </a:prstGeom>
          <a:noFill/>
        </p:spPr>
        <p:txBody>
          <a:bodyPr wrap="square" lIns="0" tIns="0" rIns="0" bIns="0">
            <a:spAutoFit/>
          </a:bodyPr>
          <a:lstStyle/>
          <a:p>
            <a:pPr>
              <a:defRPr sz="1100" b="1">
                <a:solidFill>
                  <a:srgbClr val="DC2626"/>
                </a:solidFill>
                <a:latin typeface="Calibri"/>
              </a:defRPr>
            </a:pPr>
            <a:r>
              <a:t>FAKTA FUNDAMENTAL ENGINEER: </a:t>
            </a:r>
            <a:r>
              <a:rPr sz="1100" b="0">
                <a:solidFill>
                  <a:srgbClr val="0F172A"/>
                </a:solidFill>
                <a:latin typeface="Calibri"/>
              </a:rPr>
              <a:t>Header 802.11 (Source MAC, Destination MAC, BSSID) SELALU terbuka (plaintext) agar switch dan access point dapat meneruskan paket. Inilah celah yang dieksploitasi untuk serangan Deauth dan Spoofing!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PROTOKOL GENERASI 1 (TAHUN 1997/1999)</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Protokol WEP: Fondasi Stream Cipher RC4 &amp; Fungsi IV</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Maksud awal perancang protokol: Memberikan kerahasiaan setara jaringan kabel (Wired Equivalent Privacy).</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7</a:t>
            </a:r>
          </a:p>
        </p:txBody>
      </p:sp>
      <p:sp>
        <p:nvSpPr>
          <p:cNvPr id="8" name="Rounded Rectangle 7"/>
          <p:cNvSpPr/>
          <p:nvPr/>
        </p:nvSpPr>
        <p:spPr>
          <a:xfrm>
            <a:off x="731520"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5204307"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MEKANISME STREAM CIPHER RC4</a:t>
            </a:r>
          </a:p>
        </p:txBody>
      </p:sp>
      <p:sp>
        <p:nvSpPr>
          <p:cNvPr id="10" name="TextBox 9"/>
          <p:cNvSpPr txBox="1"/>
          <p:nvPr/>
        </p:nvSpPr>
        <p:spPr>
          <a:xfrm>
            <a:off x="914400"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Apa itu Stream Cipher?: </a:t>
            </a:r>
            <a:r>
              <a:rPr b="0">
                <a:solidFill>
                  <a:srgbClr val="0F172A"/>
                </a:solidFill>
              </a:rPr>
              <a:t>Algoritma kriptografi yang menghasilkan deretan bit acak-semu tak hingga yang disebut Keystream (K).</a:t>
            </a:r>
          </a:p>
          <a:p>
            <a:pPr>
              <a:spcAft>
                <a:spcPts val="800"/>
              </a:spcAft>
              <a:defRPr sz="1150" b="1">
                <a:solidFill>
                  <a:srgbClr val="0F172A"/>
                </a:solidFill>
                <a:latin typeface="Calibri"/>
              </a:defRPr>
            </a:pPr>
            <a:r>
              <a:t>• Operasi Logika XOR: </a:t>
            </a:r>
            <a:r>
              <a:rPr b="0">
                <a:solidFill>
                  <a:srgbClr val="0F172A"/>
                </a:solidFill>
              </a:rPr>
              <a:t>Teks asli (Plaintext / P) di-XOR bit-demi-bit dengan Keystream (K) untuk menghasilkan teks tersandi (Ciphertext / C): C = P ⊕ K.</a:t>
            </a:r>
          </a:p>
          <a:p>
            <a:pPr>
              <a:spcAft>
                <a:spcPts val="800"/>
              </a:spcAft>
              <a:defRPr sz="1150" b="1">
                <a:solidFill>
                  <a:srgbClr val="0F172A"/>
                </a:solidFill>
                <a:latin typeface="Calibri"/>
              </a:defRPr>
            </a:pPr>
            <a:r>
              <a:t>• Kelemahan Kunci Statis: </a:t>
            </a:r>
            <a:r>
              <a:rPr b="0">
                <a:solidFill>
                  <a:srgbClr val="0F172A"/>
                </a:solidFill>
              </a:rPr>
              <a:t>Jika kunci rahasia statis digunakan berulang kali tanpa variasi, Keystream yang keluar akan selalu persis sama di setiap paket!</a:t>
            </a:r>
          </a:p>
        </p:txBody>
      </p:sp>
      <p:sp>
        <p:nvSpPr>
          <p:cNvPr id="11" name="Rounded Rectangle 10"/>
          <p:cNvSpPr/>
          <p:nvPr/>
        </p:nvSpPr>
        <p:spPr>
          <a:xfrm>
            <a:off x="6255867"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5867" y="1536192"/>
            <a:ext cx="5204307"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FUNGSI INITIALIZATION VECTOR (IV)</a:t>
            </a:r>
          </a:p>
        </p:txBody>
      </p:sp>
      <p:sp>
        <p:nvSpPr>
          <p:cNvPr id="13" name="TextBox 12"/>
          <p:cNvSpPr txBox="1"/>
          <p:nvPr/>
        </p:nvSpPr>
        <p:spPr>
          <a:xfrm>
            <a:off x="6438747"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Definisi IV: </a:t>
            </a:r>
            <a:r>
              <a:rPr b="0">
                <a:solidFill>
                  <a:srgbClr val="0F172A"/>
                </a:solidFill>
              </a:rPr>
              <a:t>Initialization Vector (IV) adalah bilangan acak yang ditambahkan di depan Shared Secret Key sebelum diumpankan ke RC4: Seed = IV || Shared Key.</a:t>
            </a:r>
          </a:p>
          <a:p>
            <a:pPr>
              <a:spcAft>
                <a:spcPts val="800"/>
              </a:spcAft>
              <a:defRPr sz="1150" b="1">
                <a:solidFill>
                  <a:srgbClr val="0F172A"/>
                </a:solidFill>
                <a:latin typeface="Calibri"/>
              </a:defRPr>
            </a:pPr>
            <a:r>
              <a:t>• Tujuan IV: </a:t>
            </a:r>
            <a:r>
              <a:rPr b="0">
                <a:solidFill>
                  <a:srgbClr val="0F172A"/>
                </a:solidFill>
              </a:rPr>
              <a:t>Mencegah Keystream berulang. Setiap paket data idealnya memiliki nilai IV yang berbeda sehingga keystream-nya bervariasi.</a:t>
            </a:r>
          </a:p>
          <a:p>
            <a:pPr>
              <a:spcAft>
                <a:spcPts val="800"/>
              </a:spcAft>
              <a:defRPr sz="1150" b="1">
                <a:solidFill>
                  <a:srgbClr val="0F172A"/>
                </a:solidFill>
                <a:latin typeface="Calibri"/>
              </a:defRPr>
            </a:pPr>
            <a:r>
              <a:t>• Format Frame WEP: </a:t>
            </a:r>
            <a:r>
              <a:rPr b="0">
                <a:solidFill>
                  <a:srgbClr val="0F172A"/>
                </a:solidFill>
              </a:rPr>
              <a:t>[Header 802.11 Plaintext] + [IV 24-bit Plaintext!] + [Payload RC4 Encrypted] + [ICV Checksum CRC32].</a:t>
            </a:r>
          </a:p>
        </p:txBody>
      </p:sp>
      <p:sp>
        <p:nvSpPr>
          <p:cNvPr id="14" name="Rounded Rectangle 13"/>
          <p:cNvSpPr/>
          <p:nvPr/>
        </p:nvSpPr>
        <p:spPr>
          <a:xfrm>
            <a:off x="731520" y="5559552"/>
            <a:ext cx="10728655" cy="68580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32704"/>
            <a:ext cx="10454335" cy="539496"/>
          </a:xfrm>
          <a:prstGeom prst="rect">
            <a:avLst/>
          </a:prstGeom>
          <a:noFill/>
        </p:spPr>
        <p:txBody>
          <a:bodyPr wrap="square" lIns="0" tIns="0" rIns="0" bIns="0">
            <a:spAutoFit/>
          </a:bodyPr>
          <a:lstStyle/>
          <a:p>
            <a:pPr>
              <a:defRPr sz="1100" b="1">
                <a:solidFill>
                  <a:srgbClr val="D97706"/>
                </a:solidFill>
                <a:latin typeface="Calibri"/>
              </a:defRPr>
            </a:pPr>
            <a:r>
              <a:t>PETAKA PERANCANGAN WEP: </a:t>
            </a:r>
            <a:r>
              <a:rPr sz="1100" b="0">
                <a:solidFill>
                  <a:srgbClr val="0F172A"/>
                </a:solidFill>
                <a:latin typeface="Calibri"/>
              </a:rPr>
              <a:t>Perancang protokol WEP melakukan kesalahan fatal: Nilai IV dikirimkan secara terbuka (PLAINTEXT) di depan payload, dan ukuran ruang IV yang dialokasikan sangat teramat kecil (hanya 24-bit)!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ANALISIS KERENTANAN MATEMATIS</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Bencana Ruang IV 24-Bit: Mengapa WEP Pasti Hancur?</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Eksplorasi matematika probabilitas di balik kehabisan ruang gerak IV pada jaringan aktif.</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8</a:t>
            </a:r>
          </a:p>
        </p:txBody>
      </p:sp>
      <p:sp>
        <p:nvSpPr>
          <p:cNvPr id="8" name="Rounded Rectangle 7"/>
          <p:cNvSpPr/>
          <p:nvPr/>
        </p:nvSpPr>
        <p:spPr>
          <a:xfrm>
            <a:off x="731520"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5204307"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PERHITUNGAN KAPASITAS RUANG IV 24-BIT</a:t>
            </a:r>
          </a:p>
        </p:txBody>
      </p:sp>
      <p:sp>
        <p:nvSpPr>
          <p:cNvPr id="10" name="TextBox 9"/>
          <p:cNvSpPr txBox="1"/>
          <p:nvPr/>
        </p:nvSpPr>
        <p:spPr>
          <a:xfrm>
            <a:off x="914400"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Total Kemungkinan IV: </a:t>
            </a:r>
            <a:r>
              <a:rPr b="0">
                <a:solidFill>
                  <a:srgbClr val="0F172A"/>
                </a:solidFill>
              </a:rPr>
              <a:t>2^24 = 16.777.216 kemungkinan kombinasi (sekitar 16,7 juta nilai unik).</a:t>
            </a:r>
          </a:p>
          <a:p>
            <a:pPr>
              <a:spcAft>
                <a:spcPts val="800"/>
              </a:spcAft>
              <a:defRPr sz="1150" b="1">
                <a:solidFill>
                  <a:srgbClr val="0F172A"/>
                </a:solidFill>
                <a:latin typeface="Calibri"/>
              </a:defRPr>
            </a:pPr>
            <a:r>
              <a:t>• Kondisi Jaringan Kampus/Kantor: </a:t>
            </a:r>
            <a:r>
              <a:rPr b="0">
                <a:solidFill>
                  <a:srgbClr val="0F172A"/>
                </a:solidFill>
              </a:rPr>
              <a:t>Sebuah Access Point yang melayani 30 mahasiswa aktif mentransfer rata-rata 1.000 paket data per detik.</a:t>
            </a:r>
          </a:p>
          <a:p>
            <a:pPr>
              <a:spcAft>
                <a:spcPts val="800"/>
              </a:spcAft>
              <a:defRPr sz="1150" b="1">
                <a:solidFill>
                  <a:srgbClr val="0F172A"/>
                </a:solidFill>
                <a:latin typeface="Calibri"/>
              </a:defRPr>
            </a:pPr>
            <a:r>
              <a:t>• Waktu Habisnya Ruang IV: </a:t>
            </a:r>
            <a:r>
              <a:rPr b="0">
                <a:solidFill>
                  <a:srgbClr val="0F172A"/>
                </a:solidFill>
              </a:rPr>
              <a:t>1.000 paket/detik x 3.600 detik = 3,6 juta paket per jam. Seluruh 16,7 juta IV habis terpakai dalam waktu kurang dari 4,6 JAM!</a:t>
            </a:r>
          </a:p>
          <a:p>
            <a:pPr>
              <a:spcAft>
                <a:spcPts val="800"/>
              </a:spcAft>
              <a:defRPr sz="1150" b="1">
                <a:solidFill>
                  <a:srgbClr val="0F172A"/>
                </a:solidFill>
                <a:latin typeface="Calibri"/>
              </a:defRPr>
            </a:pPr>
            <a:r>
              <a:t>• Pasti Terjadi Tabrakan (IV Collision): </a:t>
            </a:r>
            <a:r>
              <a:rPr b="0">
                <a:solidFill>
                  <a:srgbClr val="0F172A"/>
                </a:solidFill>
              </a:rPr>
              <a:t>Setelah 4,6 jam, router terpaksa menggunakan kembali nilai IV yang pernah digunakan sebelumnya.</a:t>
            </a:r>
          </a:p>
        </p:txBody>
      </p:sp>
      <p:sp>
        <p:nvSpPr>
          <p:cNvPr id="11" name="Rounded Rectangle 10"/>
          <p:cNvSpPr/>
          <p:nvPr/>
        </p:nvSpPr>
        <p:spPr>
          <a:xfrm>
            <a:off x="6255867"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5867" y="1536192"/>
            <a:ext cx="5204307"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TEORI PROBABILITAS BIRTHDAY PARADOX</a:t>
            </a:r>
          </a:p>
        </p:txBody>
      </p:sp>
      <p:sp>
        <p:nvSpPr>
          <p:cNvPr id="13" name="TextBox 12"/>
          <p:cNvSpPr txBox="1"/>
          <p:nvPr/>
        </p:nvSpPr>
        <p:spPr>
          <a:xfrm>
            <a:off x="6438747"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Apa itu Birthday Paradox?: </a:t>
            </a:r>
            <a:r>
              <a:rPr b="0">
                <a:solidFill>
                  <a:srgbClr val="0F172A"/>
                </a:solidFill>
              </a:rPr>
              <a:t>Fenomena statistik di mana peluang terjadinya dua entitas bernilai sama (&gt;50%) tercapai jauh lebih cepat dari total ruang semesta, yaitu sekitar akar kuadrat dari total ruang (√N).</a:t>
            </a:r>
          </a:p>
          <a:p>
            <a:pPr>
              <a:spcAft>
                <a:spcPts val="800"/>
              </a:spcAft>
              <a:defRPr sz="1150" b="1">
                <a:solidFill>
                  <a:srgbClr val="0F172A"/>
                </a:solidFill>
                <a:latin typeface="Calibri"/>
              </a:defRPr>
            </a:pPr>
            <a:r>
              <a:t>• Waktu Tabrakan Pertama di Lapangan: </a:t>
            </a:r>
            <a:r>
              <a:rPr b="0">
                <a:solidFill>
                  <a:srgbClr val="0F172A"/>
                </a:solidFill>
              </a:rPr>
              <a:t>Peluang terjadinya IV Collision &gt; 50% bahkan sudah terjadi setelah mengumpulkan hanya: √(2^24) ≈ 4.096 hingga 5.000 PAKET!</a:t>
            </a:r>
          </a:p>
          <a:p>
            <a:pPr>
              <a:spcAft>
                <a:spcPts val="800"/>
              </a:spcAft>
              <a:defRPr sz="1150" b="1">
                <a:solidFill>
                  <a:srgbClr val="0F172A"/>
                </a:solidFill>
                <a:latin typeface="Calibri"/>
              </a:defRPr>
            </a:pPr>
            <a:r>
              <a:t>• Durasi Nyata: </a:t>
            </a:r>
            <a:r>
              <a:rPr b="0">
                <a:solidFill>
                  <a:srgbClr val="0F172A"/>
                </a:solidFill>
              </a:rPr>
              <a:t>Tabrakan pertama terjadi hanya dalam tempo 4 - 5 DETIK pertama transfer data berlangsung di udara!</a:t>
            </a:r>
          </a:p>
        </p:txBody>
      </p:sp>
      <p:sp>
        <p:nvSpPr>
          <p:cNvPr id="14" name="Rounded Rectangle 13"/>
          <p:cNvSpPr/>
          <p:nvPr/>
        </p:nvSpPr>
        <p:spPr>
          <a:xfrm>
            <a:off x="731520" y="5559552"/>
            <a:ext cx="10728655" cy="68580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32704"/>
            <a:ext cx="10454335" cy="539496"/>
          </a:xfrm>
          <a:prstGeom prst="rect">
            <a:avLst/>
          </a:prstGeom>
          <a:noFill/>
        </p:spPr>
        <p:txBody>
          <a:bodyPr wrap="square" lIns="0" tIns="0" rIns="0" bIns="0">
            <a:spAutoFit/>
          </a:bodyPr>
          <a:lstStyle/>
          <a:p>
            <a:pPr>
              <a:defRPr sz="1100" b="1">
                <a:solidFill>
                  <a:srgbClr val="DC2626"/>
                </a:solidFill>
                <a:latin typeface="Calibri"/>
              </a:defRPr>
            </a:pPr>
            <a:r>
              <a:t>KONSEP KUNCI MAHASISWA: </a:t>
            </a:r>
            <a:r>
              <a:rPr sz="1100" b="0">
                <a:solidFill>
                  <a:srgbClr val="0F172A"/>
                </a:solidFill>
                <a:latin typeface="Calibri"/>
              </a:rPr>
              <a:t>IV Collision (Tabrakan IV) bukanlah kejadian langka yang membutuhkan waktu berhari-hari; dalam hitungan menit pertama, ribuan paket di udara sudah memakai nilai IV yang kembar identik!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EKSPLOITASI KRIPTOGRAFI PRAKTIS</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Persamaan XOR Plaintext &amp; Pembobol WEP (FMS / PTW)</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Bagaimana hilangnya keystream dari persamaan membuka data asli dan kunci rahasia.</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9</a:t>
            </a:r>
          </a:p>
        </p:txBody>
      </p:sp>
      <p:sp>
        <p:nvSpPr>
          <p:cNvPr id="8" name="Rounded Rectangle 7"/>
          <p:cNvSpPr/>
          <p:nvPr/>
        </p:nvSpPr>
        <p:spPr>
          <a:xfrm>
            <a:off x="731520"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5204307"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KEBOCORAN KEYSTREAM PADA DUA CIPHERTEXT</a:t>
            </a:r>
          </a:p>
        </p:txBody>
      </p:sp>
      <p:sp>
        <p:nvSpPr>
          <p:cNvPr id="10" name="TextBox 9"/>
          <p:cNvSpPr txBox="1"/>
          <p:nvPr/>
        </p:nvSpPr>
        <p:spPr>
          <a:xfrm>
            <a:off x="914400"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Dua Paket Ber-IV Sama: </a:t>
            </a:r>
            <a:r>
              <a:rPr b="0">
                <a:solidFill>
                  <a:srgbClr val="0F172A"/>
                </a:solidFill>
              </a:rPr>
              <a:t>Jika Paket 1 (P1) dan Paket 2 (P2) dienkripsi dengan IV yang sama, maka RC4 menghasilkan Keystream (K) yang persis sama:</a:t>
            </a:r>
          </a:p>
          <a:p>
            <a:pPr>
              <a:spcAft>
                <a:spcPts val="800"/>
              </a:spcAft>
              <a:defRPr sz="1150" b="1">
                <a:solidFill>
                  <a:srgbClr val="0F172A"/>
                </a:solidFill>
                <a:latin typeface="Calibri"/>
              </a:defRPr>
            </a:pPr>
            <a:r>
              <a:t>• Rumus Ciphertext: </a:t>
            </a:r>
            <a:r>
              <a:rPr b="0">
                <a:solidFill>
                  <a:srgbClr val="0F172A"/>
                </a:solidFill>
              </a:rPr>
              <a:t>C1 = P1 ⊕ K   dan   C2 = P2 ⊕ K</a:t>
            </a:r>
          </a:p>
          <a:p>
            <a:pPr>
              <a:spcAft>
                <a:spcPts val="800"/>
              </a:spcAft>
              <a:defRPr sz="1150" b="1">
                <a:solidFill>
                  <a:srgbClr val="0F172A"/>
                </a:solidFill>
                <a:latin typeface="Calibri"/>
              </a:defRPr>
            </a:pPr>
            <a:r>
              <a:t>• Operasi XOR Antar Ciphertext: </a:t>
            </a:r>
            <a:r>
              <a:rPr b="0">
                <a:solidFill>
                  <a:srgbClr val="0F172A"/>
                </a:solidFill>
              </a:rPr>
              <a:t>C1 ⊕ C2 = (P1 ⊕ K) ⊕ (P2 ⊕ K) = P1 ⊕ P2</a:t>
            </a:r>
          </a:p>
          <a:p>
            <a:pPr>
              <a:spcAft>
                <a:spcPts val="800"/>
              </a:spcAft>
              <a:defRPr sz="1150" b="1">
                <a:solidFill>
                  <a:srgbClr val="0F172A"/>
                </a:solidFill>
                <a:latin typeface="Calibri"/>
              </a:defRPr>
            </a:pPr>
            <a:r>
              <a:t>• Keystream (K) Musnah!: </a:t>
            </a:r>
            <a:r>
              <a:rPr b="0">
                <a:solidFill>
                  <a:srgbClr val="0F172A"/>
                </a:solidFill>
              </a:rPr>
              <a:t>Penyerang memegang hasil XOR dua data asli (P1 ⊕ P2). Karena header paket TCP/IP atau ARP memiliki pola baku yang mudah ditebak, isi teks asli (P1 dan P2) dapat dibongkar secara instan!</a:t>
            </a:r>
          </a:p>
        </p:txBody>
      </p:sp>
      <p:sp>
        <p:nvSpPr>
          <p:cNvPr id="11" name="Rounded Rectangle 10"/>
          <p:cNvSpPr/>
          <p:nvPr/>
        </p:nvSpPr>
        <p:spPr>
          <a:xfrm>
            <a:off x="6255867"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5867" y="1536192"/>
            <a:ext cx="5204307"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SERANGAN PRAKTIS: FMS &amp; PTW ATTACK</a:t>
            </a:r>
          </a:p>
        </p:txBody>
      </p:sp>
      <p:sp>
        <p:nvSpPr>
          <p:cNvPr id="13" name="TextBox 12"/>
          <p:cNvSpPr txBox="1"/>
          <p:nvPr/>
        </p:nvSpPr>
        <p:spPr>
          <a:xfrm>
            <a:off x="6438747"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FMS Attack (2001): </a:t>
            </a:r>
            <a:r>
              <a:rPr b="0">
                <a:solidFill>
                  <a:srgbClr val="0F172A"/>
                </a:solidFill>
              </a:rPr>
              <a:t>Fluhrer, Mantin, dan Shamir menemukan 'Weak IVs' pada penjadwalan kunci RC4. Nilai IV tertentu membocorkan byte kunci rahasia lapis demi lapis ke ciphertext.</a:t>
            </a:r>
          </a:p>
          <a:p>
            <a:pPr>
              <a:spcAft>
                <a:spcPts val="800"/>
              </a:spcAft>
              <a:defRPr sz="1150" b="1">
                <a:solidFill>
                  <a:srgbClr val="0F172A"/>
                </a:solidFill>
                <a:latin typeface="Calibri"/>
              </a:defRPr>
            </a:pPr>
            <a:r>
              <a:t>• PTW Attack (2007): </a:t>
            </a:r>
            <a:r>
              <a:rPr b="0">
                <a:solidFill>
                  <a:srgbClr val="0F172A"/>
                </a:solidFill>
              </a:rPr>
              <a:t>Pyshkin, Tews, dan Weinmann menyempurnakan serangan: Cukup mengumpulkan 20.000 - 40.000 paket data (hanya butuh waktu ~60 detik via aircrack-ng), kunci WEP jebol 100%!</a:t>
            </a:r>
          </a:p>
          <a:p>
            <a:pPr>
              <a:spcAft>
                <a:spcPts val="800"/>
              </a:spcAft>
              <a:defRPr sz="1150" b="1">
                <a:solidFill>
                  <a:srgbClr val="0F172A"/>
                </a:solidFill>
                <a:latin typeface="Calibri"/>
              </a:defRPr>
            </a:pPr>
            <a:r>
              <a:t>• Vonnis Akhir WEP: </a:t>
            </a:r>
            <a:r>
              <a:rPr b="0">
                <a:solidFill>
                  <a:srgbClr val="0F172A"/>
                </a:solidFill>
              </a:rPr>
              <a:t>WEP dinyatakan cacat struktural total dan diharamkan penggunaannya di seluruh perangkat modern.</a:t>
            </a:r>
          </a:p>
        </p:txBody>
      </p:sp>
      <p:sp>
        <p:nvSpPr>
          <p:cNvPr id="14" name="Rounded Rectangle 13"/>
          <p:cNvSpPr/>
          <p:nvPr/>
        </p:nvSpPr>
        <p:spPr>
          <a:xfrm>
            <a:off x="731520" y="5559552"/>
            <a:ext cx="10728655" cy="68580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32704"/>
            <a:ext cx="10454335" cy="539496"/>
          </a:xfrm>
          <a:prstGeom prst="rect">
            <a:avLst/>
          </a:prstGeom>
          <a:noFill/>
        </p:spPr>
        <p:txBody>
          <a:bodyPr wrap="square" lIns="0" tIns="0" rIns="0" bIns="0">
            <a:spAutoFit/>
          </a:bodyPr>
          <a:lstStyle/>
          <a:p>
            <a:pPr>
              <a:defRPr sz="1100" b="1">
                <a:solidFill>
                  <a:srgbClr val="D97706"/>
                </a:solidFill>
                <a:latin typeface="Calibri"/>
              </a:defRPr>
            </a:pPr>
            <a:r>
              <a:t>RUMUS MATEMATIS KRUSIAL: </a:t>
            </a:r>
            <a:r>
              <a:rPr sz="1100" b="0">
                <a:solidFill>
                  <a:srgbClr val="0F172A"/>
                </a:solidFill>
                <a:latin typeface="Calibri"/>
              </a:rPr>
              <a:t>Aturan dasar kriptografi stream cipher: JANGAN PERNAH MENGGUNAKAN KEYSTREAM YANG SAMA LEBIH DARI SATU KALI. WEP melanggar aturan ini karena keterbatasan ruang 24-bit.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PROTOKOL GENERASI 1.5 (TAHUN 2003)</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Protokol WPA-TKIP: Tiga Lapis Penambal Darurat</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Solusi sementara (stopgap) yang dirancang agar dapat diinstal via upgrade firmware pada perangkat keras lama.</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10</a:t>
            </a:r>
          </a:p>
        </p:txBody>
      </p:sp>
      <p:sp>
        <p:nvSpPr>
          <p:cNvPr id="8" name="Rounded Rectangle 7"/>
          <p:cNvSpPr/>
          <p:nvPr/>
        </p:nvSpPr>
        <p:spPr>
          <a:xfrm>
            <a:off x="731520" y="1536192"/>
            <a:ext cx="3405530"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3405530"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  1. MEMPERBESAR IV KE 48-BIT</a:t>
            </a:r>
          </a:p>
        </p:txBody>
      </p:sp>
      <p:sp>
        <p:nvSpPr>
          <p:cNvPr id="10" name="TextBox 9"/>
          <p:cNvSpPr txBox="1"/>
          <p:nvPr/>
        </p:nvSpPr>
        <p:spPr>
          <a:xfrm>
            <a:off x="877824" y="2130552"/>
            <a:ext cx="3112922" cy="3200400"/>
          </a:xfrm>
          <a:prstGeom prst="rect">
            <a:avLst/>
          </a:prstGeom>
          <a:noFill/>
        </p:spPr>
        <p:txBody>
          <a:bodyPr wrap="square" lIns="0" tIns="0" rIns="0" bIns="0">
            <a:spAutoFit/>
          </a:bodyPr>
          <a:lstStyle/>
          <a:p>
            <a:pPr>
              <a:spcAft>
                <a:spcPts val="600"/>
              </a:spcAft>
              <a:defRPr sz="1100" b="1">
                <a:solidFill>
                  <a:srgbClr val="0F172A"/>
                </a:solidFill>
                <a:latin typeface="Calibri"/>
              </a:defRPr>
            </a:pPr>
            <a:r>
              <a:t>• Lonjakan Kapasitas Ruang: </a:t>
            </a:r>
            <a:r>
              <a:rPr b="0">
                <a:solidFill>
                  <a:srgbClr val="0F172A"/>
                </a:solidFill>
              </a:rPr>
              <a:t>Ukuran IV dinaikkan dari 24-bit menjadi 48-bit (2^48 ≈ 281 triliun kombinasi nilai unik).</a:t>
            </a:r>
          </a:p>
          <a:p>
            <a:pPr>
              <a:spcAft>
                <a:spcPts val="600"/>
              </a:spcAft>
              <a:defRPr sz="1100" b="1">
                <a:solidFill>
                  <a:srgbClr val="0F172A"/>
                </a:solidFill>
                <a:latin typeface="Calibri"/>
              </a:defRPr>
            </a:pPr>
            <a:r>
              <a:t>• Bebas Tabrakan 890 Tahun: </a:t>
            </a:r>
            <a:r>
              <a:rPr b="0">
                <a:solidFill>
                  <a:srgbClr val="0F172A"/>
                </a:solidFill>
              </a:rPr>
              <a:t>Pada laju transfer 10.000 paket per detik tanpa henti sekalipun, IV collision baru akan terjadi setelah 890 tahun!</a:t>
            </a:r>
          </a:p>
          <a:p>
            <a:pPr>
              <a:spcAft>
                <a:spcPts val="600"/>
              </a:spcAft>
              <a:defRPr sz="1100" b="1">
                <a:solidFill>
                  <a:srgbClr val="0F172A"/>
                </a:solidFill>
                <a:latin typeface="Calibri"/>
              </a:defRPr>
            </a:pPr>
            <a:r>
              <a:t>• Hasil: </a:t>
            </a:r>
            <a:r>
              <a:rPr b="0">
                <a:solidFill>
                  <a:srgbClr val="0F172A"/>
                </a:solidFill>
              </a:rPr>
              <a:t>Masalah tabrakan IV secara praktis berhasil dimusnahkan tuntas.</a:t>
            </a:r>
          </a:p>
        </p:txBody>
      </p:sp>
      <p:sp>
        <p:nvSpPr>
          <p:cNvPr id="11" name="Rounded Rectangle 10"/>
          <p:cNvSpPr/>
          <p:nvPr/>
        </p:nvSpPr>
        <p:spPr>
          <a:xfrm>
            <a:off x="4393082" y="1536192"/>
            <a:ext cx="3405530"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3082" y="1536192"/>
            <a:ext cx="3405530"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  2. PER-PACKET KEY MIXING</a:t>
            </a:r>
          </a:p>
        </p:txBody>
      </p:sp>
      <p:sp>
        <p:nvSpPr>
          <p:cNvPr id="13" name="TextBox 12"/>
          <p:cNvSpPr txBox="1"/>
          <p:nvPr/>
        </p:nvSpPr>
        <p:spPr>
          <a:xfrm>
            <a:off x="4539386" y="2130552"/>
            <a:ext cx="3112922" cy="3200400"/>
          </a:xfrm>
          <a:prstGeom prst="rect">
            <a:avLst/>
          </a:prstGeom>
          <a:noFill/>
        </p:spPr>
        <p:txBody>
          <a:bodyPr wrap="square" lIns="0" tIns="0" rIns="0" bIns="0">
            <a:spAutoFit/>
          </a:bodyPr>
          <a:lstStyle/>
          <a:p>
            <a:pPr>
              <a:spcAft>
                <a:spcPts val="600"/>
              </a:spcAft>
              <a:defRPr sz="1100" b="1">
                <a:solidFill>
                  <a:srgbClr val="0F172A"/>
                </a:solidFill>
                <a:latin typeface="Calibri"/>
              </a:defRPr>
            </a:pPr>
            <a:r>
              <a:t>• Pencampuran Dua Fase: </a:t>
            </a:r>
            <a:r>
              <a:rPr b="0">
                <a:solidFill>
                  <a:srgbClr val="0F172A"/>
                </a:solidFill>
              </a:rPr>
              <a:t>Kunci RC4 tidak lagi digabung langsung dengan IV seperti pada WEP.</a:t>
            </a:r>
          </a:p>
          <a:p>
            <a:pPr>
              <a:spcAft>
                <a:spcPts val="600"/>
              </a:spcAft>
              <a:defRPr sz="1100" b="1">
                <a:solidFill>
                  <a:srgbClr val="0F172A"/>
                </a:solidFill>
                <a:latin typeface="Calibri"/>
              </a:defRPr>
            </a:pPr>
            <a:r>
              <a:t>• Phase 1 &amp; Phase 2 Mixing: </a:t>
            </a:r>
            <a:r>
              <a:rPr b="0">
                <a:solidFill>
                  <a:srgbClr val="0F172A"/>
                </a:solidFill>
              </a:rPr>
              <a:t>MAC pengirim, kunci master temporal, dan IV 48-bit diolah secara matematis menghasilkan kunci 128-bit baru yang unik untuk setiap paket data.</a:t>
            </a:r>
          </a:p>
          <a:p>
            <a:pPr>
              <a:spcAft>
                <a:spcPts val="600"/>
              </a:spcAft>
              <a:defRPr sz="1100" b="1">
                <a:solidFill>
                  <a:srgbClr val="0F172A"/>
                </a:solidFill>
                <a:latin typeface="Calibri"/>
              </a:defRPr>
            </a:pPr>
            <a:r>
              <a:t>• Hasil: </a:t>
            </a:r>
            <a:r>
              <a:rPr b="0">
                <a:solidFill>
                  <a:srgbClr val="0F172A"/>
                </a:solidFill>
              </a:rPr>
              <a:t>Menggagalkan serangan Weak IV pada FMS attack.</a:t>
            </a:r>
          </a:p>
        </p:txBody>
      </p:sp>
      <p:sp>
        <p:nvSpPr>
          <p:cNvPr id="14" name="Rounded Rectangle 13"/>
          <p:cNvSpPr/>
          <p:nvPr/>
        </p:nvSpPr>
        <p:spPr>
          <a:xfrm>
            <a:off x="8054644" y="1536192"/>
            <a:ext cx="3405530"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54644" y="1536192"/>
            <a:ext cx="3405530" cy="5029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  3. INTEGRITAS MICHAEL MIC</a:t>
            </a:r>
          </a:p>
        </p:txBody>
      </p:sp>
      <p:sp>
        <p:nvSpPr>
          <p:cNvPr id="16" name="TextBox 15"/>
          <p:cNvSpPr txBox="1"/>
          <p:nvPr/>
        </p:nvSpPr>
        <p:spPr>
          <a:xfrm>
            <a:off x="8200948" y="2130552"/>
            <a:ext cx="3112922" cy="3200400"/>
          </a:xfrm>
          <a:prstGeom prst="rect">
            <a:avLst/>
          </a:prstGeom>
          <a:noFill/>
        </p:spPr>
        <p:txBody>
          <a:bodyPr wrap="square" lIns="0" tIns="0" rIns="0" bIns="0">
            <a:spAutoFit/>
          </a:bodyPr>
          <a:lstStyle/>
          <a:p>
            <a:pPr>
              <a:spcAft>
                <a:spcPts val="600"/>
              </a:spcAft>
              <a:defRPr sz="1100" b="1">
                <a:solidFill>
                  <a:srgbClr val="0F172A"/>
                </a:solidFill>
                <a:latin typeface="Calibri"/>
              </a:defRPr>
            </a:pPr>
            <a:r>
              <a:t>• Pengganti CRC32: </a:t>
            </a:r>
            <a:r>
              <a:rPr b="0">
                <a:solidFill>
                  <a:srgbClr val="0F172A"/>
                </a:solidFill>
              </a:rPr>
              <a:t>WEP memakai CRC32 (ICV) yang mudah dimanipulasi penyerang karena bersifat linear. TKIP menggantinya dengan Michael MIC 64-bit.</a:t>
            </a:r>
          </a:p>
          <a:p>
            <a:pPr>
              <a:spcAft>
                <a:spcPts val="600"/>
              </a:spcAft>
              <a:defRPr sz="1100" b="1">
                <a:solidFill>
                  <a:srgbClr val="0F172A"/>
                </a:solidFill>
                <a:latin typeface="Calibri"/>
              </a:defRPr>
            </a:pPr>
            <a:r>
              <a:t>• Mitigasi Serangan (MIC Failure): </a:t>
            </a:r>
            <a:r>
              <a:rPr b="0">
                <a:solidFill>
                  <a:srgbClr val="0F172A"/>
                </a:solidFill>
              </a:rPr>
              <a:t>Jika terdeteksi 2 paket dengan tanda tangan MIC rusak dalam rentang 60 detik, AP otomatis mematikan koneksi radio selama 1 menit penuh untuk meredam serangan injeksi.</a:t>
            </a:r>
          </a:p>
        </p:txBody>
      </p:sp>
      <p:sp>
        <p:nvSpPr>
          <p:cNvPr id="17" name="Rounded Rectangle 16"/>
          <p:cNvSpPr/>
          <p:nvPr/>
        </p:nvSpPr>
        <p:spPr>
          <a:xfrm>
            <a:off x="731520" y="5559552"/>
            <a:ext cx="10728655" cy="68580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632704"/>
            <a:ext cx="10454335" cy="539496"/>
          </a:xfrm>
          <a:prstGeom prst="rect">
            <a:avLst/>
          </a:prstGeom>
          <a:noFill/>
        </p:spPr>
        <p:txBody>
          <a:bodyPr wrap="square" lIns="0" tIns="0" rIns="0" bIns="0">
            <a:spAutoFit/>
          </a:bodyPr>
          <a:lstStyle/>
          <a:p>
            <a:pPr>
              <a:defRPr sz="1100" b="1">
                <a:solidFill>
                  <a:srgbClr val="2563EB"/>
                </a:solidFill>
                <a:latin typeface="Calibri"/>
              </a:defRPr>
            </a:pPr>
            <a:r>
              <a:t>KENAPA WPA-TKIP HANYA SOLUSI SEMENTARA?: </a:t>
            </a:r>
            <a:r>
              <a:rPr sz="1100" b="0">
                <a:solidFill>
                  <a:srgbClr val="0F172A"/>
                </a:solidFill>
                <a:latin typeface="Calibri"/>
              </a:rPr>
              <a:t>Vendor router tidak mungkin membuang jutaan unit perangkat yang sudah beredar di pasar. TKIP adalah solusi perangkat lunak (firmware) yang tetap menggunakan chip akselerator RC4 bawaan router.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AKHIR MASA PAKAI PROTOKOL TRANSISI</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Mengapa WPA-TKIP Akhirnya Ditinggalkan (Deprecated)?</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Fondasi algoritma yang rapuh tidak dapat diselamatkan oleh penambal tambahan lapis luar.</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11</a:t>
            </a:r>
          </a:p>
        </p:txBody>
      </p:sp>
      <p:sp>
        <p:nvSpPr>
          <p:cNvPr id="8" name="Rounded Rectangle 7"/>
          <p:cNvSpPr/>
          <p:nvPr/>
        </p:nvSpPr>
        <p:spPr>
          <a:xfrm>
            <a:off x="731520"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5204307"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KELEMAHAN STRUKTURAL RC4 PADA TKIP</a:t>
            </a:r>
          </a:p>
        </p:txBody>
      </p:sp>
      <p:sp>
        <p:nvSpPr>
          <p:cNvPr id="10" name="TextBox 9"/>
          <p:cNvSpPr txBox="1"/>
          <p:nvPr/>
        </p:nvSpPr>
        <p:spPr>
          <a:xfrm>
            <a:off x="914400"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Fondasi Tetaplah Stream Cipher RC4: </a:t>
            </a:r>
            <a:r>
              <a:rPr b="0">
                <a:solidFill>
                  <a:srgbClr val="0F172A"/>
                </a:solidFill>
              </a:rPr>
              <a:t>Meskipun diberi per-packet key mixing dan IV 48-bit, jantung pengacak bit data TKIP tetaplah RC4 yang memiliki kelemahan kriptografis tersembunyi.</a:t>
            </a:r>
          </a:p>
          <a:p>
            <a:pPr>
              <a:spcAft>
                <a:spcPts val="800"/>
              </a:spcAft>
              <a:defRPr sz="1150" b="1">
                <a:solidFill>
                  <a:srgbClr val="0F172A"/>
                </a:solidFill>
                <a:latin typeface="Calibri"/>
              </a:defRPr>
            </a:pPr>
            <a:r>
              <a:t>• Keterbatasan Hardware Lama: </a:t>
            </a:r>
            <a:r>
              <a:rPr b="0">
                <a:solidFill>
                  <a:srgbClr val="0F172A"/>
                </a:solidFill>
              </a:rPr>
              <a:t>Router generasi lama tidak memiliki daya komputasi CPU yang cukup untuk menjalankan enkripsi blok yang lebih berat.</a:t>
            </a:r>
          </a:p>
          <a:p>
            <a:pPr>
              <a:spcAft>
                <a:spcPts val="800"/>
              </a:spcAft>
              <a:defRPr sz="1150" b="1">
                <a:solidFill>
                  <a:srgbClr val="0F172A"/>
                </a:solidFill>
                <a:latin typeface="Calibri"/>
              </a:defRPr>
            </a:pPr>
            <a:r>
              <a:t>• Larangan Resmi Organisasi: </a:t>
            </a:r>
            <a:r>
              <a:rPr b="0">
                <a:solidFill>
                  <a:srgbClr val="0F172A"/>
                </a:solidFill>
              </a:rPr>
              <a:t>Pada tahun 2012, Wi-Fi Alliance resmi menyatakan TKIP DEPRECATED (dilarang). Router bersertifikasi Wi-Fi dilarang menggunakan TKIP untuk mencapai kecepatan 802.11n ke atas.</a:t>
            </a:r>
          </a:p>
        </p:txBody>
      </p:sp>
      <p:sp>
        <p:nvSpPr>
          <p:cNvPr id="11" name="Rounded Rectangle 10"/>
          <p:cNvSpPr/>
          <p:nvPr/>
        </p:nvSpPr>
        <p:spPr>
          <a:xfrm>
            <a:off x="6255867"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5867" y="1536192"/>
            <a:ext cx="5204307"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SERANGAN BECK-TEWS (2008)</a:t>
            </a:r>
          </a:p>
        </p:txBody>
      </p:sp>
      <p:sp>
        <p:nvSpPr>
          <p:cNvPr id="13" name="TextBox 12"/>
          <p:cNvSpPr txBox="1"/>
          <p:nvPr/>
        </p:nvSpPr>
        <p:spPr>
          <a:xfrm>
            <a:off x="6438747"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Ditemukan oleh Erik Tews &amp; Martin Beck: </a:t>
            </a:r>
            <a:r>
              <a:rPr b="0">
                <a:solidFill>
                  <a:srgbClr val="0F172A"/>
                </a:solidFill>
              </a:rPr>
              <a:t>Mengeksploitasi mekanisme Michael MIC dan paket data kecil berformat baku (seperti paket ARP - Address Resolution Protocol).</a:t>
            </a:r>
          </a:p>
          <a:p>
            <a:pPr>
              <a:spcAft>
                <a:spcPts val="800"/>
              </a:spcAft>
              <a:defRPr sz="1150" b="1">
                <a:solidFill>
                  <a:srgbClr val="0F172A"/>
                </a:solidFill>
                <a:latin typeface="Calibri"/>
              </a:defRPr>
            </a:pPr>
            <a:r>
              <a:t>• Dekripsi Tanpa Mengetahui Password: </a:t>
            </a:r>
            <a:r>
              <a:rPr b="0">
                <a:solidFill>
                  <a:srgbClr val="0F172A"/>
                </a:solidFill>
              </a:rPr>
              <a:t>Penyerang menyuntikkan paket modifikasi byte per byte ke jaringan dan mengamati apakah terjadi MIC failure.</a:t>
            </a:r>
          </a:p>
          <a:p>
            <a:pPr>
              <a:spcAft>
                <a:spcPts val="800"/>
              </a:spcAft>
              <a:defRPr sz="1150" b="1">
                <a:solidFill>
                  <a:srgbClr val="0F172A"/>
                </a:solidFill>
                <a:latin typeface="Calibri"/>
              </a:defRPr>
            </a:pPr>
            <a:r>
              <a:t>• Waktu Eksekusi: </a:t>
            </a:r>
            <a:r>
              <a:rPr b="0">
                <a:solidFill>
                  <a:srgbClr val="0F172A"/>
                </a:solidFill>
              </a:rPr>
              <a:t>Dalam tempo hanya 12 - 15 menit, penyerang berhasil mendekripsi paket data dan menyuntikkan paket palsu ke jaringan tanpa pernah mengetahui kunci utama Wi-Fi!</a:t>
            </a:r>
          </a:p>
        </p:txBody>
      </p:sp>
      <p:sp>
        <p:nvSpPr>
          <p:cNvPr id="14" name="Rounded Rectangle 13"/>
          <p:cNvSpPr/>
          <p:nvPr/>
        </p:nvSpPr>
        <p:spPr>
          <a:xfrm>
            <a:off x="731520" y="5559552"/>
            <a:ext cx="10728655" cy="68580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32704"/>
            <a:ext cx="10454335" cy="539496"/>
          </a:xfrm>
          <a:prstGeom prst="rect">
            <a:avLst/>
          </a:prstGeom>
          <a:noFill/>
        </p:spPr>
        <p:txBody>
          <a:bodyPr wrap="square" lIns="0" tIns="0" rIns="0" bIns="0">
            <a:spAutoFit/>
          </a:bodyPr>
          <a:lstStyle/>
          <a:p>
            <a:pPr>
              <a:defRPr sz="1100" b="1">
                <a:solidFill>
                  <a:srgbClr val="DC2626"/>
                </a:solidFill>
                <a:latin typeface="Calibri"/>
              </a:defRPr>
            </a:pPr>
            <a:r>
              <a:t>LESSON LEARNED UNTUK ENGINEER: </a:t>
            </a:r>
            <a:r>
              <a:rPr sz="1100" b="0">
                <a:solidFill>
                  <a:srgbClr val="0F172A"/>
                </a:solidFill>
                <a:latin typeface="Calibri"/>
              </a:rPr>
              <a:t>Menambal algoritma yang pada dasarnya sudah cacat (RC4) hanya mengulur waktu beberapa tahun. Solusi sejati membutuhkan pergantian arsitektur cipher secara fundamental!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PROTOKOL GENERASI 2 (IEEE 802.11I / 2004)</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Standar Emas WPA2: Mengapa Block Cipher AES?</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Revolusi keamanan nirkabel melalui adopsi Advanced Encryption Standard (AES).</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12</a:t>
            </a:r>
          </a:p>
        </p:txBody>
      </p:sp>
      <p:sp>
        <p:nvSpPr>
          <p:cNvPr id="8" name="Rounded Rectangle 7"/>
          <p:cNvSpPr/>
          <p:nvPr/>
        </p:nvSpPr>
        <p:spPr>
          <a:xfrm>
            <a:off x="731520"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5204307"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STREAM CIPHER (RC4) VS BLOCK CIPHER (AES)</a:t>
            </a:r>
          </a:p>
        </p:txBody>
      </p:sp>
      <p:sp>
        <p:nvSpPr>
          <p:cNvPr id="10" name="TextBox 9"/>
          <p:cNvSpPr txBox="1"/>
          <p:nvPr/>
        </p:nvSpPr>
        <p:spPr>
          <a:xfrm>
            <a:off x="914400"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RC4 (Stream Cipher): </a:t>
            </a:r>
            <a:r>
              <a:rPr b="0">
                <a:solidFill>
                  <a:srgbClr val="0F172A"/>
                </a:solidFill>
              </a:rPr>
              <a:t>Mengenksipsi aliran data bit-per-bit / byte-per-byte. Sangat rentan terhadap manipulasi deretan bit, pengulangan keystream, dan serangan analisis frekuensi.</a:t>
            </a:r>
          </a:p>
          <a:p>
            <a:pPr>
              <a:spcAft>
                <a:spcPts val="800"/>
              </a:spcAft>
              <a:defRPr sz="1150" b="1">
                <a:solidFill>
                  <a:srgbClr val="0F172A"/>
                </a:solidFill>
                <a:latin typeface="Calibri"/>
              </a:defRPr>
            </a:pPr>
            <a:r>
              <a:t>• AES (Block Cipher 128-Bit): </a:t>
            </a:r>
            <a:r>
              <a:rPr b="0">
                <a:solidFill>
                  <a:srgbClr val="0F172A"/>
                </a:solidFill>
              </a:rPr>
              <a:t>Mengelompokkan data ke dalam blok berukuran tetap 128-bit (16 byte), lalu mengacaknya melalui 10 putaran (rounds) transformasi matematis substitusi-permutasi.</a:t>
            </a:r>
          </a:p>
          <a:p>
            <a:pPr>
              <a:spcAft>
                <a:spcPts val="800"/>
              </a:spcAft>
              <a:defRPr sz="1150" b="1">
                <a:solidFill>
                  <a:srgbClr val="0F172A"/>
                </a:solidFill>
                <a:latin typeface="Calibri"/>
              </a:defRPr>
            </a:pPr>
            <a:r>
              <a:t>• Kekuatan Matematis: </a:t>
            </a:r>
            <a:r>
              <a:rPr b="0">
                <a:solidFill>
                  <a:srgbClr val="0F172A"/>
                </a:solidFill>
              </a:rPr>
              <a:t>Sejak diresmikan oleh NIST pada tahun 2001, AES-128 belum pernah berhasil dipecahkan secara praktis oleh serangan kriptanalisis manapun di dunia!</a:t>
            </a:r>
          </a:p>
        </p:txBody>
      </p:sp>
      <p:sp>
        <p:nvSpPr>
          <p:cNvPr id="11" name="Rounded Rectangle 10"/>
          <p:cNvSpPr/>
          <p:nvPr/>
        </p:nvSpPr>
        <p:spPr>
          <a:xfrm>
            <a:off x="6255867"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5867" y="1536192"/>
            <a:ext cx="5204307"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ARSITEKTUR PROTOKOL CCMP</a:t>
            </a:r>
          </a:p>
        </p:txBody>
      </p:sp>
      <p:sp>
        <p:nvSpPr>
          <p:cNvPr id="13" name="TextBox 12"/>
          <p:cNvSpPr txBox="1"/>
          <p:nvPr/>
        </p:nvSpPr>
        <p:spPr>
          <a:xfrm>
            <a:off x="6438747"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Kepanjangan CCMP: </a:t>
            </a:r>
            <a:r>
              <a:rPr b="0">
                <a:solidFill>
                  <a:srgbClr val="0F172A"/>
                </a:solidFill>
              </a:rPr>
              <a:t>Counter Mode with Cipher Block Chaining Message Authentication Code Protocol.</a:t>
            </a:r>
          </a:p>
          <a:p>
            <a:pPr>
              <a:spcAft>
                <a:spcPts val="800"/>
              </a:spcAft>
              <a:defRPr sz="1150" b="1">
                <a:solidFill>
                  <a:srgbClr val="0F172A"/>
                </a:solidFill>
                <a:latin typeface="Calibri"/>
              </a:defRPr>
            </a:pPr>
            <a:r>
              <a:t>• Menjawab Confidentiality (CTR Mode): </a:t>
            </a:r>
            <a:r>
              <a:rPr b="0">
                <a:solidFill>
                  <a:srgbClr val="0F172A"/>
                </a:solidFill>
              </a:rPr>
              <a:t>Counter Mode mengubah block cipher AES menjadi cipher aliran dinamis dengan keamanan terbukti matematis tanpa kelemahan RC4.</a:t>
            </a:r>
          </a:p>
          <a:p>
            <a:pPr>
              <a:spcAft>
                <a:spcPts val="800"/>
              </a:spcAft>
              <a:defRPr sz="1150" b="1">
                <a:solidFill>
                  <a:srgbClr val="0F172A"/>
                </a:solidFill>
                <a:latin typeface="Calibri"/>
              </a:defRPr>
            </a:pPr>
            <a:r>
              <a:t>• Menjawab Integrity (CBC-MAC): </a:t>
            </a:r>
            <a:r>
              <a:rPr b="0">
                <a:solidFill>
                  <a:srgbClr val="0F172A"/>
                </a:solidFill>
              </a:rPr>
              <a:t>Menghasilkan tanda tangan keaslian paket (MIC) berukuran 64-bit yang memastikan tidak ada satu bit pun yang diubah di perjalanan.</a:t>
            </a:r>
          </a:p>
          <a:p>
            <a:pPr>
              <a:spcAft>
                <a:spcPts val="800"/>
              </a:spcAft>
              <a:defRPr sz="1150" b="1">
                <a:solidFill>
                  <a:srgbClr val="0F172A"/>
                </a:solidFill>
                <a:latin typeface="Calibri"/>
              </a:defRPr>
            </a:pPr>
            <a:r>
              <a:t>• Butuh Akselerator Hardware: </a:t>
            </a:r>
            <a:r>
              <a:rPr b="0">
                <a:solidFill>
                  <a:srgbClr val="0F172A"/>
                </a:solidFill>
              </a:rPr>
              <a:t>Router generasi WPA2 wajib memiliki chip akselerasi hardware khusus untuk memproses AES pada kecepatan tinggi.</a:t>
            </a:r>
          </a:p>
        </p:txBody>
      </p:sp>
      <p:sp>
        <p:nvSpPr>
          <p:cNvPr id="14" name="Rounded Rectangle 13"/>
          <p:cNvSpPr/>
          <p:nvPr/>
        </p:nvSpPr>
        <p:spPr>
          <a:xfrm>
            <a:off x="731520" y="5559552"/>
            <a:ext cx="10728655" cy="68580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32704"/>
            <a:ext cx="10454335" cy="539496"/>
          </a:xfrm>
          <a:prstGeom prst="rect">
            <a:avLst/>
          </a:prstGeom>
          <a:noFill/>
        </p:spPr>
        <p:txBody>
          <a:bodyPr wrap="square" lIns="0" tIns="0" rIns="0" bIns="0">
            <a:spAutoFit/>
          </a:bodyPr>
          <a:lstStyle/>
          <a:p>
            <a:pPr>
              <a:defRPr sz="1100" b="1">
                <a:solidFill>
                  <a:srgbClr val="2563EB"/>
                </a:solidFill>
                <a:latin typeface="Calibri"/>
              </a:defRPr>
            </a:pPr>
            <a:r>
              <a:t>CATATAN FRAME WPA2: </a:t>
            </a:r>
            <a:r>
              <a:rPr sz="1100" b="0">
                <a:solidFill>
                  <a:srgbClr val="0F172A"/>
                </a:solidFill>
                <a:latin typeface="Calibri"/>
              </a:rPr>
              <a:t>Meskipun payload dienkripsi dengan standar militer AES, header 802.11 (Source MAC, Destination MAC, BSSID) dan CCMP Header tetap dikirim secara terbuka (plaintext) untuk kebutuhan transmisi radio.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ARSITEKTUR MANAJEMEN KUNCI</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Derivasi Kunci Master (PMK): Mengapa SSID Menjadi Salt?</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Bagaimana kata sandi yang diketik pengguna diubah menjadi kunci kriptografi 256-bit.</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13</a:t>
            </a:r>
          </a:p>
        </p:txBody>
      </p:sp>
      <p:sp>
        <p:nvSpPr>
          <p:cNvPr id="8" name="Rounded Rectangle 7"/>
          <p:cNvSpPr/>
          <p:nvPr/>
        </p:nvSpPr>
        <p:spPr>
          <a:xfrm>
            <a:off x="731520"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5204307"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ALGORITMA PBKDF2 PADA WPA2-PSK</a:t>
            </a:r>
          </a:p>
        </p:txBody>
      </p:sp>
      <p:sp>
        <p:nvSpPr>
          <p:cNvPr id="10" name="TextBox 9"/>
          <p:cNvSpPr txBox="1"/>
          <p:nvPr/>
        </p:nvSpPr>
        <p:spPr>
          <a:xfrm>
            <a:off x="914400"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Password Tidak Dipakai Langsung: </a:t>
            </a:r>
            <a:r>
              <a:rPr b="0">
                <a:solidFill>
                  <a:srgbClr val="0F172A"/>
                </a:solidFill>
              </a:rPr>
              <a:t>Kata sandi yang Anda ketik di smartphone (misal: 'politani2026') tidak pernah dipakai secara langsung untuk mengenkripsi paket data.</a:t>
            </a:r>
          </a:p>
          <a:p>
            <a:pPr>
              <a:spcAft>
                <a:spcPts val="800"/>
              </a:spcAft>
              <a:defRPr sz="1150" b="1">
                <a:solidFill>
                  <a:srgbClr val="0F172A"/>
                </a:solidFill>
                <a:latin typeface="Calibri"/>
              </a:defRPr>
            </a:pPr>
            <a:r>
              <a:t>• Formula Standar: </a:t>
            </a:r>
            <a:r>
              <a:rPr b="0">
                <a:solidFill>
                  <a:srgbClr val="0F172A"/>
                </a:solidFill>
              </a:rPr>
              <a:t>PMK = PBKDF2(Passphrase, SSID, 4096, 32)</a:t>
            </a:r>
          </a:p>
          <a:p>
            <a:pPr>
              <a:spcAft>
                <a:spcPts val="800"/>
              </a:spcAft>
              <a:defRPr sz="1150" b="1">
                <a:solidFill>
                  <a:srgbClr val="0F172A"/>
                </a:solidFill>
                <a:latin typeface="Calibri"/>
              </a:defRPr>
            </a:pPr>
            <a:r>
              <a:t>• Komponen Algoritma: </a:t>
            </a:r>
            <a:r>
              <a:rPr b="0">
                <a:solidFill>
                  <a:srgbClr val="0F172A"/>
                </a:solidFill>
              </a:rPr>
              <a:t>1) Passphrase (8 - 63 karakter ASCII), 2) SSID (Nama jaringan sebagai Salt), 3) 4096 iterasi hash HMAC-SHA1, 4) 32 byte (256-bit) panjang kunci PMK.</a:t>
            </a:r>
          </a:p>
          <a:p>
            <a:pPr>
              <a:spcAft>
                <a:spcPts val="800"/>
              </a:spcAft>
              <a:defRPr sz="1150" b="1">
                <a:solidFill>
                  <a:srgbClr val="0F172A"/>
                </a:solidFill>
                <a:latin typeface="Calibri"/>
              </a:defRPr>
            </a:pPr>
            <a:r>
              <a:t>• Fungsi 4096 Iterasi: </a:t>
            </a:r>
            <a:r>
              <a:rPr b="0">
                <a:solidFill>
                  <a:srgbClr val="0F172A"/>
                </a:solidFill>
              </a:rPr>
              <a:t>Memperlambat proses komputasi tebakan brute-force hingga ribuan kali lipat dibandingkan hash MD5/SHA tunggal.</a:t>
            </a:r>
          </a:p>
        </p:txBody>
      </p:sp>
      <p:sp>
        <p:nvSpPr>
          <p:cNvPr id="11" name="Rounded Rectangle 10"/>
          <p:cNvSpPr/>
          <p:nvPr/>
        </p:nvSpPr>
        <p:spPr>
          <a:xfrm>
            <a:off x="6255867"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5867" y="1536192"/>
            <a:ext cx="5204307"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MENGAPA SSID DIJADIKAN SALT KRIPTOGRAFI?</a:t>
            </a:r>
          </a:p>
        </p:txBody>
      </p:sp>
      <p:sp>
        <p:nvSpPr>
          <p:cNvPr id="13" name="TextBox 12"/>
          <p:cNvSpPr txBox="1"/>
          <p:nvPr/>
        </p:nvSpPr>
        <p:spPr>
          <a:xfrm>
            <a:off x="6438747"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Apa itu Salt Kriptografi?: </a:t>
            </a:r>
            <a:r>
              <a:rPr b="0">
                <a:solidFill>
                  <a:srgbClr val="0F172A"/>
                </a:solidFill>
              </a:rPr>
              <a:t>Nilai pengacak unik yang dicampurkan ke dalam fungsi hash untuk memastikan input kata sandi yang sama menghasilkan output hash yang berbeda total.</a:t>
            </a:r>
          </a:p>
          <a:p>
            <a:pPr>
              <a:spcAft>
                <a:spcPts val="800"/>
              </a:spcAft>
              <a:defRPr sz="1150" b="1">
                <a:solidFill>
                  <a:srgbClr val="0F172A"/>
                </a:solidFill>
                <a:latin typeface="Calibri"/>
              </a:defRPr>
            </a:pPr>
            <a:r>
              <a:t>• Kasus Nyata Lapangan: </a:t>
            </a:r>
            <a:r>
              <a:rPr b="0">
                <a:solidFill>
                  <a:srgbClr val="0F172A"/>
                </a:solidFill>
              </a:rPr>
              <a:t>Jika Kafe A dan Kafe B sama-sama menggunakan password 'kopi123', namun SSID-nya berbeda (SSID A: 'KopiEnak', SSID B: 'KopiMantap'), maka nilai PMK keduanya BERBEDA TOTAL 100%!</a:t>
            </a:r>
          </a:p>
          <a:p>
            <a:pPr>
              <a:spcAft>
                <a:spcPts val="800"/>
              </a:spcAft>
              <a:defRPr sz="1150" b="1">
                <a:solidFill>
                  <a:srgbClr val="0F172A"/>
                </a:solidFill>
                <a:latin typeface="Calibri"/>
              </a:defRPr>
            </a:pPr>
            <a:r>
              <a:t>• Menggagalkan Serangan Rainbow Table: </a:t>
            </a:r>
            <a:r>
              <a:rPr b="0">
                <a:solidFill>
                  <a:srgbClr val="0F172A"/>
                </a:solidFill>
              </a:rPr>
              <a:t>Penyerang tidak bisa menggunakan tabel kamus hash pra-komputasi (Rainbow Table) global. Setiap SSID membutuhkan tabel tebakan baru dari nol!</a:t>
            </a:r>
          </a:p>
        </p:txBody>
      </p:sp>
      <p:sp>
        <p:nvSpPr>
          <p:cNvPr id="14" name="Rounded Rectangle 13"/>
          <p:cNvSpPr/>
          <p:nvPr/>
        </p:nvSpPr>
        <p:spPr>
          <a:xfrm>
            <a:off x="731520" y="5559552"/>
            <a:ext cx="10728655" cy="68580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32704"/>
            <a:ext cx="10454335" cy="539496"/>
          </a:xfrm>
          <a:prstGeom prst="rect">
            <a:avLst/>
          </a:prstGeom>
          <a:noFill/>
        </p:spPr>
        <p:txBody>
          <a:bodyPr wrap="square" lIns="0" tIns="0" rIns="0" bIns="0">
            <a:spAutoFit/>
          </a:bodyPr>
          <a:lstStyle/>
          <a:p>
            <a:pPr>
              <a:defRPr sz="1100" b="1">
                <a:solidFill>
                  <a:srgbClr val="D97706"/>
                </a:solidFill>
                <a:latin typeface="Calibri"/>
              </a:defRPr>
            </a:pPr>
            <a:r>
              <a:t>BEST PRACTICE NETWORK ENGINEER: </a:t>
            </a:r>
            <a:r>
              <a:rPr sz="1100" b="0">
                <a:solidFill>
                  <a:srgbClr val="0F172A"/>
                </a:solidFill>
                <a:latin typeface="Calibri"/>
              </a:rPr>
              <a:t>Jangan pernah membiarkan SSID default router pabrikan (seperti 'TP-Link_XXXX' atau 'dlink')! Hacker memiliki database Rainbow Table raksasa untuk SSID bawaan pabrik tersebut.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PROTOKOL NEGOSIASI KUNCI SESI</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Mekanisme 4-Way Handshake WPA2-PSK</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Alur pertukaran 4 frame EAPoL-Key: Membuktikan kepemilikan kata sandi tanpa membocorkannya di udara.</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14</a:t>
            </a:r>
          </a:p>
        </p:txBody>
      </p:sp>
      <p:sp>
        <p:nvSpPr>
          <p:cNvPr id="8" name="Rounded Rectangle 7"/>
          <p:cNvSpPr/>
          <p:nvPr/>
        </p:nvSpPr>
        <p:spPr>
          <a:xfrm>
            <a:off x="731520"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5204307"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PESAN 1 &amp; PESAN 2: PERTUKARAN NONCE</a:t>
            </a:r>
          </a:p>
        </p:txBody>
      </p:sp>
      <p:sp>
        <p:nvSpPr>
          <p:cNvPr id="10" name="TextBox 9"/>
          <p:cNvSpPr txBox="1"/>
          <p:nvPr/>
        </p:nvSpPr>
        <p:spPr>
          <a:xfrm>
            <a:off x="914400"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Prinsip Utama Handshake: </a:t>
            </a:r>
            <a:r>
              <a:rPr b="0">
                <a:solidFill>
                  <a:srgbClr val="0F172A"/>
                </a:solidFill>
              </a:rPr>
              <a:t>KATA SANDI ATAU PMK TIDAK PERNAH DIKIRIMKAN DI UDARA! Kedua belah pihak hanya saling membuktikan bahwa mereka memegang PMK yang sama.</a:t>
            </a:r>
          </a:p>
          <a:p>
            <a:pPr>
              <a:spcAft>
                <a:spcPts val="800"/>
              </a:spcAft>
              <a:defRPr sz="1150" b="1">
                <a:solidFill>
                  <a:srgbClr val="0F172A"/>
                </a:solidFill>
                <a:latin typeface="Calibri"/>
              </a:defRPr>
            </a:pPr>
            <a:r>
              <a:t>• Pesan 1 (AP ➔ Klien): </a:t>
            </a:r>
            <a:r>
              <a:rPr b="0">
                <a:solidFill>
                  <a:srgbClr val="0F172A"/>
                </a:solidFill>
              </a:rPr>
              <a:t>AP membuat bilangan acak ANonce (AP Nonce) dan mengirimkannya ke klien secara terbuka.</a:t>
            </a:r>
          </a:p>
          <a:p>
            <a:pPr>
              <a:spcAft>
                <a:spcPts val="800"/>
              </a:spcAft>
              <a:defRPr sz="1150" b="1">
                <a:solidFill>
                  <a:srgbClr val="0F172A"/>
                </a:solidFill>
                <a:latin typeface="Calibri"/>
              </a:defRPr>
            </a:pPr>
            <a:r>
              <a:t>• Pesan 2 (Klien ➔ AP): </a:t>
            </a:r>
            <a:r>
              <a:rPr b="0">
                <a:solidFill>
                  <a:srgbClr val="0F172A"/>
                </a:solidFill>
              </a:rPr>
              <a:t>Klien membuat bilangan acak SNonce (Station Nonce). Klien kini memiliki lengkap: PMK, ANonce, SNonce, MAC AP, dan MAC Klien. Klien menghitung kunci sesi PTK secara lokal, lalu mengirimkan SNonce + tanda tangan MIC (Message Integrity Check) ke AP.</a:t>
            </a:r>
          </a:p>
        </p:txBody>
      </p:sp>
      <p:sp>
        <p:nvSpPr>
          <p:cNvPr id="11" name="Rounded Rectangle 10"/>
          <p:cNvSpPr/>
          <p:nvPr/>
        </p:nvSpPr>
        <p:spPr>
          <a:xfrm>
            <a:off x="6255867"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5867" y="1536192"/>
            <a:ext cx="5204307"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PESAN 3 &amp; PESAN 4: INSTALASI KUNCI &amp; ACK</a:t>
            </a:r>
          </a:p>
        </p:txBody>
      </p:sp>
      <p:sp>
        <p:nvSpPr>
          <p:cNvPr id="13" name="TextBox 12"/>
          <p:cNvSpPr txBox="1"/>
          <p:nvPr/>
        </p:nvSpPr>
        <p:spPr>
          <a:xfrm>
            <a:off x="6438747"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Pesan 3 (AP ➔ Klien): </a:t>
            </a:r>
            <a:r>
              <a:rPr b="0">
                <a:solidFill>
                  <a:srgbClr val="0F172A"/>
                </a:solidFill>
              </a:rPr>
              <a:t>AP menerima SNonce, menghitung PTK lokal, dan memvalidasi tanda tangan MIC. Jika cocok, AP yakin 100% klien mengetahui password yang benar! AP mengirimkan frame Pesan 3 yang memuat perintah 'Install Key' beserta GTK (Group Temporal Key terenkripsi) dan dilindungi MIC.</a:t>
            </a:r>
          </a:p>
          <a:p>
            <a:pPr>
              <a:spcAft>
                <a:spcPts val="800"/>
              </a:spcAft>
              <a:defRPr sz="1150" b="1">
                <a:solidFill>
                  <a:srgbClr val="0F172A"/>
                </a:solidFill>
                <a:latin typeface="Calibri"/>
              </a:defRPr>
            </a:pPr>
            <a:r>
              <a:t>• Pesan 4 (Klien ➔ AP): </a:t>
            </a:r>
            <a:r>
              <a:rPr b="0">
                <a:solidFill>
                  <a:srgbClr val="0F172A"/>
                </a:solidFill>
              </a:rPr>
              <a:t>Klien membalas dengan frame konfirmasi ACK bahwa seluruh kunci telah berhasil diinstal di kartu jaringan.</a:t>
            </a:r>
          </a:p>
          <a:p>
            <a:pPr>
              <a:spcAft>
                <a:spcPts val="800"/>
              </a:spcAft>
              <a:defRPr sz="1150" b="1">
                <a:solidFill>
                  <a:srgbClr val="0F172A"/>
                </a:solidFill>
                <a:latin typeface="Calibri"/>
              </a:defRPr>
            </a:pPr>
            <a:r>
              <a:t>• Koneksi Resmi Terbuka: </a:t>
            </a:r>
            <a:r>
              <a:rPr b="0">
                <a:solidFill>
                  <a:srgbClr val="0F172A"/>
                </a:solidFill>
              </a:rPr>
              <a:t>AP membuka port virtual Layer 2, dan klien resmi dapat mulai berselancar internet dengan data terenkripsi AES.</a:t>
            </a:r>
          </a:p>
        </p:txBody>
      </p:sp>
      <p:sp>
        <p:nvSpPr>
          <p:cNvPr id="14" name="Rounded Rectangle 13"/>
          <p:cNvSpPr/>
          <p:nvPr/>
        </p:nvSpPr>
        <p:spPr>
          <a:xfrm>
            <a:off x="731520" y="5559552"/>
            <a:ext cx="10728655" cy="68580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32704"/>
            <a:ext cx="10454335" cy="539496"/>
          </a:xfrm>
          <a:prstGeom prst="rect">
            <a:avLst/>
          </a:prstGeom>
          <a:noFill/>
        </p:spPr>
        <p:txBody>
          <a:bodyPr wrap="square" lIns="0" tIns="0" rIns="0" bIns="0">
            <a:spAutoFit/>
          </a:bodyPr>
          <a:lstStyle/>
          <a:p>
            <a:pPr>
              <a:defRPr sz="1100" b="1">
                <a:solidFill>
                  <a:srgbClr val="2563EB"/>
                </a:solidFill>
                <a:latin typeface="Calibri"/>
              </a:defRPr>
            </a:pPr>
            <a:r>
              <a:t>BEDAH ISTILAH NONCE: </a:t>
            </a:r>
            <a:r>
              <a:rPr sz="1100" b="0">
                <a:solidFill>
                  <a:srgbClr val="0F172A"/>
                </a:solidFill>
                <a:latin typeface="Calibri"/>
              </a:rPr>
              <a:t>Nonce = 'Number used Once' (bilangan acak yang hanya dipakai satu kali seumur sesi). ANonce berasal dari AP, SNonce berasal dari Station Klien. Keduanya menjamin kunci sesi PTK selalu baru di setiap koneksi.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ARSITEKTUR KUNCI KRIPTOGRAFI</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Anatomi Kunci Sesi PTK 512-Bit: 4 Sub-Kunci Fungsional</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Menerapkan prinsip 'Key Separation': Satu kunci tidak boleh dipakai untuk semua tugas kriptografi.</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15</a:t>
            </a:r>
          </a:p>
        </p:txBody>
      </p:sp>
      <p:sp>
        <p:nvSpPr>
          <p:cNvPr id="8" name="Rounded Rectangle 7"/>
          <p:cNvSpPr/>
          <p:nvPr/>
        </p:nvSpPr>
        <p:spPr>
          <a:xfrm>
            <a:off x="731520"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5204307"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DERIVASI PTK MENGGUNAKAN PRF-512</a:t>
            </a:r>
          </a:p>
        </p:txBody>
      </p:sp>
      <p:sp>
        <p:nvSpPr>
          <p:cNvPr id="10" name="TextBox 9"/>
          <p:cNvSpPr txBox="1"/>
          <p:nvPr/>
        </p:nvSpPr>
        <p:spPr>
          <a:xfrm>
            <a:off x="914400"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Fungsi Ekspansi PRF-512: </a:t>
            </a:r>
            <a:r>
              <a:rPr b="0">
                <a:solidFill>
                  <a:srgbClr val="0F172A"/>
                </a:solidFill>
              </a:rPr>
              <a:t>PTK = PRF-512(PMK, 'Pairwise key expansion', Min(MAC), Max(MAC), Min(Nonce), Max(Nonce)).</a:t>
            </a:r>
          </a:p>
          <a:p>
            <a:pPr>
              <a:spcAft>
                <a:spcPts val="800"/>
              </a:spcAft>
              <a:defRPr sz="1150" b="1">
                <a:solidFill>
                  <a:srgbClr val="0F172A"/>
                </a:solidFill>
                <a:latin typeface="Calibri"/>
              </a:defRPr>
            </a:pPr>
            <a:r>
              <a:t>• Panjang Kunci Total: </a:t>
            </a:r>
            <a:r>
              <a:rPr b="0">
                <a:solidFill>
                  <a:srgbClr val="0F172A"/>
                </a:solidFill>
              </a:rPr>
              <a:t>Menghasilkan kunci sesi sementara berukuran 512-bit (64 byte) yang unik untuk setiap sesi perangkat.</a:t>
            </a:r>
          </a:p>
          <a:p>
            <a:pPr>
              <a:spcAft>
                <a:spcPts val="800"/>
              </a:spcAft>
              <a:defRPr sz="1150" b="1">
                <a:solidFill>
                  <a:srgbClr val="0F172A"/>
                </a:solidFill>
                <a:latin typeface="Calibri"/>
              </a:defRPr>
            </a:pPr>
            <a:r>
              <a:t>• Mengapa Dipecah Menjadi 4?: </a:t>
            </a:r>
            <a:r>
              <a:rPr b="0">
                <a:solidFill>
                  <a:srgbClr val="0F172A"/>
                </a:solidFill>
              </a:rPr>
              <a:t>Jika satu sub-kunci mengalami kebocoran atau distorsi matematis, sub-kunci fungsional lainnya tetap terlindungi secara independen.</a:t>
            </a:r>
          </a:p>
        </p:txBody>
      </p:sp>
      <p:sp>
        <p:nvSpPr>
          <p:cNvPr id="11" name="Rounded Rectangle 10"/>
          <p:cNvSpPr/>
          <p:nvPr/>
        </p:nvSpPr>
        <p:spPr>
          <a:xfrm>
            <a:off x="6255867"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5867" y="1536192"/>
            <a:ext cx="5204307"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EMPAT SUB-KUNCI FUNGSIONAL PTK</a:t>
            </a:r>
          </a:p>
        </p:txBody>
      </p:sp>
      <p:sp>
        <p:nvSpPr>
          <p:cNvPr id="13" name="TextBox 12"/>
          <p:cNvSpPr txBox="1"/>
          <p:nvPr/>
        </p:nvSpPr>
        <p:spPr>
          <a:xfrm>
            <a:off x="6438747"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1. KCK (Key Confirmation Key - 128-bit): </a:t>
            </a:r>
            <a:r>
              <a:rPr b="0">
                <a:solidFill>
                  <a:srgbClr val="0F172A"/>
                </a:solidFill>
              </a:rPr>
              <a:t>Khusus dipakai menghitung dan memvalidasi nilai MIC pada frame handshake (Pesan 2 dan Pesan 4).</a:t>
            </a:r>
          </a:p>
          <a:p>
            <a:pPr>
              <a:spcAft>
                <a:spcPts val="800"/>
              </a:spcAft>
              <a:defRPr sz="1150" b="1">
                <a:solidFill>
                  <a:srgbClr val="0F172A"/>
                </a:solidFill>
                <a:latin typeface="Calibri"/>
              </a:defRPr>
            </a:pPr>
            <a:r>
              <a:t>• 2. KEK (Key Encryption Key - 128-bit): </a:t>
            </a:r>
            <a:r>
              <a:rPr b="0">
                <a:solidFill>
                  <a:srgbClr val="0F172A"/>
                </a:solidFill>
              </a:rPr>
              <a:t>Khusus dipakai mengenkripsi kunci siaran multicast/broadcast GTK saat dikirimkan di Pesan 3.</a:t>
            </a:r>
          </a:p>
          <a:p>
            <a:pPr>
              <a:spcAft>
                <a:spcPts val="800"/>
              </a:spcAft>
              <a:defRPr sz="1150" b="1">
                <a:solidFill>
                  <a:srgbClr val="0F172A"/>
                </a:solidFill>
                <a:latin typeface="Calibri"/>
              </a:defRPr>
            </a:pPr>
            <a:r>
              <a:t>• 3. TK (Temporal Key - 128-bit): </a:t>
            </a:r>
            <a:r>
              <a:rPr b="0">
                <a:solidFill>
                  <a:srgbClr val="0F172A"/>
                </a:solidFill>
              </a:rPr>
              <a:t>Kunci utama aktual yang diinjeksikan ke modul hardware AES-CCMP untuk mengenkripsi seluruh lalu lintas data internet unicast klien!</a:t>
            </a:r>
          </a:p>
          <a:p>
            <a:pPr>
              <a:spcAft>
                <a:spcPts val="800"/>
              </a:spcAft>
              <a:defRPr sz="1150" b="1">
                <a:solidFill>
                  <a:srgbClr val="0F172A"/>
                </a:solidFill>
                <a:latin typeface="Calibri"/>
              </a:defRPr>
            </a:pPr>
            <a:r>
              <a:t>• 4. MIC Key (64-bit): </a:t>
            </a:r>
            <a:r>
              <a:rPr b="0">
                <a:solidFill>
                  <a:srgbClr val="0F172A"/>
                </a:solidFill>
              </a:rPr>
              <a:t>Digunakan untuk menjaga keutuhan dan integritas frame data unicast.</a:t>
            </a:r>
          </a:p>
        </p:txBody>
      </p:sp>
      <p:sp>
        <p:nvSpPr>
          <p:cNvPr id="14" name="Rounded Rectangle 13"/>
          <p:cNvSpPr/>
          <p:nvPr/>
        </p:nvSpPr>
        <p:spPr>
          <a:xfrm>
            <a:off x="731520" y="5559552"/>
            <a:ext cx="10728655" cy="685800"/>
          </a:xfrm>
          <a:prstGeom prst="roundRect">
            <a:avLst/>
          </a:prstGeom>
          <a:solidFill>
            <a:srgbClr val="F1F5F9"/>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32704"/>
            <a:ext cx="10454335" cy="539496"/>
          </a:xfrm>
          <a:prstGeom prst="rect">
            <a:avLst/>
          </a:prstGeom>
          <a:noFill/>
        </p:spPr>
        <p:txBody>
          <a:bodyPr wrap="square" lIns="0" tIns="0" rIns="0" bIns="0">
            <a:spAutoFit/>
          </a:bodyPr>
          <a:lstStyle/>
          <a:p>
            <a:pPr>
              <a:defRPr sz="1100" b="1">
                <a:solidFill>
                  <a:srgbClr val="1E293B"/>
                </a:solidFill>
                <a:latin typeface="Calibri"/>
              </a:defRPr>
            </a:pPr>
            <a:r>
              <a:t>BEDAH ISTILAH GTK: </a:t>
            </a:r>
            <a:r>
              <a:rPr sz="1100" b="0">
                <a:solidFill>
                  <a:srgbClr val="0F172A"/>
                </a:solidFill>
                <a:latin typeface="Calibri"/>
              </a:rPr>
              <a:t>GTK (Group Temporal Key): Kunci bersama yang dibagikan AP ke SEMUA klien yang terhubung, khusus untuk mendekripsi frame Broadcast (misal ARP request) dan Multicast di jaringan Wi-Fi.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TITIK LEMAH WPA2-PERSONAL (PSK)</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Celah Struktural: Offline Dictionary Attack pada WPA2</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Mengapa kata sandi yang lemah membuat arsitektur AES-128 runtuh seketika.</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16</a:t>
            </a:r>
          </a:p>
        </p:txBody>
      </p:sp>
      <p:sp>
        <p:nvSpPr>
          <p:cNvPr id="8" name="Rounded Rectangle 7"/>
          <p:cNvSpPr/>
          <p:nvPr/>
        </p:nvSpPr>
        <p:spPr>
          <a:xfrm>
            <a:off x="731520"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5204307"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ALUR EKSEKUSI SERANGAN OFFLINE</a:t>
            </a:r>
          </a:p>
        </p:txBody>
      </p:sp>
      <p:sp>
        <p:nvSpPr>
          <p:cNvPr id="10" name="TextBox 9"/>
          <p:cNvSpPr txBox="1"/>
          <p:nvPr/>
        </p:nvSpPr>
        <p:spPr>
          <a:xfrm>
            <a:off x="914400"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1. Sadap Handshake di Udara: </a:t>
            </a:r>
            <a:r>
              <a:rPr b="0">
                <a:solidFill>
                  <a:srgbClr val="0F172A"/>
                </a:solidFill>
              </a:rPr>
              <a:t>Penyerang merekam Pesan 1 (dapat ANonce &amp; MAC) dan Pesan 2 (dapat SNonce &amp; MIC asli) ke dalam file .cap menggunakan airodump-ng.</a:t>
            </a:r>
          </a:p>
          <a:p>
            <a:pPr>
              <a:spcAft>
                <a:spcPts val="800"/>
              </a:spcAft>
              <a:defRPr sz="1150" b="1">
                <a:solidFill>
                  <a:srgbClr val="0F172A"/>
                </a:solidFill>
                <a:latin typeface="Calibri"/>
              </a:defRPr>
            </a:pPr>
            <a:r>
              <a:t>• 2. Bawa Pulang File .cap ke Lab: </a:t>
            </a:r>
            <a:r>
              <a:rPr b="0">
                <a:solidFill>
                  <a:srgbClr val="0F172A"/>
                </a:solidFill>
              </a:rPr>
              <a:t>Penyerang TIDAK PERLU terhubung atau berkomunikasi lagi dengan router target (serangan 100% OFFLINE!).</a:t>
            </a:r>
          </a:p>
          <a:p>
            <a:pPr>
              <a:spcAft>
                <a:spcPts val="800"/>
              </a:spcAft>
              <a:defRPr sz="1150" b="1">
                <a:solidFill>
                  <a:srgbClr val="0F172A"/>
                </a:solidFill>
                <a:latin typeface="Calibri"/>
              </a:defRPr>
            </a:pPr>
            <a:r>
              <a:t>• 3. Uji Tebakan Kata Sandi: </a:t>
            </a:r>
            <a:r>
              <a:rPr b="0">
                <a:solidFill>
                  <a:srgbClr val="0F172A"/>
                </a:solidFill>
              </a:rPr>
              <a:t>Ambil kata tebakan dari kamus (wordlist) -&gt; Hitung PMK tebakan via PBKDF2 -&gt; Hitung PTK tebakan -&gt; Hitung MIC tebakan.</a:t>
            </a:r>
          </a:p>
          <a:p>
            <a:pPr>
              <a:spcAft>
                <a:spcPts val="800"/>
              </a:spcAft>
              <a:defRPr sz="1150" b="1">
                <a:solidFill>
                  <a:srgbClr val="0F172A"/>
                </a:solidFill>
                <a:latin typeface="Calibri"/>
              </a:defRPr>
            </a:pPr>
            <a:r>
              <a:t>• 4. Pencocokan Nilai MIC: </a:t>
            </a:r>
            <a:r>
              <a:rPr b="0">
                <a:solidFill>
                  <a:srgbClr val="0F172A"/>
                </a:solidFill>
              </a:rPr>
              <a:t>Jika MIC tebakan == MIC asli pada Pesan 2, maka KATA SANDI BERHASIL DIPECAHKAN!</a:t>
            </a:r>
          </a:p>
        </p:txBody>
      </p:sp>
      <p:sp>
        <p:nvSpPr>
          <p:cNvPr id="11" name="Rounded Rectangle 10"/>
          <p:cNvSpPr/>
          <p:nvPr/>
        </p:nvSpPr>
        <p:spPr>
          <a:xfrm>
            <a:off x="6255867"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5867" y="1536192"/>
            <a:ext cx="5204307"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MENGAPA SANGAT BERBAHAYA BAGI JARINGAN?</a:t>
            </a:r>
          </a:p>
        </p:txBody>
      </p:sp>
      <p:sp>
        <p:nvSpPr>
          <p:cNvPr id="13" name="TextBox 12"/>
          <p:cNvSpPr txBox="1"/>
          <p:nvPr/>
        </p:nvSpPr>
        <p:spPr>
          <a:xfrm>
            <a:off x="6438747"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Kekuatan Komputasi GPU Modern: </a:t>
            </a:r>
            <a:r>
              <a:rPr b="0">
                <a:solidFill>
                  <a:srgbClr val="0F172A"/>
                </a:solidFill>
              </a:rPr>
              <a:t>Menggunakan software Hashcat dan kartu grafis GPU (NVIDIA RTX), penyerang dapat menguji ratusan ribu hingga jutaan tebakan kata sandi per detik!</a:t>
            </a:r>
          </a:p>
          <a:p>
            <a:pPr>
              <a:spcAft>
                <a:spcPts val="800"/>
              </a:spcAft>
              <a:defRPr sz="1150" b="1">
                <a:solidFill>
                  <a:srgbClr val="0F172A"/>
                </a:solidFill>
                <a:latin typeface="Calibri"/>
              </a:defRPr>
            </a:pPr>
            <a:r>
              <a:t>• Tanpa Batas Percobaan (No Lockout): </a:t>
            </a:r>
            <a:r>
              <a:rPr b="0">
                <a:solidFill>
                  <a:srgbClr val="0F172A"/>
                </a:solidFill>
              </a:rPr>
              <a:t>Karena proses cracking terjadi di komputer penyerang sendiri, router kampus tidak tahu bahwa jaringannya sedang dibobol dan tidak bisa memblokir penyerang.</a:t>
            </a:r>
          </a:p>
          <a:p>
            <a:pPr>
              <a:spcAft>
                <a:spcPts val="800"/>
              </a:spcAft>
              <a:defRPr sz="1150" b="1">
                <a:solidFill>
                  <a:srgbClr val="0F172A"/>
                </a:solidFill>
                <a:latin typeface="Calibri"/>
              </a:defRPr>
            </a:pPr>
            <a:r>
              <a:t>• Kelemahan Manusia: </a:t>
            </a:r>
            <a:r>
              <a:rPr b="0">
                <a:solidFill>
                  <a:srgbClr val="0F172A"/>
                </a:solidFill>
              </a:rPr>
              <a:t>Jika pengelola jaringan menggunakan password pendek atau kata umum (seperti 'admin123' atau 'kampusmerdeka'), kata sandi jebol dalam hitungan detik.</a:t>
            </a:r>
          </a:p>
        </p:txBody>
      </p:sp>
      <p:sp>
        <p:nvSpPr>
          <p:cNvPr id="14" name="Rounded Rectangle 13"/>
          <p:cNvSpPr/>
          <p:nvPr/>
        </p:nvSpPr>
        <p:spPr>
          <a:xfrm>
            <a:off x="731520" y="5559552"/>
            <a:ext cx="10728655" cy="68580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32704"/>
            <a:ext cx="10454335" cy="539496"/>
          </a:xfrm>
          <a:prstGeom prst="rect">
            <a:avLst/>
          </a:prstGeom>
          <a:noFill/>
        </p:spPr>
        <p:txBody>
          <a:bodyPr wrap="square" lIns="0" tIns="0" rIns="0" bIns="0">
            <a:spAutoFit/>
          </a:bodyPr>
          <a:lstStyle/>
          <a:p>
            <a:pPr>
              <a:defRPr sz="1100" b="1">
                <a:solidFill>
                  <a:srgbClr val="DC2626"/>
                </a:solidFill>
                <a:latin typeface="Calibri"/>
              </a:defRPr>
            </a:pPr>
            <a:r>
              <a:t>MITIGASI TEKNISI JARINGAN: </a:t>
            </a:r>
            <a:r>
              <a:rPr sz="1100" b="0">
                <a:solidFill>
                  <a:srgbClr val="0F172A"/>
                </a:solidFill>
                <a:latin typeface="Calibri"/>
              </a:rPr>
              <a:t>Pada WPA2-PSK, kata sandi WAJIB minimal 12 - 16 karakter acak (kombinasi huruf besar, kecil, angka, dan simbol) agar mustahil ditembus oleh kamus wordlist.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PROTOKOL GENERASI 3 (IEEE 802.11AZ / WPA3 / 2018)</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Generasi Mutakhir WPA3-SAE: Menghapus Celah Handshake</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Simultaneous Authentication of Equals berbasis Dragonfly Handshake untuk menghentikan serangan offline.</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17</a:t>
            </a:r>
          </a:p>
        </p:txBody>
      </p:sp>
      <p:sp>
        <p:nvSpPr>
          <p:cNvPr id="8" name="Rounded Rectangle 7"/>
          <p:cNvSpPr/>
          <p:nvPr/>
        </p:nvSpPr>
        <p:spPr>
          <a:xfrm>
            <a:off x="731520"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5204307"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MEKANISME DRAGONFLY HANDSHAKE (SAE)</a:t>
            </a:r>
          </a:p>
        </p:txBody>
      </p:sp>
      <p:sp>
        <p:nvSpPr>
          <p:cNvPr id="10" name="TextBox 9"/>
          <p:cNvSpPr txBox="1"/>
          <p:nvPr/>
        </p:nvSpPr>
        <p:spPr>
          <a:xfrm>
            <a:off x="914400"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Simultaneous Authentication of Equals: </a:t>
            </a:r>
            <a:r>
              <a:rPr b="0">
                <a:solidFill>
                  <a:srgbClr val="0F172A"/>
                </a:solidFill>
              </a:rPr>
              <a:t>Menghapus total 4-Way Handshake PSK tradisional. Kedua perangkat (klien dan AP) berkedudukan setara sebagai peer.</a:t>
            </a:r>
          </a:p>
          <a:p>
            <a:pPr>
              <a:spcAft>
                <a:spcPts val="800"/>
              </a:spcAft>
              <a:defRPr sz="1150" b="1">
                <a:solidFill>
                  <a:srgbClr val="0F172A"/>
                </a:solidFill>
                <a:latin typeface="Calibri"/>
              </a:defRPr>
            </a:pPr>
            <a:r>
              <a:t>• Kriptografi Kurva Eliptis (ECC): </a:t>
            </a:r>
            <a:r>
              <a:rPr b="0">
                <a:solidFill>
                  <a:srgbClr val="0F172A"/>
                </a:solidFill>
              </a:rPr>
              <a:t>Menggunakan pertukaran kunci berbasis Elliptic Curve Cryptography (NIST Curve P-256) yang jauh lebih tangguh dan efisien.</a:t>
            </a:r>
          </a:p>
          <a:p>
            <a:pPr>
              <a:spcAft>
                <a:spcPts val="800"/>
              </a:spcAft>
              <a:defRPr sz="1150" b="1">
                <a:solidFill>
                  <a:srgbClr val="0F172A"/>
                </a:solidFill>
                <a:latin typeface="Calibri"/>
              </a:defRPr>
            </a:pPr>
            <a:r>
              <a:t>• Zero-Knowledge Proof (ZKP): </a:t>
            </a:r>
            <a:r>
              <a:rPr b="0">
                <a:solidFill>
                  <a:srgbClr val="0F172A"/>
                </a:solidFill>
              </a:rPr>
              <a:t>Klien dan AP membuktikan kepemilikan kata sandi tanpa pernah mempertukarkan hash, derivasi, atau petunjuk matematis apapun di udara!</a:t>
            </a:r>
          </a:p>
        </p:txBody>
      </p:sp>
      <p:sp>
        <p:nvSpPr>
          <p:cNvPr id="11" name="Rounded Rectangle 10"/>
          <p:cNvSpPr/>
          <p:nvPr/>
        </p:nvSpPr>
        <p:spPr>
          <a:xfrm>
            <a:off x="6255867"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5867" y="1536192"/>
            <a:ext cx="5204307"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KEUNGGULAN REVOLUSIONER WPA3</a:t>
            </a:r>
          </a:p>
        </p:txBody>
      </p:sp>
      <p:sp>
        <p:nvSpPr>
          <p:cNvPr id="13" name="TextBox 12"/>
          <p:cNvSpPr txBox="1"/>
          <p:nvPr/>
        </p:nvSpPr>
        <p:spPr>
          <a:xfrm>
            <a:off x="6438747"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Kebal Offline Dictionary Attack: </a:t>
            </a:r>
            <a:r>
              <a:rPr b="0">
                <a:solidFill>
                  <a:srgbClr val="0F172A"/>
                </a:solidFill>
              </a:rPr>
              <a:t>Tidak ada data rekaman frame di udara yang bisa di-crack di komputer penyerang. Setiap tebakan WAJIB berinteraksi langsung (online) dengan AP!</a:t>
            </a:r>
          </a:p>
          <a:p>
            <a:pPr>
              <a:spcAft>
                <a:spcPts val="800"/>
              </a:spcAft>
              <a:defRPr sz="1150" b="1">
                <a:solidFill>
                  <a:srgbClr val="0F172A"/>
                </a:solidFill>
                <a:latin typeface="Calibri"/>
              </a:defRPr>
            </a:pPr>
            <a:r>
              <a:t>• Rate-Limiting Otomatis AP: </a:t>
            </a:r>
            <a:r>
              <a:rPr b="0">
                <a:solidFill>
                  <a:srgbClr val="0F172A"/>
                </a:solidFill>
              </a:rPr>
              <a:t>Karena wajib online, AP dapat langsung memblokir perangkat penyerang setelah 3 - 5 kali percobaan tebakan salah.</a:t>
            </a:r>
          </a:p>
          <a:p>
            <a:pPr>
              <a:spcAft>
                <a:spcPts val="800"/>
              </a:spcAft>
              <a:defRPr sz="1150" b="1">
                <a:solidFill>
                  <a:srgbClr val="0F172A"/>
                </a:solidFill>
                <a:latin typeface="Calibri"/>
              </a:defRPr>
            </a:pPr>
            <a:r>
              <a:t>• Forward Secrecy Mutlak: </a:t>
            </a:r>
            <a:r>
              <a:rPr b="0">
                <a:solidFill>
                  <a:srgbClr val="0F172A"/>
                </a:solidFill>
              </a:rPr>
              <a:t>Kunci sesi diturunkan dari parameter Diffie-Hellman efemeral. Jika suatu hari kata sandi kampus bocor, seluruh rekaman data masa lalu yang pernah disadap oleh penyerang TETAP MUSTAHIL DIDEKRIPSI!</a:t>
            </a:r>
          </a:p>
        </p:txBody>
      </p:sp>
      <p:sp>
        <p:nvSpPr>
          <p:cNvPr id="14" name="Rounded Rectangle 13"/>
          <p:cNvSpPr/>
          <p:nvPr/>
        </p:nvSpPr>
        <p:spPr>
          <a:xfrm>
            <a:off x="731520" y="5559552"/>
            <a:ext cx="10728655" cy="68580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32704"/>
            <a:ext cx="10454335" cy="539496"/>
          </a:xfrm>
          <a:prstGeom prst="rect">
            <a:avLst/>
          </a:prstGeom>
          <a:noFill/>
        </p:spPr>
        <p:txBody>
          <a:bodyPr wrap="square" lIns="0" tIns="0" rIns="0" bIns="0">
            <a:spAutoFit/>
          </a:bodyPr>
          <a:lstStyle/>
          <a:p>
            <a:pPr>
              <a:defRPr sz="1100" b="1">
                <a:solidFill>
                  <a:srgbClr val="2563EB"/>
                </a:solidFill>
                <a:latin typeface="Calibri"/>
              </a:defRPr>
            </a:pPr>
            <a:r>
              <a:t>TANTANGAN IMPLEMENTASI SAAT INI: </a:t>
            </a:r>
            <a:r>
              <a:rPr sz="1100" b="0">
                <a:solidFill>
                  <a:srgbClr val="0F172A"/>
                </a:solidFill>
                <a:latin typeface="Calibri"/>
              </a:rPr>
              <a:t>Banyak perangkat IoT lama dan laptop lawas belum mendukung WPA3. Router modern menyediakan mode 'WPA2/WPA3 Mixed Mode', namun mode transisi ini masih mewarisi celah downgrade ke WPA2.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EDUKASI PRAKTISI JARINGAN</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Membongkar 2 Mitos Keamanan WLAN di Kalangan Teknisi</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Mengapa fitur yang dikira aman ternyata sama sekali tidak berguna melawan hacker.</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18</a:t>
            </a:r>
          </a:p>
        </p:txBody>
      </p:sp>
      <p:sp>
        <p:nvSpPr>
          <p:cNvPr id="8" name="Rounded Rectangle 7"/>
          <p:cNvSpPr/>
          <p:nvPr/>
        </p:nvSpPr>
        <p:spPr>
          <a:xfrm>
            <a:off x="731520"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5204307"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MITOS #1: 'MENYEMBUNYIKAN SSID BIKIN WI-FI AMAN'</a:t>
            </a:r>
          </a:p>
        </p:txBody>
      </p:sp>
      <p:sp>
        <p:nvSpPr>
          <p:cNvPr id="10" name="TextBox 9"/>
          <p:cNvSpPr txBox="1"/>
          <p:nvPr/>
        </p:nvSpPr>
        <p:spPr>
          <a:xfrm>
            <a:off x="914400"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Klaim Salah: </a:t>
            </a:r>
            <a:r>
              <a:rPr b="0">
                <a:solidFill>
                  <a:srgbClr val="0F172A"/>
                </a:solidFill>
              </a:rPr>
              <a:t>Banyak administrator mengira mematikan SSID Broadcast (Hide SSID) membuat jaringan Wi-Fi 'tidak terlihat dan kebal hack'.</a:t>
            </a:r>
          </a:p>
          <a:p>
            <a:pPr>
              <a:spcAft>
                <a:spcPts val="800"/>
              </a:spcAft>
              <a:defRPr sz="1150" b="1">
                <a:solidFill>
                  <a:srgbClr val="0F172A"/>
                </a:solidFill>
                <a:latin typeface="Calibri"/>
              </a:defRPr>
            </a:pPr>
            <a:r>
              <a:t>• Fakta Protokol Wi-Fi: </a:t>
            </a:r>
            <a:r>
              <a:rPr b="0">
                <a:solidFill>
                  <a:srgbClr val="0F172A"/>
                </a:solidFill>
              </a:rPr>
              <a:t>Hide SSID hanya mengosongkan teks SSID pada frame siaran Beacon. Namun, perangkat klien sah yang ingin terkoneksi tetap wajib memancarkan frame Probe Request yang memuat nama SSID secara terbuka (plaintext)!</a:t>
            </a:r>
          </a:p>
          <a:p>
            <a:pPr>
              <a:spcAft>
                <a:spcPts val="800"/>
              </a:spcAft>
              <a:defRPr sz="1150" b="1">
                <a:solidFill>
                  <a:srgbClr val="0F172A"/>
                </a:solidFill>
                <a:latin typeface="Calibri"/>
              </a:defRPr>
            </a:pPr>
            <a:r>
              <a:t>• Mudah Dibongkar: </a:t>
            </a:r>
            <a:r>
              <a:rPr b="0">
                <a:solidFill>
                  <a:srgbClr val="0F172A"/>
                </a:solidFill>
              </a:rPr>
              <a:t>Tool seperti airodump-ng akan langsung memunculkan nama SSID tersembunyi tersebut dalam hitungan detik begitu ada satu klien sah yang terhubung atau melakukan reconnect.</a:t>
            </a:r>
          </a:p>
        </p:txBody>
      </p:sp>
      <p:sp>
        <p:nvSpPr>
          <p:cNvPr id="11" name="Rounded Rectangle 10"/>
          <p:cNvSpPr/>
          <p:nvPr/>
        </p:nvSpPr>
        <p:spPr>
          <a:xfrm>
            <a:off x="6255867"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5867" y="1536192"/>
            <a:ext cx="5204307"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MITOS #2: 'MAC FILTERING AMPUH MEMBATASI AKSES'</a:t>
            </a:r>
          </a:p>
        </p:txBody>
      </p:sp>
      <p:sp>
        <p:nvSpPr>
          <p:cNvPr id="13" name="TextBox 12"/>
          <p:cNvSpPr txBox="1"/>
          <p:nvPr/>
        </p:nvSpPr>
        <p:spPr>
          <a:xfrm>
            <a:off x="6438747"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Klaim Salah: </a:t>
            </a:r>
            <a:r>
              <a:rPr b="0">
                <a:solidFill>
                  <a:srgbClr val="0F172A"/>
                </a:solidFill>
              </a:rPr>
              <a:t>Mengira mendaftarkan daftar MAC address laptop mahasiswa yang diizinkan sudah cukup untuk mengunci keamanan jaringan.</a:t>
            </a:r>
          </a:p>
          <a:p>
            <a:pPr>
              <a:spcAft>
                <a:spcPts val="800"/>
              </a:spcAft>
              <a:defRPr sz="1150" b="1">
                <a:solidFill>
                  <a:srgbClr val="0F172A"/>
                </a:solidFill>
                <a:latin typeface="Calibri"/>
              </a:defRPr>
            </a:pPr>
            <a:r>
              <a:t>• Fakta Protokol Wi-Fi: </a:t>
            </a:r>
            <a:r>
              <a:rPr b="0">
                <a:solidFill>
                  <a:srgbClr val="0F172A"/>
                </a:solidFill>
              </a:rPr>
              <a:t>Standar IEEE 802.11 mewajibkan Source MAC dan Destination MAC berada pada header yang TIDAK PERNAH DIENKRIPSI agar radio switch dapat meneruskan paket.</a:t>
            </a:r>
          </a:p>
          <a:p>
            <a:pPr>
              <a:spcAft>
                <a:spcPts val="800"/>
              </a:spcAft>
              <a:defRPr sz="1150" b="1">
                <a:solidFill>
                  <a:srgbClr val="0F172A"/>
                </a:solidFill>
                <a:latin typeface="Calibri"/>
              </a:defRPr>
            </a:pPr>
            <a:r>
              <a:t>• Spoofing Hanya 10 Detik: </a:t>
            </a:r>
            <a:r>
              <a:rPr b="0">
                <a:solidFill>
                  <a:srgbClr val="0F172A"/>
                </a:solidFill>
              </a:rPr>
              <a:t>Penyerang menyalakan kartu nirkabel ke Monitor Mode, mengamati MAC address laptop dosen yang sedang aktif, lalu mengganti MAC laptopnya via macchanger: sudo macchanger -m 00:11:22:33:44:55 wlan0. Seluruh filter MAC langsung jebol!</a:t>
            </a:r>
          </a:p>
        </p:txBody>
      </p:sp>
      <p:sp>
        <p:nvSpPr>
          <p:cNvPr id="14" name="Rounded Rectangle 13"/>
          <p:cNvSpPr/>
          <p:nvPr/>
        </p:nvSpPr>
        <p:spPr>
          <a:xfrm>
            <a:off x="731520" y="5559552"/>
            <a:ext cx="10728655" cy="685800"/>
          </a:xfrm>
          <a:prstGeom prst="roundRect">
            <a:avLst/>
          </a:prstGeom>
          <a:solidFill>
            <a:srgbClr val="FEF2F2"/>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32704"/>
            <a:ext cx="10454335" cy="539496"/>
          </a:xfrm>
          <a:prstGeom prst="rect">
            <a:avLst/>
          </a:prstGeom>
          <a:noFill/>
        </p:spPr>
        <p:txBody>
          <a:bodyPr wrap="square" lIns="0" tIns="0" rIns="0" bIns="0">
            <a:spAutoFit/>
          </a:bodyPr>
          <a:lstStyle/>
          <a:p>
            <a:pPr>
              <a:defRPr sz="1100" b="1">
                <a:solidFill>
                  <a:srgbClr val="DC2626"/>
                </a:solidFill>
                <a:latin typeface="Calibri"/>
              </a:defRPr>
            </a:pPr>
            <a:r>
              <a:t>PRINSIP KEAMANAN SIBER (KERCKHOFFS): </a:t>
            </a:r>
            <a:r>
              <a:rPr sz="1100" b="0">
                <a:solidFill>
                  <a:srgbClr val="0F172A"/>
                </a:solidFill>
                <a:latin typeface="Calibri"/>
              </a:rPr>
              <a:t>Security through Obscurity (keamanan melalui penyembunyian semu) BUKANLAH keamanan sejati. Keamanan sejati bertumpu pada kriptografi enkripsi yang kokoh dan autentikasi yang valid!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SINTESIS MATERI PERKULIAHAN</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Matriks Evaluasi Komparatif 4 Generasi Keamanan WLAN</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Rangkuman komprehensif evolusi standar keamanan dari era rentan hingga generasi anti-serangan offline.</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19</a:t>
            </a:r>
          </a:p>
        </p:txBody>
      </p:sp>
      <p:graphicFrame>
        <p:nvGraphicFramePr>
          <p:cNvPr id="8" name="Table 7"/>
          <p:cNvGraphicFramePr>
            <a:graphicFrameLocks noGrp="1"/>
          </p:cNvGraphicFramePr>
          <p:nvPr/>
        </p:nvGraphicFramePr>
        <p:xfrm>
          <a:off x="731520" y="1536192"/>
          <a:ext cx="10728655" cy="3840480"/>
        </p:xfrm>
        <a:graphic>
          <a:graphicData uri="http://schemas.openxmlformats.org/drawingml/2006/table">
            <a:tbl>
              <a:tblPr firstRow="1" bandRow="1">
                <a:tableStyleId>{5C22544A-7EE6-4342-B048-85BDC9FD1C3A}</a:tableStyleId>
              </a:tblPr>
              <a:tblGrid>
                <a:gridCol w="2103120"/>
                <a:gridCol w="2103120"/>
                <a:gridCol w="2103120"/>
                <a:gridCol w="2194560"/>
                <a:gridCol w="2224735"/>
              </a:tblGrid>
              <a:tr h="548640">
                <a:tc>
                  <a:txBody>
                    <a:bodyPr/>
                    <a:lstStyle/>
                    <a:p>
                      <a:pPr algn="ctr">
                        <a:defRPr sz="1150" b="1">
                          <a:solidFill>
                            <a:srgbClr val="FFFFFF"/>
                          </a:solidFill>
                          <a:latin typeface="Calibri"/>
                        </a:defRPr>
                      </a:pPr>
                      <a:r>
                        <a:t>Parameter</a:t>
                      </a:r>
                    </a:p>
                  </a:txBody>
                  <a:tcPr anchor="ctr">
                    <a:solidFill>
                      <a:srgbClr val="0F172A"/>
                    </a:solidFill>
                  </a:tcPr>
                </a:tc>
                <a:tc>
                  <a:txBody>
                    <a:bodyPr/>
                    <a:lstStyle/>
                    <a:p>
                      <a:pPr algn="ctr">
                        <a:defRPr sz="1150" b="1">
                          <a:solidFill>
                            <a:srgbClr val="FFFFFF"/>
                          </a:solidFill>
                          <a:latin typeface="Calibri"/>
                        </a:defRPr>
                      </a:pPr>
                      <a:r>
                        <a:t>WEP (1997)</a:t>
                      </a:r>
                    </a:p>
                  </a:txBody>
                  <a:tcPr anchor="ctr">
                    <a:solidFill>
                      <a:srgbClr val="0F172A"/>
                    </a:solidFill>
                  </a:tcPr>
                </a:tc>
                <a:tc>
                  <a:txBody>
                    <a:bodyPr/>
                    <a:lstStyle/>
                    <a:p>
                      <a:pPr algn="ctr">
                        <a:defRPr sz="1150" b="1">
                          <a:solidFill>
                            <a:srgbClr val="FFFFFF"/>
                          </a:solidFill>
                          <a:latin typeface="Calibri"/>
                        </a:defRPr>
                      </a:pPr>
                      <a:r>
                        <a:t>WPA-TKIP (2003)</a:t>
                      </a:r>
                    </a:p>
                  </a:txBody>
                  <a:tcPr anchor="ctr">
                    <a:solidFill>
                      <a:srgbClr val="0F172A"/>
                    </a:solidFill>
                  </a:tcPr>
                </a:tc>
                <a:tc>
                  <a:txBody>
                    <a:bodyPr/>
                    <a:lstStyle/>
                    <a:p>
                      <a:pPr algn="ctr">
                        <a:defRPr sz="1150" b="1">
                          <a:solidFill>
                            <a:srgbClr val="FFFFFF"/>
                          </a:solidFill>
                          <a:latin typeface="Calibri"/>
                        </a:defRPr>
                      </a:pPr>
                      <a:r>
                        <a:t>WPA2-CCMP (2004)</a:t>
                      </a:r>
                    </a:p>
                  </a:txBody>
                  <a:tcPr anchor="ctr">
                    <a:solidFill>
                      <a:srgbClr val="0F172A"/>
                    </a:solidFill>
                  </a:tcPr>
                </a:tc>
                <a:tc>
                  <a:txBody>
                    <a:bodyPr/>
                    <a:lstStyle/>
                    <a:p>
                      <a:pPr algn="ctr">
                        <a:defRPr sz="1150" b="1">
                          <a:solidFill>
                            <a:srgbClr val="FFFFFF"/>
                          </a:solidFill>
                          <a:latin typeface="Calibri"/>
                        </a:defRPr>
                      </a:pPr>
                      <a:r>
                        <a:t>WPA3-SAE (2018)</a:t>
                      </a:r>
                    </a:p>
                  </a:txBody>
                  <a:tcPr anchor="ctr">
                    <a:solidFill>
                      <a:srgbClr val="0F172A"/>
                    </a:solidFill>
                  </a:tcPr>
                </a:tc>
              </a:tr>
              <a:tr h="548640">
                <a:tc>
                  <a:txBody>
                    <a:bodyPr/>
                    <a:lstStyle/>
                    <a:p>
                      <a:pPr>
                        <a:defRPr sz="1050" b="1">
                          <a:solidFill>
                            <a:srgbClr val="0F172A"/>
                          </a:solidFill>
                          <a:latin typeface="Calibri"/>
                        </a:defRPr>
                      </a:pPr>
                      <a:r>
                        <a:t>Algoritma Cipher</a:t>
                      </a:r>
                    </a:p>
                  </a:txBody>
                  <a:tcPr anchor="ctr">
                    <a:solidFill>
                      <a:srgbClr val="FFFFFF"/>
                    </a:solidFill>
                  </a:tcPr>
                </a:tc>
                <a:tc>
                  <a:txBody>
                    <a:bodyPr/>
                    <a:lstStyle/>
                    <a:p>
                      <a:pPr>
                        <a:defRPr sz="1050">
                          <a:solidFill>
                            <a:srgbClr val="0F172A"/>
                          </a:solidFill>
                          <a:latin typeface="Calibri"/>
                        </a:defRPr>
                      </a:pPr>
                      <a:r>
                        <a:t>RC4 (Stream Cipher)</a:t>
                      </a:r>
                    </a:p>
                  </a:txBody>
                  <a:tcPr anchor="ctr">
                    <a:solidFill>
                      <a:srgbClr val="FFFFFF"/>
                    </a:solidFill>
                  </a:tcPr>
                </a:tc>
                <a:tc>
                  <a:txBody>
                    <a:bodyPr/>
                    <a:lstStyle/>
                    <a:p>
                      <a:pPr>
                        <a:defRPr sz="1050">
                          <a:solidFill>
                            <a:srgbClr val="0F172A"/>
                          </a:solidFill>
                          <a:latin typeface="Calibri"/>
                        </a:defRPr>
                      </a:pPr>
                      <a:r>
                        <a:t>RC4 (Stream Cipher)</a:t>
                      </a:r>
                    </a:p>
                  </a:txBody>
                  <a:tcPr anchor="ctr">
                    <a:solidFill>
                      <a:srgbClr val="FFFFFF"/>
                    </a:solidFill>
                  </a:tcPr>
                </a:tc>
                <a:tc>
                  <a:txBody>
                    <a:bodyPr/>
                    <a:lstStyle/>
                    <a:p>
                      <a:pPr>
                        <a:defRPr sz="1050">
                          <a:solidFill>
                            <a:srgbClr val="0F172A"/>
                          </a:solidFill>
                          <a:latin typeface="Calibri"/>
                        </a:defRPr>
                      </a:pPr>
                      <a:r>
                        <a:t>AES (Block Cipher)</a:t>
                      </a:r>
                    </a:p>
                  </a:txBody>
                  <a:tcPr anchor="ctr">
                    <a:solidFill>
                      <a:srgbClr val="FFFFFF"/>
                    </a:solidFill>
                  </a:tcPr>
                </a:tc>
                <a:tc>
                  <a:txBody>
                    <a:bodyPr/>
                    <a:lstStyle/>
                    <a:p>
                      <a:pPr>
                        <a:defRPr sz="1050">
                          <a:solidFill>
                            <a:srgbClr val="0F172A"/>
                          </a:solidFill>
                          <a:latin typeface="Calibri"/>
                        </a:defRPr>
                      </a:pPr>
                      <a:r>
                        <a:t>AES / CNSA 192-bit</a:t>
                      </a:r>
                    </a:p>
                  </a:txBody>
                  <a:tcPr anchor="ctr">
                    <a:solidFill>
                      <a:srgbClr val="FFFFFF"/>
                    </a:solidFill>
                  </a:tcPr>
                </a:tc>
              </a:tr>
              <a:tr h="548640">
                <a:tc>
                  <a:txBody>
                    <a:bodyPr/>
                    <a:lstStyle/>
                    <a:p>
                      <a:pPr>
                        <a:defRPr sz="1050" b="1">
                          <a:solidFill>
                            <a:srgbClr val="0F172A"/>
                          </a:solidFill>
                          <a:latin typeface="Calibri"/>
                        </a:defRPr>
                      </a:pPr>
                      <a:r>
                        <a:t>Ukuran Kunci / IV</a:t>
                      </a:r>
                    </a:p>
                  </a:txBody>
                  <a:tcPr anchor="ctr">
                    <a:solidFill>
                      <a:srgbClr val="F1F5F9"/>
                    </a:solidFill>
                  </a:tcPr>
                </a:tc>
                <a:tc>
                  <a:txBody>
                    <a:bodyPr/>
                    <a:lstStyle/>
                    <a:p>
                      <a:pPr>
                        <a:defRPr sz="1050">
                          <a:solidFill>
                            <a:srgbClr val="0F172A"/>
                          </a:solidFill>
                          <a:latin typeface="Calibri"/>
                        </a:defRPr>
                      </a:pPr>
                      <a:r>
                        <a:t>Kunci 64/128-bit, IV 24-bit</a:t>
                      </a:r>
                    </a:p>
                  </a:txBody>
                  <a:tcPr anchor="ctr">
                    <a:solidFill>
                      <a:srgbClr val="F1F5F9"/>
                    </a:solidFill>
                  </a:tcPr>
                </a:tc>
                <a:tc>
                  <a:txBody>
                    <a:bodyPr/>
                    <a:lstStyle/>
                    <a:p>
                      <a:pPr>
                        <a:defRPr sz="1050">
                          <a:solidFill>
                            <a:srgbClr val="0F172A"/>
                          </a:solidFill>
                          <a:latin typeface="Calibri"/>
                        </a:defRPr>
                      </a:pPr>
                      <a:r>
                        <a:t>Kunci 128-bit, IV 48-bit</a:t>
                      </a:r>
                    </a:p>
                  </a:txBody>
                  <a:tcPr anchor="ctr">
                    <a:solidFill>
                      <a:srgbClr val="F1F5F9"/>
                    </a:solidFill>
                  </a:tcPr>
                </a:tc>
                <a:tc>
                  <a:txBody>
                    <a:bodyPr/>
                    <a:lstStyle/>
                    <a:p>
                      <a:pPr>
                        <a:defRPr sz="1050">
                          <a:solidFill>
                            <a:srgbClr val="0F172A"/>
                          </a:solidFill>
                          <a:latin typeface="Calibri"/>
                        </a:defRPr>
                      </a:pPr>
                      <a:r>
                        <a:t>Kunci 128-bit, Nonce 48-bit</a:t>
                      </a:r>
                    </a:p>
                  </a:txBody>
                  <a:tcPr anchor="ctr">
                    <a:solidFill>
                      <a:srgbClr val="F1F5F9"/>
                    </a:solidFill>
                  </a:tcPr>
                </a:tc>
                <a:tc>
                  <a:txBody>
                    <a:bodyPr/>
                    <a:lstStyle/>
                    <a:p>
                      <a:pPr>
                        <a:defRPr sz="1050">
                          <a:solidFill>
                            <a:srgbClr val="0F172A"/>
                          </a:solidFill>
                          <a:latin typeface="Calibri"/>
                        </a:defRPr>
                      </a:pPr>
                      <a:r>
                        <a:t>Kunci 128/192-bit, ECC 256</a:t>
                      </a:r>
                    </a:p>
                  </a:txBody>
                  <a:tcPr anchor="ctr">
                    <a:solidFill>
                      <a:srgbClr val="F1F5F9"/>
                    </a:solidFill>
                  </a:tcPr>
                </a:tc>
              </a:tr>
              <a:tr h="548640">
                <a:tc>
                  <a:txBody>
                    <a:bodyPr/>
                    <a:lstStyle/>
                    <a:p>
                      <a:pPr>
                        <a:defRPr sz="1050" b="1">
                          <a:solidFill>
                            <a:srgbClr val="0F172A"/>
                          </a:solidFill>
                          <a:latin typeface="Calibri"/>
                        </a:defRPr>
                      </a:pPr>
                      <a:r>
                        <a:t>Metode Integritas</a:t>
                      </a:r>
                    </a:p>
                  </a:txBody>
                  <a:tcPr anchor="ctr">
                    <a:solidFill>
                      <a:srgbClr val="FFFFFF"/>
                    </a:solidFill>
                  </a:tcPr>
                </a:tc>
                <a:tc>
                  <a:txBody>
                    <a:bodyPr/>
                    <a:lstStyle/>
                    <a:p>
                      <a:pPr>
                        <a:defRPr sz="1050">
                          <a:solidFill>
                            <a:srgbClr val="0F172A"/>
                          </a:solidFill>
                          <a:latin typeface="Calibri"/>
                        </a:defRPr>
                      </a:pPr>
                      <a:r>
                        <a:t>CRC32 (Linear, Rentan)</a:t>
                      </a:r>
                    </a:p>
                  </a:txBody>
                  <a:tcPr anchor="ctr">
                    <a:solidFill>
                      <a:srgbClr val="FFFFFF"/>
                    </a:solidFill>
                  </a:tcPr>
                </a:tc>
                <a:tc>
                  <a:txBody>
                    <a:bodyPr/>
                    <a:lstStyle/>
                    <a:p>
                      <a:pPr>
                        <a:defRPr sz="1050">
                          <a:solidFill>
                            <a:srgbClr val="0F172A"/>
                          </a:solidFill>
                          <a:latin typeface="Calibri"/>
                        </a:defRPr>
                      </a:pPr>
                      <a:r>
                        <a:t>Michael MIC (64-bit)</a:t>
                      </a:r>
                    </a:p>
                  </a:txBody>
                  <a:tcPr anchor="ctr">
                    <a:solidFill>
                      <a:srgbClr val="FFFFFF"/>
                    </a:solidFill>
                  </a:tcPr>
                </a:tc>
                <a:tc>
                  <a:txBody>
                    <a:bodyPr/>
                    <a:lstStyle/>
                    <a:p>
                      <a:pPr>
                        <a:defRPr sz="1050">
                          <a:solidFill>
                            <a:srgbClr val="0F172A"/>
                          </a:solidFill>
                          <a:latin typeface="Calibri"/>
                        </a:defRPr>
                      </a:pPr>
                      <a:r>
                        <a:t>CBC-MAC (Kriptografis)</a:t>
                      </a:r>
                    </a:p>
                  </a:txBody>
                  <a:tcPr anchor="ctr">
                    <a:solidFill>
                      <a:srgbClr val="FFFFFF"/>
                    </a:solidFill>
                  </a:tcPr>
                </a:tc>
                <a:tc>
                  <a:txBody>
                    <a:bodyPr/>
                    <a:lstStyle/>
                    <a:p>
                      <a:pPr>
                        <a:defRPr sz="1050">
                          <a:solidFill>
                            <a:srgbClr val="0F172A"/>
                          </a:solidFill>
                          <a:latin typeface="Calibri"/>
                        </a:defRPr>
                      </a:pPr>
                      <a:r>
                        <a:t>BIP / GMAC (Kriptografis)</a:t>
                      </a:r>
                    </a:p>
                  </a:txBody>
                  <a:tcPr anchor="ctr">
                    <a:solidFill>
                      <a:srgbClr val="FFFFFF"/>
                    </a:solidFill>
                  </a:tcPr>
                </a:tc>
              </a:tr>
              <a:tr h="548640">
                <a:tc>
                  <a:txBody>
                    <a:bodyPr/>
                    <a:lstStyle/>
                    <a:p>
                      <a:pPr>
                        <a:defRPr sz="1050" b="1">
                          <a:solidFill>
                            <a:srgbClr val="0F172A"/>
                          </a:solidFill>
                          <a:latin typeface="Calibri"/>
                        </a:defRPr>
                      </a:pPr>
                      <a:r>
                        <a:t>Protokol Handshake</a:t>
                      </a:r>
                    </a:p>
                  </a:txBody>
                  <a:tcPr anchor="ctr">
                    <a:solidFill>
                      <a:srgbClr val="F1F5F9"/>
                    </a:solidFill>
                  </a:tcPr>
                </a:tc>
                <a:tc>
                  <a:txBody>
                    <a:bodyPr/>
                    <a:lstStyle/>
                    <a:p>
                      <a:pPr>
                        <a:defRPr sz="1050">
                          <a:solidFill>
                            <a:srgbClr val="0F172A"/>
                          </a:solidFill>
                          <a:latin typeface="Calibri"/>
                        </a:defRPr>
                      </a:pPr>
                      <a:r>
                        <a:t>Shared Key (Tantangan)</a:t>
                      </a:r>
                    </a:p>
                  </a:txBody>
                  <a:tcPr anchor="ctr">
                    <a:solidFill>
                      <a:srgbClr val="F1F5F9"/>
                    </a:solidFill>
                  </a:tcPr>
                </a:tc>
                <a:tc>
                  <a:txBody>
                    <a:bodyPr/>
                    <a:lstStyle/>
                    <a:p>
                      <a:pPr>
                        <a:defRPr sz="1050">
                          <a:solidFill>
                            <a:srgbClr val="0F172A"/>
                          </a:solidFill>
                          <a:latin typeface="Calibri"/>
                        </a:defRPr>
                      </a:pPr>
                      <a:r>
                        <a:t>4-Way Handshake EAPoL</a:t>
                      </a:r>
                    </a:p>
                  </a:txBody>
                  <a:tcPr anchor="ctr">
                    <a:solidFill>
                      <a:srgbClr val="F1F5F9"/>
                    </a:solidFill>
                  </a:tcPr>
                </a:tc>
                <a:tc>
                  <a:txBody>
                    <a:bodyPr/>
                    <a:lstStyle/>
                    <a:p>
                      <a:pPr>
                        <a:defRPr sz="1050">
                          <a:solidFill>
                            <a:srgbClr val="0F172A"/>
                          </a:solidFill>
                          <a:latin typeface="Calibri"/>
                        </a:defRPr>
                      </a:pPr>
                      <a:r>
                        <a:t>4-Way Handshake EAPoL</a:t>
                      </a:r>
                    </a:p>
                  </a:txBody>
                  <a:tcPr anchor="ctr">
                    <a:solidFill>
                      <a:srgbClr val="F1F5F9"/>
                    </a:solidFill>
                  </a:tcPr>
                </a:tc>
                <a:tc>
                  <a:txBody>
                    <a:bodyPr/>
                    <a:lstStyle/>
                    <a:p>
                      <a:pPr>
                        <a:defRPr sz="1050">
                          <a:solidFill>
                            <a:srgbClr val="0F172A"/>
                          </a:solidFill>
                          <a:latin typeface="Calibri"/>
                        </a:defRPr>
                      </a:pPr>
                      <a:r>
                        <a:t>Dragonfly Handshake (SAE)</a:t>
                      </a:r>
                    </a:p>
                  </a:txBody>
                  <a:tcPr anchor="ctr">
                    <a:solidFill>
                      <a:srgbClr val="F1F5F9"/>
                    </a:solidFill>
                  </a:tcPr>
                </a:tc>
              </a:tr>
              <a:tr h="548640">
                <a:tc>
                  <a:txBody>
                    <a:bodyPr/>
                    <a:lstStyle/>
                    <a:p>
                      <a:pPr>
                        <a:defRPr sz="1050" b="1">
                          <a:solidFill>
                            <a:srgbClr val="0F172A"/>
                          </a:solidFill>
                          <a:latin typeface="Calibri"/>
                        </a:defRPr>
                      </a:pPr>
                      <a:r>
                        <a:t>Ketahanan Offline</a:t>
                      </a:r>
                    </a:p>
                  </a:txBody>
                  <a:tcPr anchor="ctr">
                    <a:solidFill>
                      <a:srgbClr val="FFFFFF"/>
                    </a:solidFill>
                  </a:tcPr>
                </a:tc>
                <a:tc>
                  <a:txBody>
                    <a:bodyPr/>
                    <a:lstStyle/>
                    <a:p>
                      <a:pPr>
                        <a:defRPr sz="1050">
                          <a:solidFill>
                            <a:srgbClr val="0F172A"/>
                          </a:solidFill>
                          <a:latin typeface="Calibri"/>
                        </a:defRPr>
                      </a:pPr>
                      <a:r>
                        <a:t>Rusak Total (FMS/PTW)</a:t>
                      </a:r>
                    </a:p>
                  </a:txBody>
                  <a:tcPr anchor="ctr">
                    <a:solidFill>
                      <a:srgbClr val="FFFFFF"/>
                    </a:solidFill>
                  </a:tcPr>
                </a:tc>
                <a:tc>
                  <a:txBody>
                    <a:bodyPr/>
                    <a:lstStyle/>
                    <a:p>
                      <a:pPr>
                        <a:defRPr sz="1050">
                          <a:solidFill>
                            <a:srgbClr val="0F172A"/>
                          </a:solidFill>
                          <a:latin typeface="Calibri"/>
                        </a:defRPr>
                      </a:pPr>
                      <a:r>
                        <a:t>Rentan (Beck-Tews)</a:t>
                      </a:r>
                    </a:p>
                  </a:txBody>
                  <a:tcPr anchor="ctr">
                    <a:solidFill>
                      <a:srgbClr val="FFFFFF"/>
                    </a:solidFill>
                  </a:tcPr>
                </a:tc>
                <a:tc>
                  <a:txBody>
                    <a:bodyPr/>
                    <a:lstStyle/>
                    <a:p>
                      <a:pPr>
                        <a:defRPr sz="1050">
                          <a:solidFill>
                            <a:srgbClr val="0F172A"/>
                          </a:solidFill>
                          <a:latin typeface="Calibri"/>
                        </a:defRPr>
                      </a:pPr>
                      <a:r>
                        <a:t>Rentan Kamus Hashcat</a:t>
                      </a:r>
                    </a:p>
                  </a:txBody>
                  <a:tcPr anchor="ctr">
                    <a:solidFill>
                      <a:srgbClr val="FFFFFF"/>
                    </a:solidFill>
                  </a:tcPr>
                </a:tc>
                <a:tc>
                  <a:txBody>
                    <a:bodyPr/>
                    <a:lstStyle/>
                    <a:p>
                      <a:pPr>
                        <a:defRPr sz="1050">
                          <a:solidFill>
                            <a:srgbClr val="0F172A"/>
                          </a:solidFill>
                          <a:latin typeface="Calibri"/>
                        </a:defRPr>
                      </a:pPr>
                      <a:r>
                        <a:t>Kebal Mutlak (Anti-Offline)</a:t>
                      </a:r>
                    </a:p>
                  </a:txBody>
                  <a:tcPr anchor="ctr">
                    <a:solidFill>
                      <a:srgbClr val="FFFFFF"/>
                    </a:solidFill>
                  </a:tcPr>
                </a:tc>
              </a:tr>
              <a:tr h="548640">
                <a:tc>
                  <a:txBody>
                    <a:bodyPr/>
                    <a:lstStyle/>
                    <a:p>
                      <a:pPr>
                        <a:defRPr sz="1050" b="1">
                          <a:solidFill>
                            <a:srgbClr val="0F172A"/>
                          </a:solidFill>
                          <a:latin typeface="Calibri"/>
                        </a:defRPr>
                      </a:pPr>
                      <a:r>
                        <a:t>Status Industri</a:t>
                      </a:r>
                    </a:p>
                  </a:txBody>
                  <a:tcPr anchor="ctr">
                    <a:solidFill>
                      <a:srgbClr val="F1F5F9"/>
                    </a:solidFill>
                  </a:tcPr>
                </a:tc>
                <a:tc>
                  <a:txBody>
                    <a:bodyPr/>
                    <a:lstStyle/>
                    <a:p>
                      <a:pPr>
                        <a:defRPr sz="1050">
                          <a:solidFill>
                            <a:srgbClr val="0F172A"/>
                          </a:solidFill>
                          <a:latin typeface="Calibri"/>
                        </a:defRPr>
                      </a:pPr>
                      <a:r>
                        <a:t>DILARANG KERAS</a:t>
                      </a:r>
                    </a:p>
                  </a:txBody>
                  <a:tcPr anchor="ctr">
                    <a:solidFill>
                      <a:srgbClr val="F1F5F9"/>
                    </a:solidFill>
                  </a:tcPr>
                </a:tc>
                <a:tc>
                  <a:txBody>
                    <a:bodyPr/>
                    <a:lstStyle/>
                    <a:p>
                      <a:pPr>
                        <a:defRPr sz="1050">
                          <a:solidFill>
                            <a:srgbClr val="0F172A"/>
                          </a:solidFill>
                          <a:latin typeface="Calibri"/>
                        </a:defRPr>
                      </a:pPr>
                      <a:r>
                        <a:t>DEPRECATED (Dilarang)</a:t>
                      </a:r>
                    </a:p>
                  </a:txBody>
                  <a:tcPr anchor="ctr">
                    <a:solidFill>
                      <a:srgbClr val="F1F5F9"/>
                    </a:solidFill>
                  </a:tcPr>
                </a:tc>
                <a:tc>
                  <a:txBody>
                    <a:bodyPr/>
                    <a:lstStyle/>
                    <a:p>
                      <a:pPr>
                        <a:defRPr sz="1050">
                          <a:solidFill>
                            <a:srgbClr val="0F172A"/>
                          </a:solidFill>
                          <a:latin typeface="Calibri"/>
                        </a:defRPr>
                      </a:pPr>
                      <a:r>
                        <a:t>STANDAR SAAT INI</a:t>
                      </a:r>
                    </a:p>
                  </a:txBody>
                  <a:tcPr anchor="ctr">
                    <a:solidFill>
                      <a:srgbClr val="F1F5F9"/>
                    </a:solidFill>
                  </a:tcPr>
                </a:tc>
                <a:tc>
                  <a:txBody>
                    <a:bodyPr/>
                    <a:lstStyle/>
                    <a:p>
                      <a:pPr>
                        <a:defRPr sz="1050">
                          <a:solidFill>
                            <a:srgbClr val="0F172A"/>
                          </a:solidFill>
                          <a:latin typeface="Calibri"/>
                        </a:defRPr>
                      </a:pPr>
                      <a:r>
                        <a:t>STANDAR MASA DEPAN</a:t>
                      </a:r>
                    </a:p>
                  </a:txBody>
                  <a:tcPr anchor="ctr">
                    <a:solidFill>
                      <a:srgbClr val="F1F5F9"/>
                    </a:solidFill>
                  </a:tcPr>
                </a:tc>
              </a:tr>
            </a:tbl>
          </a:graphicData>
        </a:graphic>
      </p:graphicFrame>
      <p:sp>
        <p:nvSpPr>
          <p:cNvPr id="9" name="TextBox 8"/>
          <p:cNvSpPr txBox="1"/>
          <p:nvPr/>
        </p:nvSpPr>
        <p:spPr>
          <a:xfrm>
            <a:off x="731520" y="5239512"/>
            <a:ext cx="10728655" cy="548640"/>
          </a:xfrm>
          <a:prstGeom prst="rect">
            <a:avLst/>
          </a:prstGeom>
          <a:noFill/>
        </p:spPr>
        <p:txBody>
          <a:bodyPr wrap="square" lIns="0" tIns="0" rIns="0" bIns="0">
            <a:spAutoFit/>
          </a:bodyPr>
          <a:lstStyle/>
          <a:p>
            <a:pPr>
              <a:defRPr sz="1100" b="1">
                <a:solidFill>
                  <a:srgbClr val="2563EB"/>
                </a:solidFill>
                <a:latin typeface="Calibri"/>
              </a:defRPr>
            </a:pPr>
            <a:r>
              <a:t>Catatan Penting Lapangan: </a:t>
            </a:r>
            <a:r>
              <a:rPr sz="1100" b="0">
                <a:solidFill>
                  <a:srgbClr val="0F172A"/>
                </a:solidFill>
                <a:latin typeface="Calibri"/>
              </a:rPr>
              <a:t>Perangkat produksi kampus wajib mengaktifkan minimal WPA2-AES murni (bukan mixed TKIP) dan mulai bertransisi menuju WPA3-Personal/Enterprise.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100" b="1">
                <a:solidFill>
                  <a:srgbClr val="2563EB"/>
                </a:solidFill>
                <a:latin typeface="Calibri"/>
              </a:defRPr>
            </a:pPr>
            <a:r>
              <a:t>PENUTUP &amp; ORIENTASI MASA DEPAN</a:t>
            </a:r>
          </a:p>
        </p:txBody>
      </p:sp>
      <p:sp>
        <p:nvSpPr>
          <p:cNvPr id="3" name="TextBox 2"/>
          <p:cNvSpPr txBox="1"/>
          <p:nvPr/>
        </p:nvSpPr>
        <p:spPr>
          <a:xfrm>
            <a:off x="731520" y="640080"/>
            <a:ext cx="10728655" cy="502920"/>
          </a:xfrm>
          <a:prstGeom prst="rect">
            <a:avLst/>
          </a:prstGeom>
          <a:noFill/>
        </p:spPr>
        <p:txBody>
          <a:bodyPr wrap="square" lIns="0" tIns="0" rIns="0" bIns="0">
            <a:spAutoFit/>
          </a:bodyPr>
          <a:lstStyle/>
          <a:p>
            <a:pPr>
              <a:defRPr sz="2200" b="1">
                <a:solidFill>
                  <a:srgbClr val="0F172A"/>
                </a:solidFill>
                <a:latin typeface="Calibri"/>
              </a:defRPr>
            </a:pPr>
            <a:r>
              <a:t>Kesimpulan Pertemuan 1 &amp; Jembatan ke Pertemuan 2</a:t>
            </a:r>
          </a:p>
        </p:txBody>
      </p:sp>
      <p:sp>
        <p:nvSpPr>
          <p:cNvPr id="4" name="TextBox 3"/>
          <p:cNvSpPr txBox="1"/>
          <p:nvPr/>
        </p:nvSpPr>
        <p:spPr>
          <a:xfrm>
            <a:off x="731520" y="1143000"/>
            <a:ext cx="10728655" cy="320040"/>
          </a:xfrm>
          <a:prstGeom prst="rect">
            <a:avLst/>
          </a:prstGeom>
          <a:noFill/>
        </p:spPr>
        <p:txBody>
          <a:bodyPr wrap="square" lIns="0" tIns="0" rIns="0" bIns="0">
            <a:spAutoFit/>
          </a:bodyPr>
          <a:lstStyle/>
          <a:p>
            <a:pPr>
              <a:defRPr sz="1300">
                <a:solidFill>
                  <a:srgbClr val="475569"/>
                </a:solidFill>
                <a:latin typeface="Calibri"/>
              </a:defRPr>
            </a:pPr>
            <a:r>
              <a:t>Sintesis capaian hari ini dan pintu masuk menuju modul eksploitasi serangan aktif &amp; solusi enterprise.</a:t>
            </a:r>
          </a:p>
        </p:txBody>
      </p:sp>
      <p:sp>
        <p:nvSpPr>
          <p:cNvPr id="5" name="Rectangle 4"/>
          <p:cNvSpPr/>
          <p:nvPr/>
        </p:nvSpPr>
        <p:spPr>
          <a:xfrm>
            <a:off x="731520" y="6309360"/>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8686800" cy="274320"/>
          </a:xfrm>
          <a:prstGeom prst="rect">
            <a:avLst/>
          </a:prstGeom>
          <a:noFill/>
        </p:spPr>
        <p:txBody>
          <a:bodyPr wrap="square" lIns="0" tIns="0" rIns="0" bIns="0">
            <a:spAutoFit/>
          </a:bodyPr>
          <a:lstStyle/>
          <a:p>
            <a:pPr>
              <a:defRPr sz="1000">
                <a:solidFill>
                  <a:srgbClr val="475569"/>
                </a:solidFill>
                <a:latin typeface="Calibri"/>
              </a:defRPr>
            </a:pPr>
            <a:r>
              <a:t>Sistem Komunikasi Nirkabel (TRK Politani) • Minggu IX • Pertemuan 1 • Dosen: M. Riza Nurtam, M.Kom</a:t>
            </a:r>
          </a:p>
        </p:txBody>
      </p:sp>
      <p:sp>
        <p:nvSpPr>
          <p:cNvPr id="7" name="TextBox 6"/>
          <p:cNvSpPr txBox="1"/>
          <p:nvPr/>
        </p:nvSpPr>
        <p:spPr>
          <a:xfrm>
            <a:off x="9601200" y="6355080"/>
            <a:ext cx="1858975" cy="274320"/>
          </a:xfrm>
          <a:prstGeom prst="rect">
            <a:avLst/>
          </a:prstGeom>
          <a:noFill/>
        </p:spPr>
        <p:txBody>
          <a:bodyPr wrap="none" lIns="0" tIns="0" rIns="0" bIns="0">
            <a:spAutoFit/>
          </a:bodyPr>
          <a:lstStyle/>
          <a:p>
            <a:pPr algn="r">
              <a:defRPr sz="1000" b="1">
                <a:solidFill>
                  <a:srgbClr val="2563EB"/>
                </a:solidFill>
                <a:latin typeface="Calibri"/>
              </a:defRPr>
            </a:pPr>
            <a:r>
              <a:t>Slide 20</a:t>
            </a:r>
          </a:p>
        </p:txBody>
      </p:sp>
      <p:sp>
        <p:nvSpPr>
          <p:cNvPr id="8" name="Rounded Rectangle 7"/>
          <p:cNvSpPr/>
          <p:nvPr/>
        </p:nvSpPr>
        <p:spPr>
          <a:xfrm>
            <a:off x="731520"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36192"/>
            <a:ext cx="5204307"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RANGKUMAN INTI PERTEMUAN 1</a:t>
            </a:r>
          </a:p>
        </p:txBody>
      </p:sp>
      <p:sp>
        <p:nvSpPr>
          <p:cNvPr id="10" name="TextBox 9"/>
          <p:cNvSpPr txBox="1"/>
          <p:nvPr/>
        </p:nvSpPr>
        <p:spPr>
          <a:xfrm>
            <a:off x="914400"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Media Terbuka: </a:t>
            </a:r>
            <a:r>
              <a:rPr b="0">
                <a:solidFill>
                  <a:srgbClr val="0F172A"/>
                </a:solidFill>
              </a:rPr>
              <a:t>Jaringan Wi-Fi tidak memiliki batas fisik; sinyal RF merambat bebas dan membutuhkan proteksi kriptografi tangguh.</a:t>
            </a:r>
          </a:p>
          <a:p>
            <a:pPr>
              <a:spcAft>
                <a:spcPts val="800"/>
              </a:spcAft>
              <a:defRPr sz="1150" b="1">
                <a:solidFill>
                  <a:srgbClr val="0F172A"/>
                </a:solidFill>
                <a:latin typeface="Calibri"/>
              </a:defRPr>
            </a:pPr>
            <a:r>
              <a:t>• Evolusi Cipher: </a:t>
            </a:r>
            <a:r>
              <a:rPr b="0">
                <a:solidFill>
                  <a:srgbClr val="0F172A"/>
                </a:solidFill>
              </a:rPr>
              <a:t>Stream cipher RC4 (WEP &amp; TKIP) telah usang dan gagal total. Block cipher AES-128 adalah fondasi utama keamanan nirkabel modern.</a:t>
            </a:r>
          </a:p>
          <a:p>
            <a:pPr>
              <a:spcAft>
                <a:spcPts val="800"/>
              </a:spcAft>
              <a:defRPr sz="1150" b="1">
                <a:solidFill>
                  <a:srgbClr val="0F172A"/>
                </a:solidFill>
                <a:latin typeface="Calibri"/>
              </a:defRPr>
            </a:pPr>
            <a:r>
              <a:t>• Celah WPA2-PSK: </a:t>
            </a:r>
            <a:r>
              <a:rPr b="0">
                <a:solidFill>
                  <a:srgbClr val="0F172A"/>
                </a:solidFill>
              </a:rPr>
              <a:t>Meskipun AES sangat kuat, penggunaan Pre-Shared Key (password tunggal bersama) rentan terhadap perekaman 4-Way Handshake dan Offline Dictionary Cracking.</a:t>
            </a:r>
          </a:p>
          <a:p>
            <a:pPr>
              <a:spcAft>
                <a:spcPts val="800"/>
              </a:spcAft>
              <a:defRPr sz="1150" b="1">
                <a:solidFill>
                  <a:srgbClr val="0F172A"/>
                </a:solidFill>
                <a:latin typeface="Calibri"/>
              </a:defRPr>
            </a:pPr>
            <a:r>
              <a:t>• Solusi WPA3: </a:t>
            </a:r>
            <a:r>
              <a:rPr b="0">
                <a:solidFill>
                  <a:srgbClr val="0F172A"/>
                </a:solidFill>
              </a:rPr>
              <a:t>WPA3-SAE menutup celah offline cracking menggunakan Dragonfly Handshake berbasis ECC.</a:t>
            </a:r>
          </a:p>
        </p:txBody>
      </p:sp>
      <p:sp>
        <p:nvSpPr>
          <p:cNvPr id="11" name="Rounded Rectangle 10"/>
          <p:cNvSpPr/>
          <p:nvPr/>
        </p:nvSpPr>
        <p:spPr>
          <a:xfrm>
            <a:off x="6255867" y="1536192"/>
            <a:ext cx="5204307" cy="38862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5867" y="1536192"/>
            <a:ext cx="5204307"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  PENGANTAR MENUJU PERTEMUAN 2 (MINGGU X)</a:t>
            </a:r>
          </a:p>
        </p:txBody>
      </p:sp>
      <p:sp>
        <p:nvSpPr>
          <p:cNvPr id="13" name="TextBox 12"/>
          <p:cNvSpPr txBox="1"/>
          <p:nvPr/>
        </p:nvSpPr>
        <p:spPr>
          <a:xfrm>
            <a:off x="6438747" y="2130552"/>
            <a:ext cx="4838547" cy="3200400"/>
          </a:xfrm>
          <a:prstGeom prst="rect">
            <a:avLst/>
          </a:prstGeom>
          <a:noFill/>
        </p:spPr>
        <p:txBody>
          <a:bodyPr wrap="square" lIns="0" tIns="0" rIns="0" bIns="0">
            <a:spAutoFit/>
          </a:bodyPr>
          <a:lstStyle/>
          <a:p>
            <a:pPr>
              <a:spcAft>
                <a:spcPts val="800"/>
              </a:spcAft>
              <a:defRPr sz="1150" b="1">
                <a:solidFill>
                  <a:srgbClr val="0F172A"/>
                </a:solidFill>
                <a:latin typeface="Calibri"/>
              </a:defRPr>
            </a:pPr>
            <a:r>
              <a:t>• Pertanyaan Kritis: </a:t>
            </a:r>
            <a:r>
              <a:rPr b="0">
                <a:solidFill>
                  <a:srgbClr val="0F172A"/>
                </a:solidFill>
              </a:rPr>
              <a:t>'Jika algoritma AES-128 tidak pernah berhasil dibobol, bagaimana cara hacker menyerang jaringan Wi-Fi kampus kita?'</a:t>
            </a:r>
          </a:p>
          <a:p>
            <a:pPr>
              <a:spcAft>
                <a:spcPts val="800"/>
              </a:spcAft>
              <a:defRPr sz="1150" b="1">
                <a:solidFill>
                  <a:srgbClr val="0F172A"/>
                </a:solidFill>
                <a:latin typeface="Calibri"/>
              </a:defRPr>
            </a:pPr>
            <a:r>
              <a:t>• Serangan Aktif Layer 2: </a:t>
            </a:r>
            <a:r>
              <a:rPr b="0">
                <a:solidFill>
                  <a:srgbClr val="0F172A"/>
                </a:solidFill>
              </a:rPr>
              <a:t>Di Pertemuan 2 kita akan membedah serangan Deauthentication Flooding, bahaya colokan Rogue AP, serta penyamaran sinyal Evil Twin Captive Portal.</a:t>
            </a:r>
          </a:p>
          <a:p>
            <a:pPr>
              <a:spcAft>
                <a:spcPts val="800"/>
              </a:spcAft>
              <a:defRPr sz="1150" b="1">
                <a:solidFill>
                  <a:srgbClr val="0F172A"/>
                </a:solidFill>
                <a:latin typeface="Calibri"/>
              </a:defRPr>
            </a:pPr>
            <a:r>
              <a:t>• Serangan Canggih: </a:t>
            </a:r>
            <a:r>
              <a:rPr b="0">
                <a:solidFill>
                  <a:srgbClr val="0F172A"/>
                </a:solidFill>
              </a:rPr>
              <a:t>Membedah cara kerja serangan KRACK (Key Reinstallation) dan PMKID Clientless Attack.</a:t>
            </a:r>
          </a:p>
          <a:p>
            <a:pPr>
              <a:spcAft>
                <a:spcPts val="800"/>
              </a:spcAft>
              <a:defRPr sz="1150" b="1">
                <a:solidFill>
                  <a:srgbClr val="0F172A"/>
                </a:solidFill>
                <a:latin typeface="Calibri"/>
              </a:defRPr>
            </a:pPr>
            <a:r>
              <a:t>• Solusi Skala Besar: </a:t>
            </a:r>
            <a:r>
              <a:rPr b="0">
                <a:solidFill>
                  <a:srgbClr val="0F172A"/>
                </a:solidFill>
              </a:rPr>
              <a:t>Membangun arsitektur WPA-Enterprise (IEEE 802.1X) berbasis server RADIUS untuk autentikasi individu mahasiswa!</a:t>
            </a:r>
          </a:p>
        </p:txBody>
      </p:sp>
      <p:sp>
        <p:nvSpPr>
          <p:cNvPr id="14" name="Rounded Rectangle 13"/>
          <p:cNvSpPr/>
          <p:nvPr/>
        </p:nvSpPr>
        <p:spPr>
          <a:xfrm>
            <a:off x="731520" y="5559552"/>
            <a:ext cx="10728655" cy="68580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32704"/>
            <a:ext cx="10454335" cy="539496"/>
          </a:xfrm>
          <a:prstGeom prst="rect">
            <a:avLst/>
          </a:prstGeom>
          <a:noFill/>
        </p:spPr>
        <p:txBody>
          <a:bodyPr wrap="square" lIns="0" tIns="0" rIns="0" bIns="0">
            <a:spAutoFit/>
          </a:bodyPr>
          <a:lstStyle/>
          <a:p>
            <a:pPr>
              <a:defRPr sz="1100" b="1">
                <a:solidFill>
                  <a:srgbClr val="2563EB"/>
                </a:solidFill>
                <a:latin typeface="Calibri"/>
              </a:defRPr>
            </a:pPr>
            <a:r>
              <a:t>ARAHAN PRAKTIKUM MINGGU INI: </a:t>
            </a:r>
            <a:r>
              <a:rPr sz="1100" b="0">
                <a:solidFill>
                  <a:srgbClr val="0F172A"/>
                </a:solidFill>
                <a:latin typeface="Calibri"/>
              </a:rPr>
              <a:t>Buka modul Praktikum.md: Kita akan mempraktikkan pengaktifan Monitor Mode pada Linux, pemindaian airodump-ng, penangkapan frame Beacon &amp; Data, serta inspeksi header frame 802.11 menggunakan Wireshark.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