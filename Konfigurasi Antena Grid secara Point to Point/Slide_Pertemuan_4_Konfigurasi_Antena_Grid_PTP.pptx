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7160" cy="3474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2412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59669"/>
                </a:solidFill>
                <a:latin typeface="Calibri"/>
              </a:defRPr>
            </a:pPr>
            <a:r>
              <a:t>TEKNOLOGI REKAYASA KOMPUTER (TRK) • SISTEM KOMUNIKASI NIRKABEL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Teknologi Link Point to Point (PTP) &amp; Konfigurasi Antena Grid</a:t>
            </a:r>
          </a:p>
          <a:p>
            <a:pPr>
              <a:spcAft>
                <a:spcPts val="3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Pertemuan 4 (Minggu XII) | Alokasi Waktu: 210 Menit (3 x 70 Menit) (Terapan &amp; Praktis Network Engineer)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Dosen Pengampu: M. Riza Nurtam, M.Kom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Jurusan Rekayasa Pertanian dan Komputer - Politeknik Pertanian Negeri Pangkajene dan Kepulauan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RELOAD &amp; JEMBATAN MATERI PERKULIAHAN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Reload Terpadu: Mengintegrasikan Keamanan, Antena, &amp; PTP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Jembatan Konseptual: Menghubungkan Pemahaman Sebelumnya Menuju Tantangan Baru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794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KILAS BALIK MATERI SEBELUMNYA (YANG SUDAH DIKUASAI)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Keamanan &amp; Enkripsi (P1 &amp; P2): </a:t>
            </a:r>
            <a:r>
              <a:rPr b="0">
                <a:solidFill>
                  <a:srgbClr val="0F172A"/>
                </a:solidFill>
              </a:rPr>
              <a:t>Kita menguasai enkripsi WPA2-AES, 4-Way Handshake, autentikasi 802.1X, PMF 802.11w, serta segmentasi VLAN yang wajib dipasang agar link transmisi nirkabel kita tidak disadap atau dibajak.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Karakteristik Antena (P3): </a:t>
            </a:r>
            <a:r>
              <a:rPr b="0">
                <a:solidFill>
                  <a:srgbClr val="0F172A"/>
                </a:solidFill>
              </a:rPr>
              <a:t>Kita memahami prinsip pasif antena pengarah energi, satuan dBm/dBi/EIRP, beamwidth HPBW, polarisasi V/H serasi, dan checklist metrik sinyal (RSSI, Noise Floor, SNR, CCQ).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Kebutuhan Nyata di Industri: </a:t>
            </a:r>
            <a:r>
              <a:rPr b="0">
                <a:solidFill>
                  <a:srgbClr val="0F172A"/>
                </a:solidFill>
              </a:rPr>
              <a:t>Semua fondasi di atas harus bermuara pada satu keahlian praktis: Mampu membangun koneksi tulang punggung (backhaul) nirkabel berkecepatan tinggi antar-lokasi terpisah.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794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KONEKSI KE HARI INI (MENGAPA MATERI INI DIBUTUHKAN?)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150" b="1">
                <a:solidFill>
                  <a:srgbClr val="059669"/>
                </a:solidFill>
                <a:latin typeface="Calibri"/>
              </a:defRPr>
            </a:pPr>
            <a:r>
              <a:t>➔ PTP Sebagai Solusi Backhaul: </a:t>
            </a:r>
            <a:r>
              <a:rPr b="0">
                <a:solidFill>
                  <a:srgbClr val="0F172A"/>
                </a:solidFill>
              </a:rPr>
              <a:t>Sambungan Point to Point (PTP) adalah 'Kabel LAN Virtual di Udara' pengganti penarikan kabel fiber optik yang sangat mahal menyeberangi jalan raya, sungai, atau perbukitan.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59669"/>
                </a:solidFill>
                <a:latin typeface="Calibri"/>
              </a:defRPr>
            </a:pPr>
            <a:r>
              <a:t>➔ Mengapa Memilih Antena Grid?: </a:t>
            </a:r>
            <a:r>
              <a:rPr b="0">
                <a:solidFill>
                  <a:srgbClr val="0F172A"/>
                </a:solidFill>
              </a:rPr>
              <a:t>Antena grid ber-gain tinggi (24 - 27 dBi) dengan berkas pensil tajam (4 - 8 derajat) dan rangka jaring tahan terpaan angin badai adalah standar emas instalasi menara outdoor.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59669"/>
                </a:solidFill>
                <a:latin typeface="Calibri"/>
              </a:defRPr>
            </a:pPr>
            <a:r>
              <a:t>➔ Tantangan Hari Ini: </a:t>
            </a:r>
            <a:r>
              <a:rPr b="0">
                <a:solidFill>
                  <a:srgbClr val="0F172A"/>
                </a:solidFill>
              </a:rPr>
              <a:t>Mempelajari kelayakan jalur (Fresnel Zone), perakitan mekanis, polarisasi serasi, setting RouterOS (Distance &amp; TDMA NV2), prosedur pointing presisi, dan menghindari jebakan Side Lobe!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95544"/>
            <a:ext cx="10728655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4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Calibri"/>
              </a:defRPr>
            </a:pPr>
            <a:r>
              <a:t>KATA KUNCI PEMBELAJARAN TERPADU: </a:t>
            </a:r>
            <a:r>
              <a:rPr sz="1100" b="0">
                <a:solidFill>
                  <a:srgbClr val="0F172A"/>
                </a:solidFill>
                <a:latin typeface="Calibri"/>
              </a:rPr>
              <a:t>Hari ini adalah kulminasi seluruh perkuliahan kita: Memadukan layer kriptografi data, layer kontrol enterprise, dan layer transmisi gelombang radio ke dalam deployment nyata di lapangan!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PETA KURIKULUM &amp; ALOKASI WAKTU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Rencana Perkuliahan Modul Antena Grid PTP (210 Menit)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Alur terstruktur dari analisis jalur propagasi hingga teknik pointing presisi di atas tiang menara.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SESI PERTAMA: TEORI PROPAGASI JALUR &amp; ANATOMI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1 (00:00 - 00:35): </a:t>
            </a:r>
            <a:r>
              <a:rPr b="0">
                <a:solidFill>
                  <a:srgbClr val="0F172A"/>
                </a:solidFill>
              </a:rPr>
              <a:t>Konsep Dasar Link PTP Jarak Jauh: Peran PTP sebagai wireless backhaul Layer 2, perbedaan PTP vs PTMP, syarat Line of Sight (LOS), serta kalkulasi clearance Zona Fresnel dan kelengkungan bumi.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2 (00:35 - 01:25): </a:t>
            </a:r>
            <a:r>
              <a:rPr b="0">
                <a:solidFill>
                  <a:srgbClr val="0F172A"/>
                </a:solidFill>
              </a:rPr>
              <a:t>Anatomi Antena Grid &amp; Pengkabelan Outdoor: Reflektor kisi aluminium lolos angin, feed horn di titik fokus, polarisasi V/H, kabel STP/FTP outdoor, surge arrester, dan PoE injector.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3 (01:25 - 01:45): </a:t>
            </a:r>
            <a:r>
              <a:rPr b="0">
                <a:solidFill>
                  <a:srgbClr val="0F172A"/>
                </a:solidFill>
              </a:rPr>
              <a:t>Istirahat &amp; Tanya Jawab Teknis: Diskusi kendala teknis instalasi tiang dan proteksi petir.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SESI KEDUA: KONFIGURASI RADIO, TDMA, &amp; SENI POINTING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4 (01:45 - 02:35): </a:t>
            </a:r>
            <a:r>
              <a:rPr b="0">
                <a:solidFill>
                  <a:srgbClr val="0F172A"/>
                </a:solidFill>
              </a:rPr>
              <a:t>Konfigurasi Radio &amp; Penyesuaian Jarak Jauh: Mode ap-bridge vs station-bridge, mengatasi retransmit storm via parameter Distance, protokol TDMA outdoor (MikroTik NV2 vs Ubiquiti airMAX), dan pemilihan channel width.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5 (02:35 - 03:10): </a:t>
            </a:r>
            <a:r>
              <a:rPr b="0">
                <a:solidFill>
                  <a:srgbClr val="0F172A"/>
                </a:solidFill>
              </a:rPr>
              <a:t>Prosedur Pointing Sistematis &amp; Side Lobe Trap: Sweeping azimuth dan elevasi bertahap 1-2 derajat, membedakan Main Lobe vs Side Lobe, checklist evaluasi link, dan panduan troubleshooting.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6 (03:10 - 03:30): </a:t>
            </a:r>
            <a:r>
              <a:rPr b="0">
                <a:solidFill>
                  <a:srgbClr val="0F172A"/>
                </a:solidFill>
              </a:rPr>
              <a:t>Rangkuman 4 Pertemuan, K3 Menara, &amp; Briefing Lab: SOP keselamatan kerja dan pembagian tim stasiun A &amp; 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TARGET KOMPETENSI MAHASISWA TRK: </a:t>
            </a:r>
            <a:r>
              <a:rPr sz="1100" b="0">
                <a:solidFill>
                  <a:srgbClr val="0F172A"/>
                </a:solidFill>
                <a:latin typeface="Calibri"/>
              </a:rPr>
              <a:t>Mampu merakit fisik antena grid secara benar, mengonfigurasi parameter wireless jarak jauh di RouterOS, melakukan proses pointing hingga target RSSI -50 s/d -65 dBm tercapai, serta mendiagnosis gangguan link di lapangan.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ARSITEKTUR JARINGAN TRANSMISI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Konsep Topologi Point to Point (PTP) Jarak Jauh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Membangun tulang punggung transmisi nirkabel berkapasitas tinggi antara dua lokasi terpisah.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DEFINISI &amp; PERAN PTP DI DUNIA KERJA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itu Link Point to Point (PTP)?: </a:t>
            </a:r>
            <a:r>
              <a:rPr b="0">
                <a:solidFill>
                  <a:srgbClr val="0F172A"/>
                </a:solidFill>
              </a:rPr>
              <a:t>Sambungan nirkabel langsung yang menghubungkan tepat dua titik lokasi secara eksklusif (Dedicated Wireless Backhaul).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Kabel LAN Virtual di Udara: </a:t>
            </a:r>
            <a:r>
              <a:rPr b="0">
                <a:solidFill>
                  <a:srgbClr val="0F172A"/>
                </a:solidFill>
              </a:rPr>
              <a:t>Bertindak sebagai jembatan transparan Layer 2 (Layer 2 Transparent Bridge) yang meneruskan seluruh paket data, VLAN ID, dan subnet IP seolah-olah kedua gedung tersambung seutas kabel LAN langsung.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Kasus Nyata Politani: </a:t>
            </a:r>
            <a:r>
              <a:rPr b="0">
                <a:solidFill>
                  <a:srgbClr val="0F172A"/>
                </a:solidFill>
              </a:rPr>
              <a:t>Menghubungkan Gedung Server Rektorat ke Kampus Kebun Percobaan berjarak 8 kilometer tanpa perlu membayar sewa kabel fiber optik bulanan ke provider pihak ketiga!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PERBEDAAN FUNDAMENTAL PTP VS PTMP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Topologi PTP (Titik-ke-Titik): </a:t>
            </a:r>
            <a:r>
              <a:rPr b="0">
                <a:solidFill>
                  <a:srgbClr val="0F172A"/>
                </a:solidFill>
              </a:rPr>
              <a:t>Satu stasiun pemancar berhadapan dengan TEPAT SATU stasiun penerima. Keduanya menggunakan antena directional sempit (Grid/Dish). Seluruh bandwidth radio dialokasikan 100% untuk link tersebut.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Topologi PTMP (Point-to-Multipoint): </a:t>
            </a:r>
            <a:r>
              <a:rPr b="0">
                <a:solidFill>
                  <a:srgbClr val="0F172A"/>
                </a:solidFill>
              </a:rPr>
              <a:t>Satu Base Station pemancar di tower (menggunakan antena Sectoral) melayani PULUHAN stasiun klien (CPE) di rumah-rumah pelanggan. Bandwidth dan waktu transmisi harus dibagi rata antar pelanggan.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Peran di Hierarki Jaringan: </a:t>
            </a:r>
            <a:r>
              <a:rPr b="0">
                <a:solidFill>
                  <a:srgbClr val="0F172A"/>
                </a:solidFill>
              </a:rPr>
              <a:t>PTP adalah jalan tol utama (Backbone/Core), sedangkan PTMP adalah jalan distribusi lokal (Access Layer).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FOKUS INVESTASI ENGINEER: </a:t>
            </a:r>
            <a:r>
              <a:rPr sz="1100" b="0">
                <a:solidFill>
                  <a:srgbClr val="0F172A"/>
                </a:solidFill>
                <a:latin typeface="Calibri"/>
              </a:rPr>
              <a:t>Karena PTP membawa seluruh beban lalu lintas data institusi, link ini menuntut tingkat keandalan dan kestabilan tertinggi (uptime 99.9%) dengan penanganan mekanis dan konfigurasi tanpa kompromi.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PROPAGASI GELOMBANG RADIO RUANG BEBAS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Syarat Kelayakan Jalur: Visual LOS vs Radio 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Membongkar miskonsepsi bahwa melihat menara lawan dengan teropong sudah cukup untuk menjamin sinyal bagus.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MISKONSEPSI: 'ASAL KELIHATAN MATA, SINYAL PASTI BAGUS'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Visual Line of Sight (LOS): </a:t>
            </a:r>
            <a:r>
              <a:rPr b="0">
                <a:solidFill>
                  <a:srgbClr val="0F172A"/>
                </a:solidFill>
              </a:rPr>
              <a:t>Kondisi di mana mata telanjang atau teropong binokular kita dapat melihat fisik tiang menara lawan di kejauhan tanpa terhalang gedung.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Kenyataan Pahit di Lapangan: </a:t>
            </a:r>
            <a:r>
              <a:rPr b="0">
                <a:solidFill>
                  <a:srgbClr val="0F172A"/>
                </a:solidFill>
              </a:rPr>
              <a:t>Banyak teknisi heran: menara lawan terlihat jelas, tetapi saat radio dinyalakan, sinyalnya sangat buruk, throughput lemot, dan koneksi sering putus-nyambung!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Penyebab Fisika: </a:t>
            </a:r>
            <a:r>
              <a:rPr b="0">
                <a:solidFill>
                  <a:srgbClr val="0F172A"/>
                </a:solidFill>
              </a:rPr>
              <a:t>Gelombang radio TIDAK MERAMBAT SEPERTI SEUTAS BENANG LURUS atau sinar laser tipis; gelombang radio merambat mengembang berbentuk gelendong elips 3 dimensi!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KONSEP ZONA FRESNEL (FRESNEL ZONE)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Definisi Zona Fresnel: </a:t>
            </a:r>
            <a:r>
              <a:rPr b="0">
                <a:solidFill>
                  <a:srgbClr val="0F172A"/>
                </a:solidFill>
              </a:rPr>
              <a:t>Ruang elips tebal yang menyelimuti garis lurus antara antena pemancar dan penerima di mana energi gelombang radio merambat.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Aturan Emas 60% Clearance: </a:t>
            </a:r>
            <a:r>
              <a:rPr b="0">
                <a:solidFill>
                  <a:srgbClr val="0F172A"/>
                </a:solidFill>
              </a:rPr>
              <a:t>Minimal 60% dari radius Zona Fresnel Pertama (1st Fresnel Zone) WAJIB BERSIH MUTLAK DARI SEGALA MACAM RINTANGAN!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Bahaya Obstruksi Fresnel: </a:t>
            </a:r>
            <a:r>
              <a:rPr b="0">
                <a:solidFill>
                  <a:srgbClr val="0F172A"/>
                </a:solidFill>
              </a:rPr>
              <a:t>Jika pucuk pohon kelapa, atap seng rumah, atau permukaan bukit menyentuh area 60% ini, gelombang akan mengalami pembiasan (diffraction) dan pembalikan fasa yang SALING MENGHAPUS SINYAL DI ANTENA PENERIMA!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PANDUAN KELAYAKAN JALUR: </a:t>
            </a:r>
            <a:r>
              <a:rPr sz="1100" b="0">
                <a:solidFill>
                  <a:srgbClr val="0F172A"/>
                </a:solidFill>
                <a:latin typeface="Calibri"/>
              </a:rPr>
              <a:t>1) Full LOS: Zona Fresnel bersih 100% (Link sempurna); 2) near-LOS (nLOS): Fresnel terhalang pucuk pohon &lt; 40% (Sinyal drop &amp; jitter); 3) Non-LOS (NLOS): Terhalang bukit/gedung beton (PTP mustahil terhubung!).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KALKULASI KETINGGIAN TIANG MENARA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Formula Praktis Zona Fresnel &amp; Kelengkungan Bumi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Menghitung jari-jari radius elips dan mengompensasi lengkungan bumi pada link jarak jauh.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FORMULA JARI-JARI FRESNEL TITIK TENGAH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Rumus Radius Titik Tengah: </a:t>
            </a:r>
            <a:r>
              <a:rPr b="0">
                <a:solidFill>
                  <a:srgbClr val="0F172A"/>
                </a:solidFill>
              </a:rPr>
              <a:t>r = 17.32 x √( d / (4 x f) ), di mana r = radius elips (meter), d = jarak total link (kilometer), f = frekuensi kerja (GHz).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Contoh Kasus Riil (Jarak 10 KM, 5.8 GHz): </a:t>
            </a:r>
            <a:r>
              <a:rPr b="0">
                <a:solidFill>
                  <a:srgbClr val="0F172A"/>
                </a:solidFill>
              </a:rPr>
              <a:t>d = 10 km, f = 5.8 GHz -&gt; r = 17.32 x √( 10 / 23.2 ) = 17.32 x 0.656 = 11.4 METER!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Batas Bebas Rintangan (60%): </a:t>
            </a:r>
            <a:r>
              <a:rPr b="0">
                <a:solidFill>
                  <a:srgbClr val="0F172A"/>
                </a:solidFill>
              </a:rPr>
              <a:t>0.6 x 11.4 meter = 6.84 meter. Jalur tengah lintasan wajib bebas hambatan setinggi minimal ~7 meter ke segala arah di sekeliling garis bidik!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PENGARUH KELENGKUNGAN BUMI (EARTH CURVATURE)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Bumi Itu Bulat Melengkung!: </a:t>
            </a:r>
            <a:r>
              <a:rPr b="0">
                <a:solidFill>
                  <a:srgbClr val="0F172A"/>
                </a:solidFill>
              </a:rPr>
              <a:t>Pada jarak di atas 8 - 10 kilometer, permukaan bumi 'menonjol' naik ke atas di tengah-tengah lintasan antara dua menara.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Formula Tonjolan Bumi (h): </a:t>
            </a:r>
            <a:r>
              <a:rPr b="0">
                <a:solidFill>
                  <a:srgbClr val="0F172A"/>
                </a:solidFill>
              </a:rPr>
              <a:t>h (meter) ≈ ( d^2 ) / ( 12.74 x k ), dengan k = 4/3 faktor refraksi atmosfer standar.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Tonjolan Pada Jarak 15 KM: </a:t>
            </a:r>
            <a:r>
              <a:rPr b="0">
                <a:solidFill>
                  <a:srgbClr val="0F172A"/>
                </a:solidFill>
              </a:rPr>
              <a:t>h ≈ ( 225 ) / 17 = 13.2 METER tonjolan bumi di tengah bentang!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Konsekuensi Ketinggian Menara: </a:t>
            </a:r>
            <a:r>
              <a:rPr b="0">
                <a:solidFill>
                  <a:srgbClr val="0F172A"/>
                </a:solidFill>
              </a:rPr>
              <a:t>Tinggi tiang menara di kedua lokasi WAJIB ditambah setinggi tonjolan bumi plus radius Fresnel agar sinyal tidak menabrak bukit kelengkungan bumi!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TOOL SIMULASI PRAKTISI: </a:t>
            </a:r>
            <a:r>
              <a:rPr sz="1100" b="0">
                <a:solidFill>
                  <a:srgbClr val="0F172A"/>
                </a:solidFill>
                <a:latin typeface="Calibri"/>
              </a:rPr>
              <a:t>Gunakan software simulasi profil elevasi kontur bumi seperti Ubiquiti airLink (ISP Design Center), Radio Mobile, atau Google Earth Pro sebelum membeli tiang menara!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PERANGKAT KERAS ANTENA PARABOLA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Anatomi Fisik Antena Grid: Mengapa Kisi Aluminium?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Membedah setiap bagian mekanik antena kisi parabola dan fungsi aerodinamisnya.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340553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REFLEKTOR KISI (MESH 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Rangka Parabola Aluminium: </a:t>
            </a:r>
            <a:r>
              <a:rPr b="0">
                <a:solidFill>
                  <a:srgbClr val="0F172A"/>
                </a:solidFill>
              </a:rPr>
              <a:t>Terdiri dari dua belahan rangka cekung aluminium cor antikarat yang dibaut menyatu di tengah.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Meloloskan Angin Badai: </a:t>
            </a:r>
            <a:r>
              <a:rPr b="0">
                <a:solidFill>
                  <a:srgbClr val="0F172A"/>
                </a:solidFill>
              </a:rPr>
              <a:t>Jarak antar-kisi dirancang lebih kecil dari panjang gelombang radio (sehingga bertindak sebagai cermin solid bagi RF), namun meloloskan hingga 80% terpaan angin badai!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Beban Menara Ringan: </a:t>
            </a:r>
            <a:r>
              <a:rPr b="0">
                <a:solidFill>
                  <a:srgbClr val="0F172A"/>
                </a:solidFill>
              </a:rPr>
              <a:t>Menjaga tiang menara tidak bergoyang atau terpuntir arahnya.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3082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3082" y="1536192"/>
            <a:ext cx="340553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FEED HORN (STIK PENCATU)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Letak di Titik Fokus: </a:t>
            </a:r>
            <a:r>
              <a:rPr b="0">
                <a:solidFill>
                  <a:srgbClr val="0F172A"/>
                </a:solidFill>
              </a:rPr>
              <a:t>Dipasang tepat di pusat titik fokus reflektor parabola menggunakan pipa bracket penopang.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Sub-Reflector Kuningan: </a:t>
            </a:r>
            <a:r>
              <a:rPr b="0">
                <a:solidFill>
                  <a:srgbClr val="0F172A"/>
                </a:solidFill>
              </a:rPr>
              <a:t>Memantulkan energi gelombang yang keluar dari dipole feed horn ke permukaan jaring kisi parabola.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Port Konektor RF: </a:t>
            </a:r>
            <a:r>
              <a:rPr b="0">
                <a:solidFill>
                  <a:srgbClr val="0F172A"/>
                </a:solidFill>
              </a:rPr>
              <a:t>Ujung belakang feed horn memiliki konektor N-Female untuk disambungkan ke kabel jumper radio.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4644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4644" y="1536192"/>
            <a:ext cx="340553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BRACKET U-BOLT MOUNTING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948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Klem Penjepit Pipa Tiang: </a:t>
            </a:r>
            <a:r>
              <a:rPr b="0">
                <a:solidFill>
                  <a:srgbClr val="0F172A"/>
                </a:solidFill>
              </a:rPr>
              <a:t>Baut U-Bolt baja tebal yang mencengkeram pipa tiang menara diameter 1.5 hingga 2 inci.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Pengatur Sudut Azimuth: </a:t>
            </a:r>
            <a:r>
              <a:rPr b="0">
                <a:solidFill>
                  <a:srgbClr val="0F172A"/>
                </a:solidFill>
              </a:rPr>
              <a:t>Memungkinkan perputaran kiri-kanan secara leluasa sebelum baut dikunci.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Setelan Sudut Elevasi: </a:t>
            </a:r>
            <a:r>
              <a:rPr b="0">
                <a:solidFill>
                  <a:srgbClr val="0F172A"/>
                </a:solidFill>
              </a:rPr>
              <a:t>Dilengkapi slot rel lengkung untuk mengatur sudut menengadah atau menunduk (tilt).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SOP PERAKITAN MEKANIK: </a:t>
            </a:r>
            <a:r>
              <a:rPr sz="1100" b="0">
                <a:solidFill>
                  <a:srgbClr val="0F172A"/>
                </a:solidFill>
                <a:latin typeface="Calibri"/>
              </a:rPr>
              <a:t>Pastikan baut sub-reflector feed horn terpasang kuat dan penutup karet silikon terpasang rapat agar air hujan tidak merembes masuk ke dalam pipa pemancar feed horn!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PENYELARASAN MEKANIS DI LAPANGAN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Penyelarasan Polarisasi pada Antena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Bagaimana cara mengubah polarisasi antena grid dan pentingnya kesepakatan orientasi antar tim.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CARA MENGATUR POLARISASI SECARA FISIK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Cukup Putar Modul Feed Horn 90 Derajat!: </a:t>
            </a:r>
            <a:r>
              <a:rPr b="0">
                <a:solidFill>
                  <a:srgbClr val="0F172A"/>
                </a:solidFill>
              </a:rPr>
              <a:t>Antena grid tidak memerlukan penggantian suku cadang; polarisasi diatur cukup dengan memutar posisi modul feed horn sebesar 90 derajat saat perakitan baut.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Polarisasi Vertikal (V-Pol): </a:t>
            </a:r>
            <a:r>
              <a:rPr b="0">
                <a:solidFill>
                  <a:srgbClr val="0F172A"/>
                </a:solidFill>
              </a:rPr>
              <a:t>Batang kisi-kisi lengkung parabola dipasang mendatar (horizontal), dan elemen sirip di dalam feed horn mengarah tegak lurus (vertikal).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Polarisasi Horizontal (H-Pol): </a:t>
            </a:r>
            <a:r>
              <a:rPr b="0">
                <a:solidFill>
                  <a:srgbClr val="0F172A"/>
                </a:solidFill>
              </a:rPr>
              <a:t>Batang kisi-kisi lengkung parabola dipasang tegak (vertikal), dan elemen sirip di dalam feed horn mengarah mendatar (horizontal).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ATURAN MUTLAK: KEDUA SISI HARUS IDENTIK!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Kesepakatan Tim Stasiun A &amp; B: </a:t>
            </a:r>
            <a:r>
              <a:rPr b="0">
                <a:solidFill>
                  <a:srgbClr val="0F172A"/>
                </a:solidFill>
              </a:rPr>
              <a:t>Sebelum naik ke tiang menara, Tim Stasiun A (Master) dan Tim Stasiun B (Slave) WAJIB SEPAKAT memilih satu polarisasi yang sama (misal: keduanya Vertikal)!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Akibat Jika Beda Polarisasi: </a:t>
            </a:r>
            <a:r>
              <a:rPr b="0">
                <a:solidFill>
                  <a:srgbClr val="0F172A"/>
                </a:solidFill>
              </a:rPr>
              <a:t>Jika Stasiun A merakit posisi Vertikal, sementara Stasiun B merakit posisi Horizontal, sinyal akan lenyap teredam 20 - 30 dB (Cross-Polarization Loss)!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Tips Memilih Polarisasi di Lapangan: </a:t>
            </a:r>
            <a:r>
              <a:rPr b="0">
                <a:solidFill>
                  <a:srgbClr val="0F172A"/>
                </a:solidFill>
              </a:rPr>
              <a:t>Frekuensi 2.4 GHz dan 5 GHz publik umumnya didominasi sinyal polarisasi Vertikal. Merakit kedua antena ke POLARISASI HORIZONTAL sering kali memberikan koneksi yang jauh lebih bersih dari interferensi!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CHECKLIST FISIK PRA-INSTALASI: </a:t>
            </a:r>
            <a:r>
              <a:rPr sz="1100" b="0">
                <a:solidFill>
                  <a:srgbClr val="0F172A"/>
                </a:solidFill>
                <a:latin typeface="Calibri"/>
              </a:rPr>
              <a:t>Lihat tanda stiker panah polarisasi 'V' dan 'H' yang tertera di bagian belakang leher feed horn sebelum mengencangkan sekrup penahan bracket.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INSTALASI ELEKTRIKAL &amp; PROTEKSI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Standar Pengkabelan Outdoor &amp; Power over Ethernet (PoE)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Melindungi modul radio outdoor dari sengatan cuaca, listrik statis, dan lonjakan arus.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SPESIFIKASI KABEL UTP &amp; KONEKTOR KHUSUS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Wajib Kabel STP/FTP Outdoor: </a:t>
            </a:r>
            <a:r>
              <a:rPr b="0">
                <a:solidFill>
                  <a:srgbClr val="0F172A"/>
                </a:solidFill>
              </a:rPr>
              <a:t>JANGAN PERNAH memakai kabel UTP indoor warna abu-abu tipis! Kulitnya akan hancur retak terpapar panas matahari dan hujan dalam beberapa bulan.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Kabel Outdoor Berselubung Ganda (Double Jacket): </a:t>
            </a:r>
            <a:r>
              <a:rPr b="0">
                <a:solidFill>
                  <a:srgbClr val="0F172A"/>
                </a:solidFill>
              </a:rPr>
              <a:t>Memiliki pelindung aluminium foil (FTP) dan jaket luar PE (Polyethylene) hitam tebal tahan radiasi ultraviolet (UV).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Kawat Arde (Drain Wire) &amp; RJ-45 Metal: </a:t>
            </a:r>
            <a:r>
              <a:rPr b="0">
                <a:solidFill>
                  <a:srgbClr val="0F172A"/>
                </a:solidFill>
              </a:rPr>
              <a:t>Kabel outdoor memiliki seutas kawat tembaga telanjang penangkap listrik statis (ESD) akibat gesekan udara, yang wajib dijepitkan ke selongsong logam konektor RJ-45 Metal Shielded ter-grounding.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ADAPTOR POE INJECTOR &amp; SOP KESELAMATAN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Fungsi Power over Ethernet (PoE): </a:t>
            </a:r>
            <a:r>
              <a:rPr b="0">
                <a:solidFill>
                  <a:srgbClr val="0F172A"/>
                </a:solidFill>
              </a:rPr>
              <a:t>Menyalurkan arus listrik DC (24V / 48V) dan data jaringan gigabit secara bersamaan melalui 4 pasang urat kabel UTP ke atas menara, meniadakan kebutuhan stopkontak listrik di atas tiang.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Port LAN vs Port PoE: </a:t>
            </a:r>
            <a:r>
              <a:rPr b="0">
                <a:solidFill>
                  <a:srgbClr val="0F172A"/>
                </a:solidFill>
              </a:rPr>
              <a:t>Port PoE = Menuju ke radio outdoor di menara; Port LAN = Menuju ke switch/laptop teknisi di bawah meja. JANGAN SAMPAI TERTUKAR!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SOP Menghindari Sengatan Arcing: </a:t>
            </a:r>
            <a:r>
              <a:rPr b="0">
                <a:solidFill>
                  <a:srgbClr val="0F172A"/>
                </a:solidFill>
              </a:rPr>
              <a:t>Tancapkan seluruh kabel RJ-45 ke radio dan port PoE injector TERLEBIH DAHULU dalam kondisi mati, BARU COLOKKAN ADAPTOR KE STOPKONTAK PLN untuk menghindari lonjakan percikan arus listrik statis!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PROTEKSI PETIR (SURGE ARRESTER): </a:t>
            </a:r>
            <a:r>
              <a:rPr sz="1100" b="0">
                <a:solidFill>
                  <a:srgbClr val="0F172A"/>
                </a:solidFill>
                <a:latin typeface="Calibri"/>
              </a:rPr>
              <a:t>Pasang unit Ethernet Surge Protector di jalur kabel sebelum masuk ke ruang server, dan hubungkan kawat tembaga ardenya ke batang tembaga pembumian (grounding rod) di dalam tanah.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KONFIGURASI PERANGKAT LUNAK (ROUTEROS)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Konfigurasi Mode Radio Outdoor pada MikroTik RouterOS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Penyetelan mode operasi nirkabel untuk membangun jembatan data Layer 2 transparan.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STASIUN A: MASTER TRANSMITTER (AP-BRIDGE)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Mode: 'ap-bridge': </a:t>
            </a:r>
            <a:r>
              <a:rPr b="0">
                <a:solidFill>
                  <a:srgbClr val="0F172A"/>
                </a:solidFill>
              </a:rPr>
              <a:t>Radio bertindak sebagai Access Point pemancar induk penyedia SSID, penentu kanal frekuensi, dan pengendali waktu transmisi.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Band Frekuensi: </a:t>
            </a:r>
            <a:r>
              <a:rPr b="0">
                <a:solidFill>
                  <a:srgbClr val="0F172A"/>
                </a:solidFill>
              </a:rPr>
              <a:t>Pilih band 5GHz-only-N atau 5GHz-A/N untuk stabilitas outdoor.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Channel Width: 20 MHz: </a:t>
            </a:r>
            <a:r>
              <a:rPr b="0">
                <a:solidFill>
                  <a:srgbClr val="0F172A"/>
                </a:solidFill>
              </a:rPr>
              <a:t>Lebar spektrum 20 MHz adalah pilihan standar terbaik yang paling tahan terhadap gangguan interferensi di alam terbuka.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Frequency Selection: </a:t>
            </a:r>
            <a:r>
              <a:rPr b="0">
                <a:solidFill>
                  <a:srgbClr val="0F172A"/>
                </a:solidFill>
              </a:rPr>
              <a:t>Pilih kanal frekuensi yang telah diverifikasi bersih dari pemancar liar melalui fitur Frequency Usage / Spectral Scan (misal: 5200 MHz).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SSID &amp; Security: </a:t>
            </a:r>
            <a:r>
              <a:rPr b="0">
                <a:solidFill>
                  <a:srgbClr val="0F172A"/>
                </a:solidFill>
              </a:rPr>
              <a:t>Beri nama unik (misal: PTP-POLITANI-CORE) dengan profil keamanan WPA2-AES.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STASIUN B: SLAVE RECEIVER (STATION-BRIDGE)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Mode: 'station-bridge': </a:t>
            </a:r>
            <a:r>
              <a:rPr b="0">
                <a:solidFill>
                  <a:srgbClr val="0F172A"/>
                </a:solidFill>
              </a:rPr>
              <a:t>Mode eksklusif MikroTik! Memungkinkan perangkat penerima bertindak sebagai jembatan jaringan Layer 2 sejati (Layer 2 Transparent Bridge).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Kelebihan 'station-bridge': </a:t>
            </a:r>
            <a:r>
              <a:rPr b="0">
                <a:solidFill>
                  <a:srgbClr val="0F172A"/>
                </a:solidFill>
              </a:rPr>
              <a:t>Mode klien standar ('station') pada Wi-Fi konvensional tidak bisa meneruskan MAC address perangkat lain di belakangnya. Mode station-bridge meneruskan SELURUH MAC address komputer dan switch kampus seberang secara transparan!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Scan &amp; Connect: </a:t>
            </a:r>
            <a:r>
              <a:rPr b="0">
                <a:solidFill>
                  <a:srgbClr val="0F172A"/>
                </a:solidFill>
              </a:rPr>
              <a:t>Gunakan tombol 'Scan' di Winbox -&gt; pilih SSID Stasiun A -&gt; klik 'Connect'.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Bridge Interface: </a:t>
            </a:r>
            <a:r>
              <a:rPr b="0">
                <a:solidFill>
                  <a:srgbClr val="0F172A"/>
                </a:solidFill>
              </a:rPr>
              <a:t>Masukkan port wlan1 dan ether1 ke dalam satu kelompok interface 'bridge1' di kedua router.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KOMPATIBILITAS VENDOR: </a:t>
            </a:r>
            <a:r>
              <a:rPr sz="1100" b="0">
                <a:solidFill>
                  <a:srgbClr val="0F172A"/>
                </a:solidFill>
                <a:latin typeface="Calibri"/>
              </a:rPr>
              <a:t>Mode station-bridge hanya bekerja jika kedua belah pihak sama-sama menggunakan perangkat MikroTik RouterOS. Jika menggunakan Ubiquiti, aktifkan fitur WDS (Transparent Bridge Mode).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OPTIMASI PROTOKOL JARAK JAUH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Mengapa Wi-Fi Standar Macet di Outdoor? 'Distance Setting'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Memahami batas waktu konfirmasi paket (ACK Timeout) dan cara mengatasinya di RouterOS.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MASALAH WAKTU TEMPUH GELOMBANG RADIO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Asumsi Wi-Fi Rumahan (Indoor): </a:t>
            </a:r>
            <a:r>
              <a:rPr b="0">
                <a:solidFill>
                  <a:srgbClr val="0F172A"/>
                </a:solidFill>
              </a:rPr>
              <a:t>Standar protokol 802.11 berasumsi perangkat berada di dalam ruangan berjarak beberapa meter, dengan batas waktu tunggu konfirmasi paket (ACK Timeout) bawaan sangat singkat: hanya sekitar ~25 mikrodetik (µs)!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Waktu Tempuh Outdoor Jarak Jauh: </a:t>
            </a:r>
            <a:r>
              <a:rPr b="0">
                <a:solidFill>
                  <a:srgbClr val="0F172A"/>
                </a:solidFill>
              </a:rPr>
              <a:t>Gelombang radio merambat secepat kecepatan cahaya (300.000 km/detik). Pada jarak outdoor 10 km, sinyal butuh 33 µs sekali jalan (bolak-balik butuh 66 µs)!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Bencana Retransmit Storm!: </a:t>
            </a:r>
            <a:r>
              <a:rPr b="0">
                <a:solidFill>
                  <a:srgbClr val="0F172A"/>
                </a:solidFill>
              </a:rPr>
              <a:t>Radio pemancar mengira paket data hilang karena balasan ACK belum tiba dalam 25 µs. Pemancar berulang kali mengirim ulang paket yang sama, melumpuhkan seluruh bandwidth (Retransmit Storm)!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SOLUSI ENGINEER: SETTING PARAMETER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Masuk Menu Wireless MikroTik: </a:t>
            </a:r>
            <a:r>
              <a:rPr b="0">
                <a:solidFill>
                  <a:srgbClr val="0F172A"/>
                </a:solidFill>
              </a:rPr>
              <a:t>Buka tab 'Advanced' pada pengaturan kartu wlan1 di aplikasi Winbox.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Ubah Parameter 'Distance': </a:t>
            </a:r>
            <a:r>
              <a:rPr b="0">
                <a:solidFill>
                  <a:srgbClr val="0F172A"/>
                </a:solidFill>
              </a:rPr>
              <a:t>Ubah nilai Distance dari bawaan 'indoors / dynamic' menjadi angka jarak nyata lapangan dalam kilometer (misal ketik angka: '10' untuk jarak 10 km).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Penyesuaian ACK Otomatis: </a:t>
            </a:r>
            <a:r>
              <a:rPr b="0">
                <a:solidFill>
                  <a:srgbClr val="0F172A"/>
                </a:solidFill>
              </a:rPr>
              <a:t>RouterOS otomatis memperpanjang timer ACK Timeout sesuai jarak fisik tersebut, memberikan waktu yang cukup bagi sinyal untuk bolak-balik di udara.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Hasil Dramatis: </a:t>
            </a:r>
            <a:r>
              <a:rPr b="0">
                <a:solidFill>
                  <a:srgbClr val="0F172A"/>
                </a:solidFill>
              </a:rPr>
              <a:t>Tingkat pengiriman ulang paket (retransmit) langsung anjlok mendekati nol, ping kembali stabil, dan throughput internet naik drastis!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TIPS PRAKTISI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Beri sedikit toleransi margin jarak: Jika jarak lapangan hasil ukur GPS adalah 8.5 km, ketik angka '9' atau '10' pada parameter Distance untuk mengompensasi hembusan angin dan variasi suhu atmosfer.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PROTOKOL AKSES MEDIA KHUSUS OUTDOOR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Protokol TDMA: MikroTik NV2 &amp; Ubiquiti airMAX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Mengapa protokol bawaan Wi-Fi (CSMA/CA) wajib diganti saat beroperasi di alam terbuka.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KEGAGALAN CSMA/CA KARENA 'HIDDEN NODE'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Cara Kerja Bawaan Wi-Fi (CSMA/CA): </a:t>
            </a:r>
            <a:r>
              <a:rPr b="0">
                <a:solidFill>
                  <a:srgbClr val="0F172A"/>
                </a:solidFill>
              </a:rPr>
              <a:t>Prinsip 'Listen Before Talk' (dengarkan sebelum memancar). Perangkat memeriksa apakah udara sedang sepi sebelum mengirim paket data.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Masalah Hidden Node di Alam Terbuka: </a:t>
            </a:r>
            <a:r>
              <a:rPr b="0">
                <a:solidFill>
                  <a:srgbClr val="0F172A"/>
                </a:solidFill>
              </a:rPr>
              <a:t>Dua pemancar terpisah puluhan kilometer dengan antena directional tidak bisa saling mendengar pancaran satu sama lain.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Tabrakan Paket Massal (Collision): </a:t>
            </a:r>
            <a:r>
              <a:rPr b="0">
                <a:solidFill>
                  <a:srgbClr val="0F172A"/>
                </a:solidFill>
              </a:rPr>
              <a:t>Kedua stasiun mengira udara kosong, lalu memancarkan data di waktu yang bersamaan. Paket data saling bertabrakan di udara dan hancur berantakan!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SOLUSI REVOLUSIONER PROTOKOL TDMA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Time Division Multiple Access (TDMA): </a:t>
            </a:r>
            <a:r>
              <a:rPr b="0">
                <a:solidFill>
                  <a:srgbClr val="0F172A"/>
                </a:solidFill>
              </a:rPr>
              <a:t>Menghapus total mekanisme CSMA/CA. Radio Master AP bertindak sebagai komandan pengendali waktu transmisi.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Pembagian Petak Waktu Disiplin (Time Slots): </a:t>
            </a:r>
            <a:r>
              <a:rPr b="0">
                <a:solidFill>
                  <a:srgbClr val="0F172A"/>
                </a:solidFill>
              </a:rPr>
              <a:t>Waktu dibagi menjadi jatah slot milidetik yang ketat. Stasiun hanya mentransmisikan data pada giliran slot waktunya sendiri!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Nol Tabrakan Paket di Udara (Zero Collision): </a:t>
            </a:r>
            <a:r>
              <a:rPr b="0">
                <a:solidFill>
                  <a:srgbClr val="0F172A"/>
                </a:solidFill>
              </a:rPr>
              <a:t>Tidak ada lagi paket yang saling menabrak. Throughput melonjak 2x hingga 3x lipat dan latency ping tetap stabil bahkan di bawah beban lalu lintas padat!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Standar Vendor: </a:t>
            </a:r>
            <a:r>
              <a:rPr b="0">
                <a:solidFill>
                  <a:srgbClr val="0F172A"/>
                </a:solidFill>
              </a:rPr>
              <a:t>MikroTik menamakannya 'NV2' (Nstreme version 2); Ubiquiti menamakannya 'airMAX'.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CARA MENGAKTIFKAN PADA ROUTEROS: </a:t>
            </a:r>
            <a:r>
              <a:rPr sz="1100" b="0">
                <a:solidFill>
                  <a:srgbClr val="0F172A"/>
                </a:solidFill>
                <a:latin typeface="Calibri"/>
              </a:rPr>
              <a:t>Pada tab Wireless kartu wlan1 Stasiun A dan B: Ubah parameter 'Wireless Protocol' dari '802.11' menjadi 'nv2', lalu atur 'NV2 Security' ke profil WPA2-AES.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PERENCANAAN SPEKTRUM FREKUENSI 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Pemilihan Frekuensi &amp; Lebar Pita Kanal (Channel Width)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Menyeimbangkan kebutuhan kecepatan transfer data dengan kekebalan terhadap polusi noise udara.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PITA FREKUENSI: 2.4 GHZ VS 5 GHZ OUTDOOR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Mengapa Menghindari 2.4 GHz?: </a:t>
            </a:r>
            <a:r>
              <a:rPr b="0">
                <a:solidFill>
                  <a:srgbClr val="0F172A"/>
                </a:solidFill>
              </a:rPr>
              <a:t>Spektrum 2.4 GHz sangat sempit (hanya ada 3 kanal non-overlapping: 1, 6, 11) dan sudah sangat penuh dengan polusi Wi-Fi rumahan, Bluetooth, dan microwave oven. Noise floor sangat tinggi (buruk).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Keunggulan Pita 5 GHz (5.1 - 5.8 GHz): </a:t>
            </a:r>
            <a:r>
              <a:rPr b="0">
                <a:solidFill>
                  <a:srgbClr val="0F172A"/>
                </a:solidFill>
              </a:rPr>
              <a:t>Spektrum sangat luas (tersedia puluhan kanal bersih), redaman pantulan lebih kecil, dan mampu membawa bandwidth ratusan megabit.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Pilihan Standar Backhaul: </a:t>
            </a:r>
            <a:r>
              <a:rPr b="0">
                <a:solidFill>
                  <a:srgbClr val="0F172A"/>
                </a:solidFill>
              </a:rPr>
              <a:t>Seluruh link nirkabel Point to Point profesional di industri telekomunikasi wajib menggunakan frekuensi 5 GHz!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LEBAR PITA KANAL: 20 MHZ VS 40 MHZ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Channel Width 20 MHz (Rekomendasi Standar Lapangan): </a:t>
            </a:r>
            <a:r>
              <a:rPr b="0">
                <a:solidFill>
                  <a:srgbClr val="0F172A"/>
                </a:solidFill>
              </a:rPr>
              <a:t>Spektrum lebih sempit memusatkan daya sinyal, noise floor lebih rendah ~3 dB, sangat kebal terhadap gangguan interferensi kota, dan memberikan kestabilan koneksi 99.9%.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Channel Width 40 MHz (High Throughput): </a:t>
            </a:r>
            <a:r>
              <a:rPr b="0">
                <a:solidFill>
                  <a:srgbClr val="0F172A"/>
                </a:solidFill>
              </a:rPr>
              <a:t>Menggabungkan dua kanal frekuensi sekaligus. Menghasilkan throughput dua kali lipat lebih cepat (&gt; 150 Mbps), namun SANGAT RENTAN TERHADAP INTERFERENSI TETANGGA.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Aturan Emas Engineer: </a:t>
            </a:r>
            <a:r>
              <a:rPr b="0">
                <a:solidFill>
                  <a:srgbClr val="0F172A"/>
                </a:solidFill>
              </a:rPr>
              <a:t>Hanya gunakan 40 MHz jika hasil pemindaian spektrum udara (Spectral Scan) membuktikan frekuensi di sekitar lokasi benar-benar bersih dan sepi!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PRINSIP ENGINEER: </a:t>
            </a:r>
            <a:r>
              <a:rPr sz="1100" b="0">
                <a:solidFill>
                  <a:srgbClr val="0F172A"/>
                </a:solidFill>
                <a:latin typeface="Calibri"/>
              </a:rPr>
              <a:t>Throughput 80 Mbps yang stabil 24 jam nonstop (20 MHz) JAUH LEBIH BERHARGA bagi operasional kampus daripada throughput 180 Mbps yang putus-nyambung saat jam sibuk (40 MHz)!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KETERAMPILAN PRAKTIK MENARA (FIELD ALIGNMENT)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Metodologi Pointing Antena Grid Sistematis (Step-by-Step)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Prosedur penyelarasan sudut arah antena grid ber-gain tinggi tanpa saling menebak di atas menara.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TAHAP 1 &amp; 2: PENENTUAN ARAH KASAR &amp; SWEEPING HORIZONTAL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1: Bidikan Azimuth Kasar: </a:t>
            </a:r>
            <a:r>
              <a:rPr b="0">
                <a:solidFill>
                  <a:srgbClr val="0F172A"/>
                </a:solidFill>
              </a:rPr>
              <a:t>Gunakan koordinat GPS dan kompas bidik (atau patokan visual menara lawan) untuk mengarahkan moncong feed horn ke arah stasiun lawan.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2: Buka Monitor Sinyal di Winbox: </a:t>
            </a:r>
            <a:r>
              <a:rPr b="0">
                <a:solidFill>
                  <a:srgbClr val="0F172A"/>
                </a:solidFill>
              </a:rPr>
              <a:t>Buka tab 'Registration' di Winbox untuk memantau grafik kekuatan sinyal (Signal to Noise / RSSI) secara real-time.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3: Sweeping Horizontal Bertahap 1 - 2 Derajat: </a:t>
            </a:r>
            <a:r>
              <a:rPr b="0">
                <a:solidFill>
                  <a:srgbClr val="0F172A"/>
                </a:solidFill>
              </a:rPr>
              <a:t>Kendorkan baut U-Bolt sedikit saja. Putar fisik antena ke kiri dan kanan secara sangat perlahan (1 derajat per gerakan). Tahan posisi selama 3 detik setiap kali bergeser agar radio sempat memproses rata-rata sinyal!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TAHAP 3 &amp; 4: ELEVASI &amp; PENYELARASAN DUA ARAH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4: Sweeping Vertikal (Elevasi): </a:t>
            </a:r>
            <a:r>
              <a:rPr b="0">
                <a:solidFill>
                  <a:srgbClr val="0F172A"/>
                </a:solidFill>
              </a:rPr>
              <a:t>Setelah sudut horizontal menemukan sinyal terkuat sementara, kunci baut horizontal, lalu lakukan hal yang sama untuk sudut vertikal (naik-turun) pada rel braket antena.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5: Bekerja Bergantian (Bukan Bersamaan!): </a:t>
            </a:r>
            <a:r>
              <a:rPr b="0">
                <a:solidFill>
                  <a:srgbClr val="0F172A"/>
                </a:solidFill>
              </a:rPr>
              <a:t>JANGAN PERNAH KEDUA TIM MEMUTAR ANTENA BERSAMAAN! Stasiun A diam memancar, Stasiun B mencari sinyal terbaik di sisinya. Setelah Stasiun B selesai, Stasiun B diam, giliran Stasiun A yang melakukan fine-tuning!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6: Penguncian Baut Simetris: </a:t>
            </a:r>
            <a:r>
              <a:rPr b="0">
                <a:solidFill>
                  <a:srgbClr val="0F172A"/>
                </a:solidFill>
              </a:rPr>
              <a:t>Kencangkan baut U-Bolt kiri dan kanan secara bergantian setengah putaran simetris agar posisi bidikan tidak bergeser saat baut ditarik kencang.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ALAT BANTU POINTING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Gunakan fitur 'Beeper' suara audio pada router MikroTik atau indikator lampu LED sinyal di bodi radio Bullet/Groove agar teknisi di atas tiang tidak perlu menatap layar laptop terus-menerus.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PERINGATAN KRITIS TEKNISI PEMULA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Mewaspadai 'Jebakan Daun Samping' (Side Lobe Trap)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Kesalahan fatal teknisi yang mengunci baut antena pada sinyal semu di luar berkas utama.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GEJALA TERKUNCI PADA DAUN SAMPING (SIDE LOBE)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Anatomi Berkas Antena Grid: </a:t>
            </a:r>
            <a:r>
              <a:rPr b="0">
                <a:solidFill>
                  <a:srgbClr val="0F172A"/>
                </a:solidFill>
              </a:rPr>
              <a:t>Antena grid memiliki satu Berkas Utama sangat tajam (Main Lobe) yang diapit oleh gelembung Daun Samping (Side Lobe) di sisi kiri dan kanannya.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Kesalahan Fatal Teknisi Pemula: </a:t>
            </a:r>
            <a:r>
              <a:rPr b="0">
                <a:solidFill>
                  <a:srgbClr val="0F172A"/>
                </a:solidFill>
              </a:rPr>
              <a:t>Saat memutar antena, teknisi melihat sinyal pertama kali muncul di Winbox (misal -75 dBm), lalu langsung merasa puas dan terburu-buru mengencangkan baut U-Bolt!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Yang Terkunci Ternyata Side Lobe!: </a:t>
            </a:r>
            <a:r>
              <a:rPr b="0">
                <a:solidFill>
                  <a:srgbClr val="0F172A"/>
                </a:solidFill>
              </a:rPr>
              <a:t>Teknisi mengira itu adalah sinyal terbaik, padahal antena baru menangkap daun samping semu!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Akibat Buruk: </a:t>
            </a:r>
            <a:r>
              <a:rPr b="0">
                <a:solidFill>
                  <a:srgbClr val="0F172A"/>
                </a:solidFill>
              </a:rPr>
              <a:t>Link bekerja dengan sinyal lemah (-75 dBm), modulasi rendah, throughput drop, dan koneksi langsung putus saat hujan rintik-rintik turun.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SOP TEKNISI PROFESIONAL MENEMUKAN MAIN LOBE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SOP Putar Melintasi Titik Lembah (Null): </a:t>
            </a:r>
            <a:r>
              <a:rPr b="0">
                <a:solidFill>
                  <a:srgbClr val="0F172A"/>
                </a:solidFill>
              </a:rPr>
              <a:t>Saat sinyal terdeteksi naik (misal -75 dBm), JANGAN BERHENTI! Terus putar antena perlahan ke arah yang sama.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Fenomena Sinyal Drop (Null Point): </a:t>
            </a:r>
            <a:r>
              <a:rPr b="0">
                <a:solidFill>
                  <a:srgbClr val="0F172A"/>
                </a:solidFill>
              </a:rPr>
              <a:t>Sinyal akan sempat anjlok turun mendekati hilang (-85 dBm). Inilah titik batas (null) antara Side Lobe dan Main Lobe.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Lonjakan Menuju Main Lobe Sejati: </a:t>
            </a:r>
            <a:r>
              <a:rPr b="0">
                <a:solidFill>
                  <a:srgbClr val="0F172A"/>
                </a:solidFill>
              </a:rPr>
              <a:t>Terus putar beberapa milimeter lagi: Sinyal akan melonjak drastis naik menuju puncak sejati (Main Lobe, misal melompat naik ke -55 dBm)!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Kunci Baut di Puncak Tertinggi: </a:t>
            </a:r>
            <a:r>
              <a:rPr b="0">
                <a:solidFill>
                  <a:srgbClr val="0F172A"/>
                </a:solidFill>
              </a:rPr>
              <a:t>Kunci baut hanya ketika Anda telah membuktikan bahwa memutar ke kiri atau ke kanan sama-sama menurunkan sinyal dari titik puncak tersebut.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INGATAN VISUAL TEKNISI: </a:t>
            </a:r>
            <a:r>
              <a:rPr sz="1100" b="0">
                <a:solidFill>
                  <a:srgbClr val="0F172A"/>
                </a:solidFill>
                <a:latin typeface="Calibri"/>
              </a:rPr>
              <a:t>Side Lobe (-75 dBm) ➔ Lembah Null (-85 dBm) ➔ MAIN LOBE SEJATI (-55 dBm) ➔ Lembah Null (-85 dBm) ➔ Side Lobe (-75 dBm). Selalu bidik puncak tertinggi di tengah!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VERIFIKASI KUALITAS LAYANAN (QOS)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Checklist Verifikasi Kelayakan Link PTP Pasca-Pointing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Standar serah terima kelayakan tautan nirkabel Point to Point sebelum dinyatakan siap produksi.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468880"/>
                <a:gridCol w="1645920"/>
                <a:gridCol w="441929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Metrik Pengujian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Kelayakan PTP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 Uji Lapangan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Dampak Terhadap Jaringan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Signal Strength (RSSI)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-50 dBm s/d -65 dBm (Simetris)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LULUS UJI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Modulasi MCS rate maksimal, transfer data secepat kilat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Noise Floor Radio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-95 dBm (Ideal: -100 dBm)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LULUS UJI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Frekuensi bersih tanpa gangguan pemancar liar lain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Signal-to-Noise (SNR)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25 dB (Ideal: &gt; 35 dB)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LULUS UJI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Daya sinyal jauh di atas ambang batas kebisingan lingkungan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Client Connection Quality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90% - 100% (Stabil)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LULUS UJI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 packet loss; tidak ada paket yang dikirim berulang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Uji Ping Test (100 Paket)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Latency &lt; 3 ms, Jitter &lt; 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LULUS UJI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Koneksi sangat mulus untuk transmisi audio VoIP dan video CCTV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Uji Bandwidth Test TCP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80 - 95 Mbps simetris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LULUS UJI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Kapasitas throughput memenuhi kuota backbone antar-kampus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23951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Catatan Penting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Jika nilai RSSI di Stasiun A dan Stasiun B berselisih timpang lebih dari 5 dB (misal Stasiun A terima -55 dBm tapi Stasiun B terima -68 dBm), pointing antena masih belum simetris!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PANDUAN PENANGANAN GANGGUAN (TROUBLESHOOTING)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Troubleshooting Kasus Gangguan Link PTP di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Matriks diagnosis cepat bagi teknisi saat menghadapi performa link wireless outdoor yang tidak normal.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359633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Gejala Masalah Lapangan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Kemungkinan Akar Penyebab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 Diagnosa di Lapangan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Solusi Tindakan Engineer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Sinyal kuat (-55 dBm), tapi internet lambat &amp; CCQ drop &lt; 60%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Interferensi frekuensi liar tetangga atau kabel UTP bocor listrik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Buka menu Wireless -&gt; Snooper / Spectral Scan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Ganti frekuensi radio ke kanal yang sepi atau ganti kabel UTP outdoor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Sinyal sangat lemah (-85 dBm) padahal jarak link relatif dekat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Polarisasi beda 90 derajat atau pointing terjebak di Side Lobe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Cek fisik feed horn kedua stasiun &amp; putar antena melintasi titik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Samakan orientasi polarisasi (keduanya V atau H) dan bidik ulang Main Lobe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Sinyal bagus siang hari, tapi malam hari putus-nyambung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Pucuk pohon memuai / embun malam menghalangi Zona Fresnel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Cek ketinggian lintasan dengan simulator elevasi kontur bumi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Tinggikan tiang menara pipa di kedua stasiun minimal 3 hingga 5 meter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Throughput TX kencang, tapi throughput RX sangat kecil (Pincang)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Daya pemancar (Tx Power) radio lawan diset terlalu rendah/pigtail rusak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Bandingkan parameter Registration Tx/Rx Signal Strength di Winbox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Samakan Tx Power kedua radio dan periksa fisik konektor pigtail N-Type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23367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Catatan Penting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Tips Praktisi: Selalu bawa satu kabel jumper pigtail cadangan dan PoE injector serep saat melakukan perawatan ke menara tower.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KESELAMATAN &amp; KESEHATAN KERJA (K3)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Standar K3 &amp; Keselamatan Kerja Instalasi Menara /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Prosedur keselamatan mutlak bagi teknisi jaringan komputer saat bekerja pada ketinggian.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ALAT PELINDUNG DIRI (APD) WAJIB MENARA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Full Body Harness Berkait Ganda (Double Lanyard): </a:t>
            </a:r>
            <a:r>
              <a:rPr b="0">
                <a:solidFill>
                  <a:srgbClr val="0F172A"/>
                </a:solidFill>
              </a:rPr>
              <a:t>Wajib menggunakan harness badan penuh dengan dua tali pengait besar berpengedap kejut (Shock Absorber). Satu kait WAJIB selalu terkunci pada pipa menara saat bergerak menaiki tangga!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Helm Keselamatan Kerja (Safety Helmet): </a:t>
            </a:r>
            <a:r>
              <a:rPr b="0">
                <a:solidFill>
                  <a:srgbClr val="0F172A"/>
                </a:solidFill>
              </a:rPr>
              <a:t>Dilengkapi tali dagu yang terkunci kencang agar helm tidak melayang terbang tertiup hembusan angin menara.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Sarung Tangan Kerja Mekanik: </a:t>
            </a:r>
            <a:r>
              <a:rPr b="0">
                <a:solidFill>
                  <a:srgbClr val="0F172A"/>
                </a:solidFill>
              </a:rPr>
              <a:t>Melindungi telapak tangan dari luka goresan tajam tepi reflektor kisi aluminium dan sengatan listrik statis.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Sepatu Safety Sol Karet Anti-Slip: </a:t>
            </a:r>
            <a:r>
              <a:rPr b="0">
                <a:solidFill>
                  <a:srgbClr val="0F172A"/>
                </a:solidFill>
              </a:rPr>
              <a:t>Mencegah risiko terpeleset pada pijakan pipa tiang yang basah atau licin berkarat.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SOP KESELAMATAN LINGKUNGAN KERJA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SOP Larangan Cuaca Buruk: </a:t>
            </a:r>
            <a:r>
              <a:rPr b="0">
                <a:solidFill>
                  <a:srgbClr val="0F172A"/>
                </a:solidFill>
              </a:rPr>
              <a:t>HENTIKAN SELURUH PEKERJAAN MENARA SEKETIKA jika langit mendung gelap, angin berhembus sangat kencang, atau terdeteksi suara petir di kejauhan!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Zona Steril Drop Zone di Bawah Menara: </a:t>
            </a:r>
            <a:r>
              <a:rPr b="0">
                <a:solidFill>
                  <a:srgbClr val="0F172A"/>
                </a:solidFill>
              </a:rPr>
              <a:t>Area tanah di bawah menara radius 5 meter wajib disterilkan dari orang yang lewat; kunci pas atau obeng yang jatuh dari ketinggian 20 meter dapat berakibat fatal.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Tas Alat Pinggang (Tool Pouch): </a:t>
            </a:r>
            <a:r>
              <a:rPr b="0">
                <a:solidFill>
                  <a:srgbClr val="0F172A"/>
                </a:solidFill>
              </a:rPr>
              <a:t>Seluruh perkakas kerja (kunci ring, obeng, isolasi) wajib diikatkan ke badan teknisi menggunakan tali gantungan alat (tool lanyard).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PRINSIP ZERO ACCIDENT KAMPUS POLITANI: </a:t>
            </a:r>
            <a:r>
              <a:rPr sz="1100" b="0">
                <a:solidFill>
                  <a:srgbClr val="0F172A"/>
                </a:solidFill>
                <a:latin typeface="Calibri"/>
              </a:rPr>
              <a:t>Tidak ada koneksi internet yang sebanding dengan keselamatan nyawa manusia. Jika kondisi cuaca atau struktur tiang menara diragukan kekuatannya, TUNDA PEKERJAAN!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SINTESIS AKHIR MATA KULIAH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Sintesis Terpadu: Penguasaan 4 Pilar Komunikasi Nirkabel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Perjalanan komprehensif mahasiswa TRK Politani dari layer kriptografi hingga implementasi transmisi.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PENGUASAAN KEAMANAN &amp; PROTOKOL (P1 &amp; P2)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Minggu IX (Pertemuan 1): </a:t>
            </a:r>
            <a:r>
              <a:rPr b="0">
                <a:solidFill>
                  <a:srgbClr val="0F172A"/>
                </a:solidFill>
              </a:rPr>
              <a:t>Dasar Keamanan &amp; Enkripsi Nirkabel: Membedah kelemahan matematis WEP (IV collision 24-bit), evolusi WPA-TKIP, standar emas WPA2-AES CCMP, derivasi PMK (PBKDF2) dan PTK (4-Way Handshake), serta ketahanan WPA3-SAE terhadap offline attack.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Minggu X (Pertemuan 2): </a:t>
            </a:r>
            <a:r>
              <a:rPr b="0">
                <a:solidFill>
                  <a:srgbClr val="0F172A"/>
                </a:solidFill>
              </a:rPr>
              <a:t>Serangan Modern &amp; Arsitektur Enterprise: Eksploitasi deauthentication flood, Rogue AP &amp; Evil Twin captive portal, mitigasi PMF (802.11w), WIDS/WIPS rogue containment, serta otentikasi sentral IEEE 802.1X (FreeRADIUS &amp; EAP-TLS/PEAP).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PENGUASAAN GELOMBANG RADIO &amp; DEPLOYMENT (P3 &amp; P4)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Minggu XI (Pertemuan 3): </a:t>
            </a:r>
            <a:r>
              <a:rPr b="0">
                <a:solidFill>
                  <a:srgbClr val="0F172A"/>
                </a:solidFill>
              </a:rPr>
              <a:t>Panduan Praktis Antena Wireless: Konsep pasif pengarah energi, satuan dBm/dBi/EIRP, anatomi 5 tipe antena (Omni, Patch, Sectoral, Grid, Yagi), parameter beamwidth HPBW, teknik downtilting menara, serta checklist metrik kualitas sinyal.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Minggu XII (Pertemuan 4): </a:t>
            </a:r>
            <a:r>
              <a:rPr b="0">
                <a:solidFill>
                  <a:srgbClr val="0F172A"/>
                </a:solidFill>
              </a:rPr>
              <a:t>Konfigurasi Antena Grid PTP: Kelayakan zona Fresnel &amp; kelengkungan bumi, perakitan fisik kisi dan polarisasi V/H, konfigurasi RouterOS (Distance &amp; protokol TDMA NV2), prosedur pointing presisi, dan menghindari Side Lobe Trap.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PROFIL LULUSAN TRK POLITANI: </a:t>
            </a:r>
            <a:r>
              <a:rPr sz="1100" b="0">
                <a:solidFill>
                  <a:srgbClr val="0F172A"/>
                </a:solidFill>
                <a:latin typeface="Calibri"/>
              </a:rPr>
              <a:t>Anda kini bukan sekadar pengguna komputer biasa, melainkan Calon Network Engineer Profesional yang memahami seluk-beluk komunikasi nirkabel secara holistik: dari keamanan data hingga transmisi gelombang di udara!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Calibri"/>
              </a:defRPr>
            </a:pPr>
            <a:r>
              <a:t>EVALUASI MANDIRI &amp;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Penutup &amp; Pengarahan Tugas Proposal Link PTP 5 KM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Menguji kemampuan perancangan sistem nirkabel secara komprehensif melalui studi kasus nyata.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XII • Pertemuan 4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59669"/>
                </a:solidFill>
                <a:latin typeface="Calibri"/>
              </a:defRPr>
            </a:pPr>
            <a:r>
              <a:t>Slide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INSTRUKSI CAPSTONE PROPOSAL PTP 5 KM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Studi Kasus Lapangan: </a:t>
            </a:r>
            <a:r>
              <a:rPr b="0">
                <a:solidFill>
                  <a:srgbClr val="0F172A"/>
                </a:solidFill>
              </a:rPr>
              <a:t>Rancang proposal teknis pembangunan link backbone wireless Point to Point sepanjang 5 KM antara Kampus Pusat Politani dengan Fasilitas Kebun Percobaan Baru.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1. Kalkulasi Link Budget &amp; Fresnel: </a:t>
            </a:r>
            <a:r>
              <a:rPr b="0">
                <a:solidFill>
                  <a:srgbClr val="0F172A"/>
                </a:solidFill>
              </a:rPr>
              <a:t>Tentukan frekuensi kerja (5 GHz), hitung radius Zona Fresnel tengah, dan tentukan tinggi tiang menara minimal yang dibutuhkan.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2. Spesifikasi Perangkat Keras: </a:t>
            </a:r>
            <a:r>
              <a:rPr b="0">
                <a:solidFill>
                  <a:srgbClr val="0F172A"/>
                </a:solidFill>
              </a:rPr>
              <a:t>Pilih tipe antena grid (Gain dBi), tipe radio outdoor, jenis kabel UTP outdoor STP, dan sistem proteksi petir grounding yang sesuai standar.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3. Desain Parameter Konfigurasi: </a:t>
            </a:r>
            <a:r>
              <a:rPr b="0">
                <a:solidFill>
                  <a:srgbClr val="0F172A"/>
                </a:solidFill>
              </a:rPr>
              <a:t>Rancang skema SSID, channel width (20 MHz), parameter Distance, protokol wireless (TDMA NV2), dan skema keamanan WPA2-AES.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KRITERIA PENILAIAN &amp; AKHIR KULIAH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Ketepatan Analisis Teknis (40%): </a:t>
            </a:r>
            <a:r>
              <a:rPr b="0">
                <a:solidFill>
                  <a:srgbClr val="0F172A"/>
                </a:solidFill>
              </a:rPr>
              <a:t>Kebenaran perhitungan jari-jari Fresnel, estimasi redaman kabel, dan target sinyal terima (RSSI -50 s/d -65 dBm).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Kepatuhan Regulasi &amp; K3 (30%): </a:t>
            </a:r>
            <a:r>
              <a:rPr b="0">
                <a:solidFill>
                  <a:srgbClr val="0F172A"/>
                </a:solidFill>
              </a:rPr>
              <a:t>Perhitungan EIRP sesuai aturan Kominfo SDPPI dan kelengkapan SOP keselamatan kerja menara.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Kelayakan Implementasi (30%): </a:t>
            </a:r>
            <a:r>
              <a:rPr b="0">
                <a:solidFill>
                  <a:srgbClr val="0F172A"/>
                </a:solidFill>
              </a:rPr>
              <a:t>Desain konfigurasi software RouterOS yang logis, rapi, dan siap diaplikasikan langsung di lapangan.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Pengumpulan Tugas: </a:t>
            </a:r>
            <a:r>
              <a:rPr b="0">
                <a:solidFill>
                  <a:srgbClr val="0F172A"/>
                </a:solidFill>
              </a:rPr>
              <a:t>Diserahkan dalam format dokumen teknis PDF ke portal SIAKAD sebelum Ujian Akhir Semester (UAS).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PESAN AKHIR DOSEN PENGAMPU: </a:t>
            </a:r>
            <a:r>
              <a:rPr sz="1100" b="0">
                <a:solidFill>
                  <a:srgbClr val="0F172A"/>
                </a:solidFill>
                <a:latin typeface="Calibri"/>
              </a:rPr>
              <a:t>Selamat atas keberhasilan Anda menuntaskan seluruh 4 rangkaian modul Sistem Komunikasi Nirkabel TRK Politani. Terus asah logika analisis Anda dan utamakan keselamatan kerja di lapangan!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